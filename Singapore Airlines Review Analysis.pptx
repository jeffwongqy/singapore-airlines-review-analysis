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6" r:id="rId5"/>
    <p:sldId id="264" r:id="rId6"/>
    <p:sldId id="263" r:id="rId7"/>
    <p:sldId id="262" r:id="rId8"/>
    <p:sldId id="257" r:id="rId9"/>
    <p:sldId id="261" r:id="rId10"/>
    <p:sldId id="270" r:id="rId11"/>
    <p:sldId id="271" r:id="rId12"/>
    <p:sldId id="265" r:id="rId13"/>
    <p:sldId id="266" r:id="rId14"/>
    <p:sldId id="267" r:id="rId15"/>
    <p:sldId id="269" r:id="rId16"/>
    <p:sldId id="275" r:id="rId17"/>
    <p:sldId id="272" r:id="rId18"/>
    <p:sldId id="258" r:id="rId19"/>
    <p:sldId id="273" r:id="rId20"/>
    <p:sldId id="274" r:id="rId21"/>
    <p:sldId id="276" r:id="rId22"/>
    <p:sldId id="260"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37.svg"/><Relationship Id="rId1" Type="http://schemas.openxmlformats.org/officeDocument/2006/relationships/image" Target="../media/image14.sv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37.svg"/><Relationship Id="rId1" Type="http://schemas.openxmlformats.org/officeDocument/2006/relationships/image" Target="../media/image14.sv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AFC46669-C610-4049-BCAC-F43C2145969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8F47752-4E43-4560-8017-8CBDE5F20908}">
      <dgm:prSet/>
      <dgm:spPr/>
      <dgm:t>
        <a:bodyPr/>
        <a:lstStyle/>
        <a:p>
          <a:r>
            <a:rPr lang="en-SG" b="1"/>
            <a:t>VADER </a:t>
          </a:r>
          <a:r>
            <a:rPr lang="en-SG"/>
            <a:t>(Valence Aware Dictionary and Sentiment Reasoner) is a lexicon- and rule- based sentiment analysis method, particularly effective for social media and informal text. </a:t>
          </a:r>
          <a:endParaRPr lang="en-US"/>
        </a:p>
      </dgm:t>
    </dgm:pt>
    <dgm:pt modelId="{F4461781-1195-4637-B634-3A3C093B2DF0}" type="parTrans" cxnId="{F9687ECB-C22C-4111-8A58-F4A841C9FDA7}">
      <dgm:prSet/>
      <dgm:spPr/>
      <dgm:t>
        <a:bodyPr/>
        <a:lstStyle/>
        <a:p>
          <a:endParaRPr lang="en-US"/>
        </a:p>
      </dgm:t>
    </dgm:pt>
    <dgm:pt modelId="{5DC180AE-099F-417D-8EDB-49E75F0605BA}" type="sibTrans" cxnId="{F9687ECB-C22C-4111-8A58-F4A841C9FDA7}">
      <dgm:prSet/>
      <dgm:spPr/>
      <dgm:t>
        <a:bodyPr/>
        <a:lstStyle/>
        <a:p>
          <a:endParaRPr lang="en-US"/>
        </a:p>
      </dgm:t>
    </dgm:pt>
    <dgm:pt modelId="{BA4F381F-A127-4B16-A949-55BE339EBD5F}">
      <dgm:prSet/>
      <dgm:spPr/>
      <dgm:t>
        <a:bodyPr/>
        <a:lstStyle/>
        <a:p>
          <a:r>
            <a:rPr lang="en-SG"/>
            <a:t>Produces </a:t>
          </a:r>
          <a:r>
            <a:rPr lang="en-SG" b="1"/>
            <a:t>four</a:t>
          </a:r>
          <a:r>
            <a:rPr lang="en-SG"/>
            <a:t> sources: </a:t>
          </a:r>
          <a:r>
            <a:rPr lang="en-SG" b="1"/>
            <a:t>Positive, Negative, Neutral, and Compound</a:t>
          </a:r>
          <a:r>
            <a:rPr lang="en-SG"/>
            <a:t>. </a:t>
          </a:r>
          <a:endParaRPr lang="en-US"/>
        </a:p>
      </dgm:t>
    </dgm:pt>
    <dgm:pt modelId="{1788C58B-6A92-4177-A4BE-8CDFF05AC299}" type="parTrans" cxnId="{B50A9257-37CE-468C-AC89-A9782FDE0E59}">
      <dgm:prSet/>
      <dgm:spPr/>
      <dgm:t>
        <a:bodyPr/>
        <a:lstStyle/>
        <a:p>
          <a:endParaRPr lang="en-US"/>
        </a:p>
      </dgm:t>
    </dgm:pt>
    <dgm:pt modelId="{7267DC22-7603-4BEA-AD93-D90A7C48EC3A}" type="sibTrans" cxnId="{B50A9257-37CE-468C-AC89-A9782FDE0E59}">
      <dgm:prSet/>
      <dgm:spPr/>
      <dgm:t>
        <a:bodyPr/>
        <a:lstStyle/>
        <a:p>
          <a:endParaRPr lang="en-US"/>
        </a:p>
      </dgm:t>
    </dgm:pt>
    <dgm:pt modelId="{CD21BCEA-8882-4325-855E-72E7F40A7DE6}">
      <dgm:prSet/>
      <dgm:spPr/>
      <dgm:t>
        <a:bodyPr/>
        <a:lstStyle/>
        <a:p>
          <a:r>
            <a:rPr lang="en-SG"/>
            <a:t>Compound score interpretation commonly used:</a:t>
          </a:r>
          <a:endParaRPr lang="en-US"/>
        </a:p>
      </dgm:t>
    </dgm:pt>
    <dgm:pt modelId="{E6FF4422-7618-4297-93CE-AAD6A224B829}" type="parTrans" cxnId="{93AD2A99-06F8-4979-B778-D33788CB441C}">
      <dgm:prSet/>
      <dgm:spPr/>
      <dgm:t>
        <a:bodyPr/>
        <a:lstStyle/>
        <a:p>
          <a:endParaRPr lang="en-US"/>
        </a:p>
      </dgm:t>
    </dgm:pt>
    <dgm:pt modelId="{695E12A1-7F7D-427B-ADBE-219F66FB5C75}" type="sibTrans" cxnId="{93AD2A99-06F8-4979-B778-D33788CB441C}">
      <dgm:prSet/>
      <dgm:spPr/>
      <dgm:t>
        <a:bodyPr/>
        <a:lstStyle/>
        <a:p>
          <a:endParaRPr lang="en-US"/>
        </a:p>
      </dgm:t>
    </dgm:pt>
    <dgm:pt modelId="{71D33962-B965-45AD-90C5-70A31A7F98D8}">
      <dgm:prSet/>
      <dgm:spPr/>
      <dgm:t>
        <a:bodyPr/>
        <a:lstStyle/>
        <a:p>
          <a:r>
            <a:rPr lang="en-SG"/>
            <a:t>&gt;= 0.05 </a:t>
          </a:r>
          <a:r>
            <a:rPr lang="en-SG">
              <a:sym typeface="Wingdings" panose="05000000000000000000" pitchFamily="2" charset="2"/>
            </a:rPr>
            <a:t></a:t>
          </a:r>
          <a:r>
            <a:rPr lang="en-SG"/>
            <a:t> Positive</a:t>
          </a:r>
          <a:endParaRPr lang="en-US"/>
        </a:p>
      </dgm:t>
    </dgm:pt>
    <dgm:pt modelId="{89D92EE3-1D67-4B70-8880-FCC55C6C46CA}" type="parTrans" cxnId="{C92BFDD7-FCD8-4E2D-BDF4-ED8522546C6F}">
      <dgm:prSet/>
      <dgm:spPr/>
      <dgm:t>
        <a:bodyPr/>
        <a:lstStyle/>
        <a:p>
          <a:endParaRPr lang="en-US"/>
        </a:p>
      </dgm:t>
    </dgm:pt>
    <dgm:pt modelId="{3F6854E1-C358-4107-A506-9B065F873B2D}" type="sibTrans" cxnId="{C92BFDD7-FCD8-4E2D-BDF4-ED8522546C6F}">
      <dgm:prSet/>
      <dgm:spPr/>
      <dgm:t>
        <a:bodyPr/>
        <a:lstStyle/>
        <a:p>
          <a:endParaRPr lang="en-US"/>
        </a:p>
      </dgm:t>
    </dgm:pt>
    <dgm:pt modelId="{AD8CB83D-4BFC-4A4A-B259-2A698A42FEC9}">
      <dgm:prSet/>
      <dgm:spPr/>
      <dgm:t>
        <a:bodyPr/>
        <a:lstStyle/>
        <a:p>
          <a:r>
            <a:rPr lang="en-SG"/>
            <a:t>&lt;= -0.05 </a:t>
          </a:r>
          <a:r>
            <a:rPr lang="en-SG">
              <a:sym typeface="Wingdings" panose="05000000000000000000" pitchFamily="2" charset="2"/>
            </a:rPr>
            <a:t></a:t>
          </a:r>
          <a:r>
            <a:rPr lang="en-SG"/>
            <a:t> Negative</a:t>
          </a:r>
          <a:endParaRPr lang="en-US"/>
        </a:p>
      </dgm:t>
    </dgm:pt>
    <dgm:pt modelId="{022966EB-6C35-4898-A492-ECFEA68817DF}" type="parTrans" cxnId="{1C33286E-EAC7-4BF9-99E5-0E27EB7EB944}">
      <dgm:prSet/>
      <dgm:spPr/>
      <dgm:t>
        <a:bodyPr/>
        <a:lstStyle/>
        <a:p>
          <a:endParaRPr lang="en-US"/>
        </a:p>
      </dgm:t>
    </dgm:pt>
    <dgm:pt modelId="{67971100-8886-4B85-A262-D74C31A3E981}" type="sibTrans" cxnId="{1C33286E-EAC7-4BF9-99E5-0E27EB7EB944}">
      <dgm:prSet/>
      <dgm:spPr/>
      <dgm:t>
        <a:bodyPr/>
        <a:lstStyle/>
        <a:p>
          <a:endParaRPr lang="en-US"/>
        </a:p>
      </dgm:t>
    </dgm:pt>
    <dgm:pt modelId="{449C2C97-167B-4AC2-960A-EC9B433E5B51}">
      <dgm:prSet/>
      <dgm:spPr/>
      <dgm:t>
        <a:bodyPr/>
        <a:lstStyle/>
        <a:p>
          <a:r>
            <a:rPr lang="en-SG"/>
            <a:t>-0.05 to 0.05 </a:t>
          </a:r>
          <a:r>
            <a:rPr lang="en-SG">
              <a:sym typeface="Wingdings" panose="05000000000000000000" pitchFamily="2" charset="2"/>
            </a:rPr>
            <a:t></a:t>
          </a:r>
          <a:r>
            <a:rPr lang="en-SG"/>
            <a:t> Neutral </a:t>
          </a:r>
          <a:endParaRPr lang="en-US"/>
        </a:p>
      </dgm:t>
    </dgm:pt>
    <dgm:pt modelId="{5594B316-BAB4-4CCB-B60B-DC0BA164A60E}" type="parTrans" cxnId="{ECE73B47-27FC-49E3-BAE5-A61838D1E510}">
      <dgm:prSet/>
      <dgm:spPr/>
      <dgm:t>
        <a:bodyPr/>
        <a:lstStyle/>
        <a:p>
          <a:endParaRPr lang="en-US"/>
        </a:p>
      </dgm:t>
    </dgm:pt>
    <dgm:pt modelId="{AF33BE61-745D-466B-A6EC-A8B44C017069}" type="sibTrans" cxnId="{ECE73B47-27FC-49E3-BAE5-A61838D1E510}">
      <dgm:prSet/>
      <dgm:spPr/>
      <dgm:t>
        <a:bodyPr/>
        <a:lstStyle/>
        <a:p>
          <a:endParaRPr lang="en-US"/>
        </a:p>
      </dgm:t>
    </dgm:pt>
    <dgm:pt modelId="{3FEDCF20-6554-4CB6-B911-55E224A75BAE}">
      <dgm:prSet/>
      <dgm:spPr/>
      <dgm:t>
        <a:bodyPr/>
        <a:lstStyle/>
        <a:p>
          <a:r>
            <a:rPr lang="en-SG" b="1"/>
            <a:t>Advantages:</a:t>
          </a:r>
          <a:r>
            <a:rPr lang="en-SG"/>
            <a:t> Fast, simple, no training data required, good for short/ informal text.</a:t>
          </a:r>
          <a:endParaRPr lang="en-US"/>
        </a:p>
      </dgm:t>
    </dgm:pt>
    <dgm:pt modelId="{838B5957-C286-4F6B-AE18-C2E37E177E7B}" type="parTrans" cxnId="{87607827-419C-4010-9FFD-A92284A8C0FB}">
      <dgm:prSet/>
      <dgm:spPr/>
      <dgm:t>
        <a:bodyPr/>
        <a:lstStyle/>
        <a:p>
          <a:endParaRPr lang="en-US"/>
        </a:p>
      </dgm:t>
    </dgm:pt>
    <dgm:pt modelId="{153FBE1E-7DA8-4AC2-AE08-D918FC5E9C23}" type="sibTrans" cxnId="{87607827-419C-4010-9FFD-A92284A8C0FB}">
      <dgm:prSet/>
      <dgm:spPr/>
      <dgm:t>
        <a:bodyPr/>
        <a:lstStyle/>
        <a:p>
          <a:endParaRPr lang="en-US"/>
        </a:p>
      </dgm:t>
    </dgm:pt>
    <dgm:pt modelId="{F1B0150A-D3C3-49AA-8ABC-FF873116359D}">
      <dgm:prSet/>
      <dgm:spPr/>
      <dgm:t>
        <a:bodyPr/>
        <a:lstStyle/>
        <a:p>
          <a:r>
            <a:rPr lang="en-SG" b="1"/>
            <a:t>Limitations: </a:t>
          </a:r>
          <a:r>
            <a:rPr lang="en-SG"/>
            <a:t>May struggle with sarcasm, domain-specific terminology, and complex content.</a:t>
          </a:r>
          <a:endParaRPr lang="en-US"/>
        </a:p>
      </dgm:t>
    </dgm:pt>
    <dgm:pt modelId="{2C839382-BF53-4EF6-8AF9-C720C79A09A9}" type="parTrans" cxnId="{6B5E9A9A-B6A3-4305-82B9-1B463F61E448}">
      <dgm:prSet/>
      <dgm:spPr/>
      <dgm:t>
        <a:bodyPr/>
        <a:lstStyle/>
        <a:p>
          <a:endParaRPr lang="en-US"/>
        </a:p>
      </dgm:t>
    </dgm:pt>
    <dgm:pt modelId="{75630A22-AD21-4E12-A53F-9CF62B50D1FA}" type="sibTrans" cxnId="{6B5E9A9A-B6A3-4305-82B9-1B463F61E448}">
      <dgm:prSet/>
      <dgm:spPr/>
      <dgm:t>
        <a:bodyPr/>
        <a:lstStyle/>
        <a:p>
          <a:endParaRPr lang="en-US"/>
        </a:p>
      </dgm:t>
    </dgm:pt>
    <dgm:pt modelId="{D1C6D932-CF36-4704-B108-F892C2D5714A}" type="pres">
      <dgm:prSet presAssocID="{AFC46669-C610-4049-BCAC-F43C21459697}" presName="root" presStyleCnt="0">
        <dgm:presLayoutVars>
          <dgm:dir/>
          <dgm:resizeHandles val="exact"/>
        </dgm:presLayoutVars>
      </dgm:prSet>
      <dgm:spPr/>
    </dgm:pt>
    <dgm:pt modelId="{8BF92F21-92CF-4BF5-8B07-16D64CA6795E}" type="pres">
      <dgm:prSet presAssocID="{C8F47752-4E43-4560-8017-8CBDE5F20908}" presName="compNode" presStyleCnt="0"/>
      <dgm:spPr/>
    </dgm:pt>
    <dgm:pt modelId="{90580AD3-D701-4864-9FF3-F1FA27C97361}" type="pres">
      <dgm:prSet presAssocID="{C8F47752-4E43-4560-8017-8CBDE5F20908}" presName="bgRect" presStyleLbl="bgShp" presStyleIdx="0" presStyleCnt="5"/>
      <dgm:spPr/>
    </dgm:pt>
    <dgm:pt modelId="{9F4122E0-5559-44DE-8F80-9B6BBC18715B}" type="pres">
      <dgm:prSet presAssocID="{C8F47752-4E43-4560-8017-8CBDE5F2090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68786690-ABBE-4922-B2BF-97D8E0C5BA19}" type="pres">
      <dgm:prSet presAssocID="{C8F47752-4E43-4560-8017-8CBDE5F20908}" presName="spaceRect" presStyleCnt="0"/>
      <dgm:spPr/>
    </dgm:pt>
    <dgm:pt modelId="{E593971A-41CA-4BE0-A634-0EB0CC40AAA6}" type="pres">
      <dgm:prSet presAssocID="{C8F47752-4E43-4560-8017-8CBDE5F20908}" presName="parTx" presStyleLbl="revTx" presStyleIdx="0" presStyleCnt="6">
        <dgm:presLayoutVars>
          <dgm:chMax val="0"/>
          <dgm:chPref val="0"/>
        </dgm:presLayoutVars>
      </dgm:prSet>
      <dgm:spPr/>
    </dgm:pt>
    <dgm:pt modelId="{9F930B83-5999-4450-B5D7-478F7CFF18EC}" type="pres">
      <dgm:prSet presAssocID="{5DC180AE-099F-417D-8EDB-49E75F0605BA}" presName="sibTrans" presStyleCnt="0"/>
      <dgm:spPr/>
    </dgm:pt>
    <dgm:pt modelId="{A7B9066B-031B-4608-A51D-E0124BD620A8}" type="pres">
      <dgm:prSet presAssocID="{BA4F381F-A127-4B16-A949-55BE339EBD5F}" presName="compNode" presStyleCnt="0"/>
      <dgm:spPr/>
    </dgm:pt>
    <dgm:pt modelId="{D64270F4-6524-41D1-BCC8-28098AF327CB}" type="pres">
      <dgm:prSet presAssocID="{BA4F381F-A127-4B16-A949-55BE339EBD5F}" presName="bgRect" presStyleLbl="bgShp" presStyleIdx="1" presStyleCnt="5"/>
      <dgm:spPr/>
    </dgm:pt>
    <dgm:pt modelId="{C5C89DE5-5ED7-4B9A-9889-8193BCF86963}" type="pres">
      <dgm:prSet presAssocID="{BA4F381F-A127-4B16-A949-55BE339EBD5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sion chart"/>
        </a:ext>
      </dgm:extLst>
    </dgm:pt>
    <dgm:pt modelId="{B2D6857D-38CF-49C2-BEE5-651C6D027B43}" type="pres">
      <dgm:prSet presAssocID="{BA4F381F-A127-4B16-A949-55BE339EBD5F}" presName="spaceRect" presStyleCnt="0"/>
      <dgm:spPr/>
    </dgm:pt>
    <dgm:pt modelId="{C561CA0E-2265-4D59-9409-703AD83A6006}" type="pres">
      <dgm:prSet presAssocID="{BA4F381F-A127-4B16-A949-55BE339EBD5F}" presName="parTx" presStyleLbl="revTx" presStyleIdx="1" presStyleCnt="6">
        <dgm:presLayoutVars>
          <dgm:chMax val="0"/>
          <dgm:chPref val="0"/>
        </dgm:presLayoutVars>
      </dgm:prSet>
      <dgm:spPr/>
    </dgm:pt>
    <dgm:pt modelId="{B9BF9914-9428-4654-9D0B-28577263ABA6}" type="pres">
      <dgm:prSet presAssocID="{7267DC22-7603-4BEA-AD93-D90A7C48EC3A}" presName="sibTrans" presStyleCnt="0"/>
      <dgm:spPr/>
    </dgm:pt>
    <dgm:pt modelId="{2678889A-751A-4E96-9409-BADA4EDABD3C}" type="pres">
      <dgm:prSet presAssocID="{CD21BCEA-8882-4325-855E-72E7F40A7DE6}" presName="compNode" presStyleCnt="0"/>
      <dgm:spPr/>
    </dgm:pt>
    <dgm:pt modelId="{305588C1-32E8-46E6-BD22-D95A03D6E746}" type="pres">
      <dgm:prSet presAssocID="{CD21BCEA-8882-4325-855E-72E7F40A7DE6}" presName="bgRect" presStyleLbl="bgShp" presStyleIdx="2" presStyleCnt="5"/>
      <dgm:spPr/>
    </dgm:pt>
    <dgm:pt modelId="{D16E33C9-1CD0-4740-BE77-0A1532195FDF}" type="pres">
      <dgm:prSet presAssocID="{CD21BCEA-8882-4325-855E-72E7F40A7DE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642A63AF-1F17-4033-9B73-F87811907316}" type="pres">
      <dgm:prSet presAssocID="{CD21BCEA-8882-4325-855E-72E7F40A7DE6}" presName="spaceRect" presStyleCnt="0"/>
      <dgm:spPr/>
    </dgm:pt>
    <dgm:pt modelId="{BA56A3F0-4A85-4C4C-AD9C-08043F2624AA}" type="pres">
      <dgm:prSet presAssocID="{CD21BCEA-8882-4325-855E-72E7F40A7DE6}" presName="parTx" presStyleLbl="revTx" presStyleIdx="2" presStyleCnt="6">
        <dgm:presLayoutVars>
          <dgm:chMax val="0"/>
          <dgm:chPref val="0"/>
        </dgm:presLayoutVars>
      </dgm:prSet>
      <dgm:spPr/>
    </dgm:pt>
    <dgm:pt modelId="{FC41A2E2-FA44-4577-9CAF-990488D2C7A6}" type="pres">
      <dgm:prSet presAssocID="{CD21BCEA-8882-4325-855E-72E7F40A7DE6}" presName="desTx" presStyleLbl="revTx" presStyleIdx="3" presStyleCnt="6">
        <dgm:presLayoutVars/>
      </dgm:prSet>
      <dgm:spPr/>
    </dgm:pt>
    <dgm:pt modelId="{9E8B8BB6-606D-4E18-A517-8C7F92D0C875}" type="pres">
      <dgm:prSet presAssocID="{695E12A1-7F7D-427B-ADBE-219F66FB5C75}" presName="sibTrans" presStyleCnt="0"/>
      <dgm:spPr/>
    </dgm:pt>
    <dgm:pt modelId="{F96B2DF4-A99F-41B7-9699-2511993567A7}" type="pres">
      <dgm:prSet presAssocID="{3FEDCF20-6554-4CB6-B911-55E224A75BAE}" presName="compNode" presStyleCnt="0"/>
      <dgm:spPr/>
    </dgm:pt>
    <dgm:pt modelId="{D7E96154-FFF7-477D-AA95-C6112FC8EF78}" type="pres">
      <dgm:prSet presAssocID="{3FEDCF20-6554-4CB6-B911-55E224A75BAE}" presName="bgRect" presStyleLbl="bgShp" presStyleIdx="3" presStyleCnt="5"/>
      <dgm:spPr/>
    </dgm:pt>
    <dgm:pt modelId="{E56600D1-3F06-4F2A-94F4-2AA759529631}" type="pres">
      <dgm:prSet presAssocID="{3FEDCF20-6554-4CB6-B911-55E224A75BAE}"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ngue"/>
        </a:ext>
      </dgm:extLst>
    </dgm:pt>
    <dgm:pt modelId="{ADCE35C8-D561-4BF5-A12A-BE922CEBE290}" type="pres">
      <dgm:prSet presAssocID="{3FEDCF20-6554-4CB6-B911-55E224A75BAE}" presName="spaceRect" presStyleCnt="0"/>
      <dgm:spPr/>
    </dgm:pt>
    <dgm:pt modelId="{ABC70114-6E82-41B0-8331-E6E85D375A5C}" type="pres">
      <dgm:prSet presAssocID="{3FEDCF20-6554-4CB6-B911-55E224A75BAE}" presName="parTx" presStyleLbl="revTx" presStyleIdx="4" presStyleCnt="6">
        <dgm:presLayoutVars>
          <dgm:chMax val="0"/>
          <dgm:chPref val="0"/>
        </dgm:presLayoutVars>
      </dgm:prSet>
      <dgm:spPr/>
    </dgm:pt>
    <dgm:pt modelId="{73D9CFCB-B5B3-4DFF-A498-175F4EFD8BD4}" type="pres">
      <dgm:prSet presAssocID="{153FBE1E-7DA8-4AC2-AE08-D918FC5E9C23}" presName="sibTrans" presStyleCnt="0"/>
      <dgm:spPr/>
    </dgm:pt>
    <dgm:pt modelId="{BF8F7D5F-4627-4F3A-B68B-0E72EB093A3C}" type="pres">
      <dgm:prSet presAssocID="{F1B0150A-D3C3-49AA-8ABC-FF873116359D}" presName="compNode" presStyleCnt="0"/>
      <dgm:spPr/>
    </dgm:pt>
    <dgm:pt modelId="{71A47B07-8693-43EB-9442-8E9BAD4AA1A9}" type="pres">
      <dgm:prSet presAssocID="{F1B0150A-D3C3-49AA-8ABC-FF873116359D}" presName="bgRect" presStyleLbl="bgShp" presStyleIdx="4" presStyleCnt="5"/>
      <dgm:spPr/>
    </dgm:pt>
    <dgm:pt modelId="{8D05440E-D68D-49E4-B832-44F2B6F5F0D3}" type="pres">
      <dgm:prSet presAssocID="{F1B0150A-D3C3-49AA-8ABC-FF873116359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Joker Hat"/>
        </a:ext>
      </dgm:extLst>
    </dgm:pt>
    <dgm:pt modelId="{D7384D4D-95DA-4575-BB8C-105194A6106A}" type="pres">
      <dgm:prSet presAssocID="{F1B0150A-D3C3-49AA-8ABC-FF873116359D}" presName="spaceRect" presStyleCnt="0"/>
      <dgm:spPr/>
    </dgm:pt>
    <dgm:pt modelId="{A51FAB72-5378-4622-BDCD-FD661A8E8B9C}" type="pres">
      <dgm:prSet presAssocID="{F1B0150A-D3C3-49AA-8ABC-FF873116359D}" presName="parTx" presStyleLbl="revTx" presStyleIdx="5" presStyleCnt="6">
        <dgm:presLayoutVars>
          <dgm:chMax val="0"/>
          <dgm:chPref val="0"/>
        </dgm:presLayoutVars>
      </dgm:prSet>
      <dgm:spPr/>
    </dgm:pt>
  </dgm:ptLst>
  <dgm:cxnLst>
    <dgm:cxn modelId="{F60ADE0B-9AFD-48CB-91B5-39F5615C08BA}" type="presOf" srcId="{3FEDCF20-6554-4CB6-B911-55E224A75BAE}" destId="{ABC70114-6E82-41B0-8331-E6E85D375A5C}" srcOrd="0" destOrd="0" presId="urn:microsoft.com/office/officeart/2018/2/layout/IconVerticalSolidList"/>
    <dgm:cxn modelId="{87607827-419C-4010-9FFD-A92284A8C0FB}" srcId="{AFC46669-C610-4049-BCAC-F43C21459697}" destId="{3FEDCF20-6554-4CB6-B911-55E224A75BAE}" srcOrd="3" destOrd="0" parTransId="{838B5957-C286-4F6B-AE18-C2E37E177E7B}" sibTransId="{153FBE1E-7DA8-4AC2-AE08-D918FC5E9C23}"/>
    <dgm:cxn modelId="{ECE73B47-27FC-49E3-BAE5-A61838D1E510}" srcId="{CD21BCEA-8882-4325-855E-72E7F40A7DE6}" destId="{449C2C97-167B-4AC2-960A-EC9B433E5B51}" srcOrd="2" destOrd="0" parTransId="{5594B316-BAB4-4CCB-B60B-DC0BA164A60E}" sibTransId="{AF33BE61-745D-466B-A6EC-A8B44C017069}"/>
    <dgm:cxn modelId="{68B2456C-66D5-4898-B051-9C25F6CA0145}" type="presOf" srcId="{AD8CB83D-4BFC-4A4A-B259-2A698A42FEC9}" destId="{FC41A2E2-FA44-4577-9CAF-990488D2C7A6}" srcOrd="0" destOrd="1" presId="urn:microsoft.com/office/officeart/2018/2/layout/IconVerticalSolidList"/>
    <dgm:cxn modelId="{1C33286E-EAC7-4BF9-99E5-0E27EB7EB944}" srcId="{CD21BCEA-8882-4325-855E-72E7F40A7DE6}" destId="{AD8CB83D-4BFC-4A4A-B259-2A698A42FEC9}" srcOrd="1" destOrd="0" parTransId="{022966EB-6C35-4898-A492-ECFEA68817DF}" sibTransId="{67971100-8886-4B85-A262-D74C31A3E981}"/>
    <dgm:cxn modelId="{07D4BE6F-BA01-48ED-BBF9-D6D8F477609D}" type="presOf" srcId="{449C2C97-167B-4AC2-960A-EC9B433E5B51}" destId="{FC41A2E2-FA44-4577-9CAF-990488D2C7A6}" srcOrd="0" destOrd="2" presId="urn:microsoft.com/office/officeart/2018/2/layout/IconVerticalSolidList"/>
    <dgm:cxn modelId="{B50A9257-37CE-468C-AC89-A9782FDE0E59}" srcId="{AFC46669-C610-4049-BCAC-F43C21459697}" destId="{BA4F381F-A127-4B16-A949-55BE339EBD5F}" srcOrd="1" destOrd="0" parTransId="{1788C58B-6A92-4177-A4BE-8CDFF05AC299}" sibTransId="{7267DC22-7603-4BEA-AD93-D90A7C48EC3A}"/>
    <dgm:cxn modelId="{81613358-61F2-4180-874A-BFD25881E9AB}" type="presOf" srcId="{F1B0150A-D3C3-49AA-8ABC-FF873116359D}" destId="{A51FAB72-5378-4622-BDCD-FD661A8E8B9C}" srcOrd="0" destOrd="0" presId="urn:microsoft.com/office/officeart/2018/2/layout/IconVerticalSolidList"/>
    <dgm:cxn modelId="{9B306596-39B0-4772-9177-4A78EF8F21A9}" type="presOf" srcId="{CD21BCEA-8882-4325-855E-72E7F40A7DE6}" destId="{BA56A3F0-4A85-4C4C-AD9C-08043F2624AA}" srcOrd="0" destOrd="0" presId="urn:microsoft.com/office/officeart/2018/2/layout/IconVerticalSolidList"/>
    <dgm:cxn modelId="{FDE95A97-1AA2-44BA-8F2A-F248B5856B42}" type="presOf" srcId="{71D33962-B965-45AD-90C5-70A31A7F98D8}" destId="{FC41A2E2-FA44-4577-9CAF-990488D2C7A6}" srcOrd="0" destOrd="0" presId="urn:microsoft.com/office/officeart/2018/2/layout/IconVerticalSolidList"/>
    <dgm:cxn modelId="{93AD2A99-06F8-4979-B778-D33788CB441C}" srcId="{AFC46669-C610-4049-BCAC-F43C21459697}" destId="{CD21BCEA-8882-4325-855E-72E7F40A7DE6}" srcOrd="2" destOrd="0" parTransId="{E6FF4422-7618-4297-93CE-AAD6A224B829}" sibTransId="{695E12A1-7F7D-427B-ADBE-219F66FB5C75}"/>
    <dgm:cxn modelId="{6B5E9A9A-B6A3-4305-82B9-1B463F61E448}" srcId="{AFC46669-C610-4049-BCAC-F43C21459697}" destId="{F1B0150A-D3C3-49AA-8ABC-FF873116359D}" srcOrd="4" destOrd="0" parTransId="{2C839382-BF53-4EF6-8AF9-C720C79A09A9}" sibTransId="{75630A22-AD21-4E12-A53F-9CF62B50D1FA}"/>
    <dgm:cxn modelId="{F9687ECB-C22C-4111-8A58-F4A841C9FDA7}" srcId="{AFC46669-C610-4049-BCAC-F43C21459697}" destId="{C8F47752-4E43-4560-8017-8CBDE5F20908}" srcOrd="0" destOrd="0" parTransId="{F4461781-1195-4637-B634-3A3C093B2DF0}" sibTransId="{5DC180AE-099F-417D-8EDB-49E75F0605BA}"/>
    <dgm:cxn modelId="{D9BDBCD4-542C-405A-9399-35C57725CBD2}" type="presOf" srcId="{AFC46669-C610-4049-BCAC-F43C21459697}" destId="{D1C6D932-CF36-4704-B108-F892C2D5714A}" srcOrd="0" destOrd="0" presId="urn:microsoft.com/office/officeart/2018/2/layout/IconVerticalSolidList"/>
    <dgm:cxn modelId="{A9B33DD7-113A-4E0D-B6D1-2DAA25447ACE}" type="presOf" srcId="{C8F47752-4E43-4560-8017-8CBDE5F20908}" destId="{E593971A-41CA-4BE0-A634-0EB0CC40AAA6}" srcOrd="0" destOrd="0" presId="urn:microsoft.com/office/officeart/2018/2/layout/IconVerticalSolidList"/>
    <dgm:cxn modelId="{C92BFDD7-FCD8-4E2D-BDF4-ED8522546C6F}" srcId="{CD21BCEA-8882-4325-855E-72E7F40A7DE6}" destId="{71D33962-B965-45AD-90C5-70A31A7F98D8}" srcOrd="0" destOrd="0" parTransId="{89D92EE3-1D67-4B70-8880-FCC55C6C46CA}" sibTransId="{3F6854E1-C358-4107-A506-9B065F873B2D}"/>
    <dgm:cxn modelId="{8F9A74F9-8588-41C8-916D-0E59999769D2}" type="presOf" srcId="{BA4F381F-A127-4B16-A949-55BE339EBD5F}" destId="{C561CA0E-2265-4D59-9409-703AD83A6006}" srcOrd="0" destOrd="0" presId="urn:microsoft.com/office/officeart/2018/2/layout/IconVerticalSolidList"/>
    <dgm:cxn modelId="{D81B804C-6078-44B8-AC47-3C752D025B2C}" type="presParOf" srcId="{D1C6D932-CF36-4704-B108-F892C2D5714A}" destId="{8BF92F21-92CF-4BF5-8B07-16D64CA6795E}" srcOrd="0" destOrd="0" presId="urn:microsoft.com/office/officeart/2018/2/layout/IconVerticalSolidList"/>
    <dgm:cxn modelId="{9E122A42-40AF-4BB0-9634-D0D10D24B37E}" type="presParOf" srcId="{8BF92F21-92CF-4BF5-8B07-16D64CA6795E}" destId="{90580AD3-D701-4864-9FF3-F1FA27C97361}" srcOrd="0" destOrd="0" presId="urn:microsoft.com/office/officeart/2018/2/layout/IconVerticalSolidList"/>
    <dgm:cxn modelId="{936BA80A-B203-4DE4-A270-AF65A5D489DE}" type="presParOf" srcId="{8BF92F21-92CF-4BF5-8B07-16D64CA6795E}" destId="{9F4122E0-5559-44DE-8F80-9B6BBC18715B}" srcOrd="1" destOrd="0" presId="urn:microsoft.com/office/officeart/2018/2/layout/IconVerticalSolidList"/>
    <dgm:cxn modelId="{16B6D1FE-6AB8-46C7-B634-00E499C678BD}" type="presParOf" srcId="{8BF92F21-92CF-4BF5-8B07-16D64CA6795E}" destId="{68786690-ABBE-4922-B2BF-97D8E0C5BA19}" srcOrd="2" destOrd="0" presId="urn:microsoft.com/office/officeart/2018/2/layout/IconVerticalSolidList"/>
    <dgm:cxn modelId="{32F00937-FBE7-4E11-8DF0-AE32339F8BD2}" type="presParOf" srcId="{8BF92F21-92CF-4BF5-8B07-16D64CA6795E}" destId="{E593971A-41CA-4BE0-A634-0EB0CC40AAA6}" srcOrd="3" destOrd="0" presId="urn:microsoft.com/office/officeart/2018/2/layout/IconVerticalSolidList"/>
    <dgm:cxn modelId="{03FCBE3E-7F9E-433E-93DF-B9D4B818029A}" type="presParOf" srcId="{D1C6D932-CF36-4704-B108-F892C2D5714A}" destId="{9F930B83-5999-4450-B5D7-478F7CFF18EC}" srcOrd="1" destOrd="0" presId="urn:microsoft.com/office/officeart/2018/2/layout/IconVerticalSolidList"/>
    <dgm:cxn modelId="{ED58EBDA-0F7E-4C32-A643-1F2151E021DF}" type="presParOf" srcId="{D1C6D932-CF36-4704-B108-F892C2D5714A}" destId="{A7B9066B-031B-4608-A51D-E0124BD620A8}" srcOrd="2" destOrd="0" presId="urn:microsoft.com/office/officeart/2018/2/layout/IconVerticalSolidList"/>
    <dgm:cxn modelId="{AE721D55-5FBA-4CFB-BDE2-2A457BF639F9}" type="presParOf" srcId="{A7B9066B-031B-4608-A51D-E0124BD620A8}" destId="{D64270F4-6524-41D1-BCC8-28098AF327CB}" srcOrd="0" destOrd="0" presId="urn:microsoft.com/office/officeart/2018/2/layout/IconVerticalSolidList"/>
    <dgm:cxn modelId="{96E263FD-178D-4283-9E75-6950DDF5B53A}" type="presParOf" srcId="{A7B9066B-031B-4608-A51D-E0124BD620A8}" destId="{C5C89DE5-5ED7-4B9A-9889-8193BCF86963}" srcOrd="1" destOrd="0" presId="urn:microsoft.com/office/officeart/2018/2/layout/IconVerticalSolidList"/>
    <dgm:cxn modelId="{66D1FBC4-B5AB-453B-A9F2-D8FFAB6ED414}" type="presParOf" srcId="{A7B9066B-031B-4608-A51D-E0124BD620A8}" destId="{B2D6857D-38CF-49C2-BEE5-651C6D027B43}" srcOrd="2" destOrd="0" presId="urn:microsoft.com/office/officeart/2018/2/layout/IconVerticalSolidList"/>
    <dgm:cxn modelId="{F4A4BF0D-F60C-4E1B-875C-B840E7417D98}" type="presParOf" srcId="{A7B9066B-031B-4608-A51D-E0124BD620A8}" destId="{C561CA0E-2265-4D59-9409-703AD83A6006}" srcOrd="3" destOrd="0" presId="urn:microsoft.com/office/officeart/2018/2/layout/IconVerticalSolidList"/>
    <dgm:cxn modelId="{902DF48D-B132-423F-A3B2-E1FEECECA79B}" type="presParOf" srcId="{D1C6D932-CF36-4704-B108-F892C2D5714A}" destId="{B9BF9914-9428-4654-9D0B-28577263ABA6}" srcOrd="3" destOrd="0" presId="urn:microsoft.com/office/officeart/2018/2/layout/IconVerticalSolidList"/>
    <dgm:cxn modelId="{D030EA8E-E389-4598-9657-BEF6B6298159}" type="presParOf" srcId="{D1C6D932-CF36-4704-B108-F892C2D5714A}" destId="{2678889A-751A-4E96-9409-BADA4EDABD3C}" srcOrd="4" destOrd="0" presId="urn:microsoft.com/office/officeart/2018/2/layout/IconVerticalSolidList"/>
    <dgm:cxn modelId="{9A0F5BB4-957A-4F9A-A767-ED842DA6235D}" type="presParOf" srcId="{2678889A-751A-4E96-9409-BADA4EDABD3C}" destId="{305588C1-32E8-46E6-BD22-D95A03D6E746}" srcOrd="0" destOrd="0" presId="urn:microsoft.com/office/officeart/2018/2/layout/IconVerticalSolidList"/>
    <dgm:cxn modelId="{7118AF3B-095D-4397-ABFE-82053643100A}" type="presParOf" srcId="{2678889A-751A-4E96-9409-BADA4EDABD3C}" destId="{D16E33C9-1CD0-4740-BE77-0A1532195FDF}" srcOrd="1" destOrd="0" presId="urn:microsoft.com/office/officeart/2018/2/layout/IconVerticalSolidList"/>
    <dgm:cxn modelId="{47A54419-421F-48E5-B6F6-33545C0A67B2}" type="presParOf" srcId="{2678889A-751A-4E96-9409-BADA4EDABD3C}" destId="{642A63AF-1F17-4033-9B73-F87811907316}" srcOrd="2" destOrd="0" presId="urn:microsoft.com/office/officeart/2018/2/layout/IconVerticalSolidList"/>
    <dgm:cxn modelId="{7304D2AD-C908-425D-BBF6-834E6B7BE361}" type="presParOf" srcId="{2678889A-751A-4E96-9409-BADA4EDABD3C}" destId="{BA56A3F0-4A85-4C4C-AD9C-08043F2624AA}" srcOrd="3" destOrd="0" presId="urn:microsoft.com/office/officeart/2018/2/layout/IconVerticalSolidList"/>
    <dgm:cxn modelId="{5C6C0B0C-09E4-4476-9153-AECDA678AAC8}" type="presParOf" srcId="{2678889A-751A-4E96-9409-BADA4EDABD3C}" destId="{FC41A2E2-FA44-4577-9CAF-990488D2C7A6}" srcOrd="4" destOrd="0" presId="urn:microsoft.com/office/officeart/2018/2/layout/IconVerticalSolidList"/>
    <dgm:cxn modelId="{3D17F03E-BE90-4527-AF2A-079F435A9D87}" type="presParOf" srcId="{D1C6D932-CF36-4704-B108-F892C2D5714A}" destId="{9E8B8BB6-606D-4E18-A517-8C7F92D0C875}" srcOrd="5" destOrd="0" presId="urn:microsoft.com/office/officeart/2018/2/layout/IconVerticalSolidList"/>
    <dgm:cxn modelId="{13132CEB-A2F5-4980-AC0C-FA7D5210C32D}" type="presParOf" srcId="{D1C6D932-CF36-4704-B108-F892C2D5714A}" destId="{F96B2DF4-A99F-41B7-9699-2511993567A7}" srcOrd="6" destOrd="0" presId="urn:microsoft.com/office/officeart/2018/2/layout/IconVerticalSolidList"/>
    <dgm:cxn modelId="{E5011BC1-958F-4996-A0A9-72DDB3A4F848}" type="presParOf" srcId="{F96B2DF4-A99F-41B7-9699-2511993567A7}" destId="{D7E96154-FFF7-477D-AA95-C6112FC8EF78}" srcOrd="0" destOrd="0" presId="urn:microsoft.com/office/officeart/2018/2/layout/IconVerticalSolidList"/>
    <dgm:cxn modelId="{2AC54895-A75E-44A4-AAFE-B54CCCC24661}" type="presParOf" srcId="{F96B2DF4-A99F-41B7-9699-2511993567A7}" destId="{E56600D1-3F06-4F2A-94F4-2AA759529631}" srcOrd="1" destOrd="0" presId="urn:microsoft.com/office/officeart/2018/2/layout/IconVerticalSolidList"/>
    <dgm:cxn modelId="{AA1CAF73-33D7-4AE9-8317-BB020F36A69C}" type="presParOf" srcId="{F96B2DF4-A99F-41B7-9699-2511993567A7}" destId="{ADCE35C8-D561-4BF5-A12A-BE922CEBE290}" srcOrd="2" destOrd="0" presId="urn:microsoft.com/office/officeart/2018/2/layout/IconVerticalSolidList"/>
    <dgm:cxn modelId="{537C6378-E2EF-46F7-975B-57277CD7F682}" type="presParOf" srcId="{F96B2DF4-A99F-41B7-9699-2511993567A7}" destId="{ABC70114-6E82-41B0-8331-E6E85D375A5C}" srcOrd="3" destOrd="0" presId="urn:microsoft.com/office/officeart/2018/2/layout/IconVerticalSolidList"/>
    <dgm:cxn modelId="{CA480593-8E36-4C31-B905-21B73B4566FA}" type="presParOf" srcId="{D1C6D932-CF36-4704-B108-F892C2D5714A}" destId="{73D9CFCB-B5B3-4DFF-A498-175F4EFD8BD4}" srcOrd="7" destOrd="0" presId="urn:microsoft.com/office/officeart/2018/2/layout/IconVerticalSolidList"/>
    <dgm:cxn modelId="{DDD10605-B10E-4C98-BABA-FDE0ED50E659}" type="presParOf" srcId="{D1C6D932-CF36-4704-B108-F892C2D5714A}" destId="{BF8F7D5F-4627-4F3A-B68B-0E72EB093A3C}" srcOrd="8" destOrd="0" presId="urn:microsoft.com/office/officeart/2018/2/layout/IconVerticalSolidList"/>
    <dgm:cxn modelId="{0DF502F8-59A5-4B36-A9CD-9474A40F212F}" type="presParOf" srcId="{BF8F7D5F-4627-4F3A-B68B-0E72EB093A3C}" destId="{71A47B07-8693-43EB-9442-8E9BAD4AA1A9}" srcOrd="0" destOrd="0" presId="urn:microsoft.com/office/officeart/2018/2/layout/IconVerticalSolidList"/>
    <dgm:cxn modelId="{977B5737-E51A-4AC2-B633-388AD97D6CF4}" type="presParOf" srcId="{BF8F7D5F-4627-4F3A-B68B-0E72EB093A3C}" destId="{8D05440E-D68D-49E4-B832-44F2B6F5F0D3}" srcOrd="1" destOrd="0" presId="urn:microsoft.com/office/officeart/2018/2/layout/IconVerticalSolidList"/>
    <dgm:cxn modelId="{04B0F35D-8B45-42AE-977B-20E11F6B0FF4}" type="presParOf" srcId="{BF8F7D5F-4627-4F3A-B68B-0E72EB093A3C}" destId="{D7384D4D-95DA-4575-BB8C-105194A6106A}" srcOrd="2" destOrd="0" presId="urn:microsoft.com/office/officeart/2018/2/layout/IconVerticalSolidList"/>
    <dgm:cxn modelId="{959C1322-CA15-414D-903E-F907BBAC98BE}" type="presParOf" srcId="{BF8F7D5F-4627-4F3A-B68B-0E72EB093A3C}" destId="{A51FAB72-5378-4622-BDCD-FD661A8E8B9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B82BAE-6A74-4B55-8911-871D9E104D8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CC805B7-4C91-4A87-88A7-8F690D7EA03D}">
      <dgm:prSet/>
      <dgm:spPr/>
      <dgm:t>
        <a:bodyPr/>
        <a:lstStyle/>
        <a:p>
          <a:r>
            <a:rPr lang="en-SG" b="1"/>
            <a:t>Positive Sentiment: </a:t>
          </a:r>
          <a:r>
            <a:rPr lang="en-SG"/>
            <a:t>Reviews frequently mention friendly service, comfortable experiences, excellent service, good food, and entertainment. Words such as great, friendly comfortable, and excellent are significantly enriched.</a:t>
          </a:r>
          <a:endParaRPr lang="en-US"/>
        </a:p>
      </dgm:t>
    </dgm:pt>
    <dgm:pt modelId="{460A7E21-B81F-467B-BDE1-3D80D55E8179}" type="parTrans" cxnId="{8208BCCB-5538-4922-A58C-C52238F9F815}">
      <dgm:prSet/>
      <dgm:spPr/>
      <dgm:t>
        <a:bodyPr/>
        <a:lstStyle/>
        <a:p>
          <a:endParaRPr lang="en-US"/>
        </a:p>
      </dgm:t>
    </dgm:pt>
    <dgm:pt modelId="{AC97A87E-DD66-49D3-893E-6B0B5730A21B}" type="sibTrans" cxnId="{8208BCCB-5538-4922-A58C-C52238F9F815}">
      <dgm:prSet/>
      <dgm:spPr/>
      <dgm:t>
        <a:bodyPr/>
        <a:lstStyle/>
        <a:p>
          <a:endParaRPr lang="en-US"/>
        </a:p>
      </dgm:t>
    </dgm:pt>
    <dgm:pt modelId="{B6BE84A4-2A34-4B94-A512-F8B759470C80}">
      <dgm:prSet/>
      <dgm:spPr/>
      <dgm:t>
        <a:bodyPr/>
        <a:lstStyle/>
        <a:p>
          <a:r>
            <a:rPr lang="en-SG" b="1"/>
            <a:t>Negative Sentiment: </a:t>
          </a:r>
          <a:r>
            <a:rPr lang="en-SG"/>
            <a:t>Negative reviews focus more on tickets, customer service, poor experiences, and complaints, with enriched words such as ticket, customer, poor, disappointed, and asked. Issues also relate to food, seats, flights, and service. </a:t>
          </a:r>
          <a:endParaRPr lang="en-US"/>
        </a:p>
      </dgm:t>
    </dgm:pt>
    <dgm:pt modelId="{481AF655-3539-47D0-936C-C5C94A1B4AA9}" type="parTrans" cxnId="{24A12FB8-0D45-47D4-81FB-0A911A25ECEF}">
      <dgm:prSet/>
      <dgm:spPr/>
      <dgm:t>
        <a:bodyPr/>
        <a:lstStyle/>
        <a:p>
          <a:endParaRPr lang="en-US"/>
        </a:p>
      </dgm:t>
    </dgm:pt>
    <dgm:pt modelId="{21026121-56F4-463E-8CA9-CC8E18EB8704}" type="sibTrans" cxnId="{24A12FB8-0D45-47D4-81FB-0A911A25ECEF}">
      <dgm:prSet/>
      <dgm:spPr/>
      <dgm:t>
        <a:bodyPr/>
        <a:lstStyle/>
        <a:p>
          <a:endParaRPr lang="en-US"/>
        </a:p>
      </dgm:t>
    </dgm:pt>
    <dgm:pt modelId="{72C8ACA3-6BD7-48AA-994D-1C839D1E1181}">
      <dgm:prSet/>
      <dgm:spPr/>
      <dgm:t>
        <a:bodyPr/>
        <a:lstStyle/>
        <a:p>
          <a:r>
            <a:rPr lang="en-SG"/>
            <a:t>Overall, positive reviews emphasise Singapore Airlines service quality and comfortable travel experience, while negative reviews mainly highlight customer service issues and problems with tickets and the overall flight experience. </a:t>
          </a:r>
          <a:endParaRPr lang="en-US"/>
        </a:p>
      </dgm:t>
    </dgm:pt>
    <dgm:pt modelId="{593864FB-2991-4DFB-9485-A7170997FA01}" type="parTrans" cxnId="{FC2E43FB-79FD-4157-B9AC-24A3A31DC74D}">
      <dgm:prSet/>
      <dgm:spPr/>
      <dgm:t>
        <a:bodyPr/>
        <a:lstStyle/>
        <a:p>
          <a:endParaRPr lang="en-US"/>
        </a:p>
      </dgm:t>
    </dgm:pt>
    <dgm:pt modelId="{58087849-A67B-43A7-9B8A-350DD22B90D5}" type="sibTrans" cxnId="{FC2E43FB-79FD-4157-B9AC-24A3A31DC74D}">
      <dgm:prSet/>
      <dgm:spPr/>
      <dgm:t>
        <a:bodyPr/>
        <a:lstStyle/>
        <a:p>
          <a:endParaRPr lang="en-US"/>
        </a:p>
      </dgm:t>
    </dgm:pt>
    <dgm:pt modelId="{8D5DF8D8-76A8-4044-9D7F-15C61E10E9D0}" type="pres">
      <dgm:prSet presAssocID="{18B82BAE-6A74-4B55-8911-871D9E104D87}" presName="root" presStyleCnt="0">
        <dgm:presLayoutVars>
          <dgm:dir/>
          <dgm:resizeHandles val="exact"/>
        </dgm:presLayoutVars>
      </dgm:prSet>
      <dgm:spPr/>
    </dgm:pt>
    <dgm:pt modelId="{C6F3A568-A118-48CF-AE75-C00A11729CB0}" type="pres">
      <dgm:prSet presAssocID="{5CC805B7-4C91-4A87-88A7-8F690D7EA03D}" presName="compNode" presStyleCnt="0"/>
      <dgm:spPr/>
    </dgm:pt>
    <dgm:pt modelId="{48D25ECB-FC45-40AC-B1F0-37FDA4676EF4}" type="pres">
      <dgm:prSet presAssocID="{5CC805B7-4C91-4A87-88A7-8F690D7EA03D}" presName="bgRect" presStyleLbl="bgShp" presStyleIdx="0" presStyleCnt="3"/>
      <dgm:spPr/>
    </dgm:pt>
    <dgm:pt modelId="{4700271D-FCCF-4D57-9765-395C4622F410}" type="pres">
      <dgm:prSet presAssocID="{5CC805B7-4C91-4A87-88A7-8F690D7EA03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utral Face with No Fill"/>
        </a:ext>
      </dgm:extLst>
    </dgm:pt>
    <dgm:pt modelId="{C92604A0-EE0B-4C08-AFFB-E6A035478159}" type="pres">
      <dgm:prSet presAssocID="{5CC805B7-4C91-4A87-88A7-8F690D7EA03D}" presName="spaceRect" presStyleCnt="0"/>
      <dgm:spPr/>
    </dgm:pt>
    <dgm:pt modelId="{236D27C6-F72B-4D6B-8823-D41309D2B829}" type="pres">
      <dgm:prSet presAssocID="{5CC805B7-4C91-4A87-88A7-8F690D7EA03D}" presName="parTx" presStyleLbl="revTx" presStyleIdx="0" presStyleCnt="3">
        <dgm:presLayoutVars>
          <dgm:chMax val="0"/>
          <dgm:chPref val="0"/>
        </dgm:presLayoutVars>
      </dgm:prSet>
      <dgm:spPr/>
    </dgm:pt>
    <dgm:pt modelId="{5B698F03-7F66-448D-A8F2-7C7F86FA6688}" type="pres">
      <dgm:prSet presAssocID="{AC97A87E-DD66-49D3-893E-6B0B5730A21B}" presName="sibTrans" presStyleCnt="0"/>
      <dgm:spPr/>
    </dgm:pt>
    <dgm:pt modelId="{766A5DA0-D10F-4F37-8D84-3A9340722192}" type="pres">
      <dgm:prSet presAssocID="{B6BE84A4-2A34-4B94-A512-F8B759470C80}" presName="compNode" presStyleCnt="0"/>
      <dgm:spPr/>
    </dgm:pt>
    <dgm:pt modelId="{28A042FB-7F37-49C7-82A0-3F3BA1D86B82}" type="pres">
      <dgm:prSet presAssocID="{B6BE84A4-2A34-4B94-A512-F8B759470C80}" presName="bgRect" presStyleLbl="bgShp" presStyleIdx="1" presStyleCnt="3"/>
      <dgm:spPr/>
    </dgm:pt>
    <dgm:pt modelId="{FE45450E-3EC1-48E9-8E2D-7E7FD7887E6B}" type="pres">
      <dgm:prSet presAssocID="{B6BE84A4-2A34-4B94-A512-F8B759470C8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fused Face with No Fill"/>
        </a:ext>
      </dgm:extLst>
    </dgm:pt>
    <dgm:pt modelId="{207E3546-E776-4CC8-B658-D44E1AE4DC17}" type="pres">
      <dgm:prSet presAssocID="{B6BE84A4-2A34-4B94-A512-F8B759470C80}" presName="spaceRect" presStyleCnt="0"/>
      <dgm:spPr/>
    </dgm:pt>
    <dgm:pt modelId="{1D9DE8AF-1322-4BEC-B3D3-6C4546CEA099}" type="pres">
      <dgm:prSet presAssocID="{B6BE84A4-2A34-4B94-A512-F8B759470C80}" presName="parTx" presStyleLbl="revTx" presStyleIdx="1" presStyleCnt="3">
        <dgm:presLayoutVars>
          <dgm:chMax val="0"/>
          <dgm:chPref val="0"/>
        </dgm:presLayoutVars>
      </dgm:prSet>
      <dgm:spPr/>
    </dgm:pt>
    <dgm:pt modelId="{057C216A-8B14-4797-96F0-BD028EEEB00D}" type="pres">
      <dgm:prSet presAssocID="{21026121-56F4-463E-8CA9-CC8E18EB8704}" presName="sibTrans" presStyleCnt="0"/>
      <dgm:spPr/>
    </dgm:pt>
    <dgm:pt modelId="{1E8148A3-F31C-4187-9875-7CA76C2F1BD4}" type="pres">
      <dgm:prSet presAssocID="{72C8ACA3-6BD7-48AA-994D-1C839D1E1181}" presName="compNode" presStyleCnt="0"/>
      <dgm:spPr/>
    </dgm:pt>
    <dgm:pt modelId="{A9AC55A2-78DB-4C96-BEB0-B0690013BCC1}" type="pres">
      <dgm:prSet presAssocID="{72C8ACA3-6BD7-48AA-994D-1C839D1E1181}" presName="bgRect" presStyleLbl="bgShp" presStyleIdx="2" presStyleCnt="3"/>
      <dgm:spPr/>
    </dgm:pt>
    <dgm:pt modelId="{CF5E3635-B368-49E8-BAE4-A1F19E60C6C0}" type="pres">
      <dgm:prSet presAssocID="{72C8ACA3-6BD7-48AA-994D-1C839D1E118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irplane"/>
        </a:ext>
      </dgm:extLst>
    </dgm:pt>
    <dgm:pt modelId="{B009DF82-8ABD-49EC-9C67-269EA5E2D8D8}" type="pres">
      <dgm:prSet presAssocID="{72C8ACA3-6BD7-48AA-994D-1C839D1E1181}" presName="spaceRect" presStyleCnt="0"/>
      <dgm:spPr/>
    </dgm:pt>
    <dgm:pt modelId="{8DC14C66-A183-480E-B7CF-9592252FE55E}" type="pres">
      <dgm:prSet presAssocID="{72C8ACA3-6BD7-48AA-994D-1C839D1E1181}" presName="parTx" presStyleLbl="revTx" presStyleIdx="2" presStyleCnt="3">
        <dgm:presLayoutVars>
          <dgm:chMax val="0"/>
          <dgm:chPref val="0"/>
        </dgm:presLayoutVars>
      </dgm:prSet>
      <dgm:spPr/>
    </dgm:pt>
  </dgm:ptLst>
  <dgm:cxnLst>
    <dgm:cxn modelId="{D5FF5C06-46E8-4B22-94D3-EAB274CDC363}" type="presOf" srcId="{72C8ACA3-6BD7-48AA-994D-1C839D1E1181}" destId="{8DC14C66-A183-480E-B7CF-9592252FE55E}" srcOrd="0" destOrd="0" presId="urn:microsoft.com/office/officeart/2018/2/layout/IconVerticalSolidList"/>
    <dgm:cxn modelId="{46F53114-1E40-4F2A-B327-FA2725F5EF14}" type="presOf" srcId="{18B82BAE-6A74-4B55-8911-871D9E104D87}" destId="{8D5DF8D8-76A8-4044-9D7F-15C61E10E9D0}" srcOrd="0" destOrd="0" presId="urn:microsoft.com/office/officeart/2018/2/layout/IconVerticalSolidList"/>
    <dgm:cxn modelId="{7706E41C-2BFE-4E22-B2BC-0A609134CF60}" type="presOf" srcId="{B6BE84A4-2A34-4B94-A512-F8B759470C80}" destId="{1D9DE8AF-1322-4BEC-B3D3-6C4546CEA099}" srcOrd="0" destOrd="0" presId="urn:microsoft.com/office/officeart/2018/2/layout/IconVerticalSolidList"/>
    <dgm:cxn modelId="{96A9DA51-DE29-414A-AE42-638AC4D82B28}" type="presOf" srcId="{5CC805B7-4C91-4A87-88A7-8F690D7EA03D}" destId="{236D27C6-F72B-4D6B-8823-D41309D2B829}" srcOrd="0" destOrd="0" presId="urn:microsoft.com/office/officeart/2018/2/layout/IconVerticalSolidList"/>
    <dgm:cxn modelId="{24A12FB8-0D45-47D4-81FB-0A911A25ECEF}" srcId="{18B82BAE-6A74-4B55-8911-871D9E104D87}" destId="{B6BE84A4-2A34-4B94-A512-F8B759470C80}" srcOrd="1" destOrd="0" parTransId="{481AF655-3539-47D0-936C-C5C94A1B4AA9}" sibTransId="{21026121-56F4-463E-8CA9-CC8E18EB8704}"/>
    <dgm:cxn modelId="{8208BCCB-5538-4922-A58C-C52238F9F815}" srcId="{18B82BAE-6A74-4B55-8911-871D9E104D87}" destId="{5CC805B7-4C91-4A87-88A7-8F690D7EA03D}" srcOrd="0" destOrd="0" parTransId="{460A7E21-B81F-467B-BDE1-3D80D55E8179}" sibTransId="{AC97A87E-DD66-49D3-893E-6B0B5730A21B}"/>
    <dgm:cxn modelId="{FC2E43FB-79FD-4157-B9AC-24A3A31DC74D}" srcId="{18B82BAE-6A74-4B55-8911-871D9E104D87}" destId="{72C8ACA3-6BD7-48AA-994D-1C839D1E1181}" srcOrd="2" destOrd="0" parTransId="{593864FB-2991-4DFB-9485-A7170997FA01}" sibTransId="{58087849-A67B-43A7-9B8A-350DD22B90D5}"/>
    <dgm:cxn modelId="{FCBCA8ED-6EB8-4515-BA35-BAD2FC9D63AB}" type="presParOf" srcId="{8D5DF8D8-76A8-4044-9D7F-15C61E10E9D0}" destId="{C6F3A568-A118-48CF-AE75-C00A11729CB0}" srcOrd="0" destOrd="0" presId="urn:microsoft.com/office/officeart/2018/2/layout/IconVerticalSolidList"/>
    <dgm:cxn modelId="{F9A567BC-E1F2-4CD8-8640-7C15A7E410EF}" type="presParOf" srcId="{C6F3A568-A118-48CF-AE75-C00A11729CB0}" destId="{48D25ECB-FC45-40AC-B1F0-37FDA4676EF4}" srcOrd="0" destOrd="0" presId="urn:microsoft.com/office/officeart/2018/2/layout/IconVerticalSolidList"/>
    <dgm:cxn modelId="{D4068B34-2DE8-46EE-895E-0585C36367A3}" type="presParOf" srcId="{C6F3A568-A118-48CF-AE75-C00A11729CB0}" destId="{4700271D-FCCF-4D57-9765-395C4622F410}" srcOrd="1" destOrd="0" presId="urn:microsoft.com/office/officeart/2018/2/layout/IconVerticalSolidList"/>
    <dgm:cxn modelId="{C03A86B4-D913-4C47-91B6-1FB5ED082E21}" type="presParOf" srcId="{C6F3A568-A118-48CF-AE75-C00A11729CB0}" destId="{C92604A0-EE0B-4C08-AFFB-E6A035478159}" srcOrd="2" destOrd="0" presId="urn:microsoft.com/office/officeart/2018/2/layout/IconVerticalSolidList"/>
    <dgm:cxn modelId="{53E686E6-84E2-42EF-ABDB-30007D2CB9B0}" type="presParOf" srcId="{C6F3A568-A118-48CF-AE75-C00A11729CB0}" destId="{236D27C6-F72B-4D6B-8823-D41309D2B829}" srcOrd="3" destOrd="0" presId="urn:microsoft.com/office/officeart/2018/2/layout/IconVerticalSolidList"/>
    <dgm:cxn modelId="{FD34BCD8-BD47-4370-9A59-407615B61C35}" type="presParOf" srcId="{8D5DF8D8-76A8-4044-9D7F-15C61E10E9D0}" destId="{5B698F03-7F66-448D-A8F2-7C7F86FA6688}" srcOrd="1" destOrd="0" presId="urn:microsoft.com/office/officeart/2018/2/layout/IconVerticalSolidList"/>
    <dgm:cxn modelId="{310EE14A-21DB-4D13-8D82-5078E6060897}" type="presParOf" srcId="{8D5DF8D8-76A8-4044-9D7F-15C61E10E9D0}" destId="{766A5DA0-D10F-4F37-8D84-3A9340722192}" srcOrd="2" destOrd="0" presId="urn:microsoft.com/office/officeart/2018/2/layout/IconVerticalSolidList"/>
    <dgm:cxn modelId="{079F2ACF-1C59-42D9-B585-695BD6EB21F3}" type="presParOf" srcId="{766A5DA0-D10F-4F37-8D84-3A9340722192}" destId="{28A042FB-7F37-49C7-82A0-3F3BA1D86B82}" srcOrd="0" destOrd="0" presId="urn:microsoft.com/office/officeart/2018/2/layout/IconVerticalSolidList"/>
    <dgm:cxn modelId="{BCBFB86D-C91D-4561-921B-74E85A887B48}" type="presParOf" srcId="{766A5DA0-D10F-4F37-8D84-3A9340722192}" destId="{FE45450E-3EC1-48E9-8E2D-7E7FD7887E6B}" srcOrd="1" destOrd="0" presId="urn:microsoft.com/office/officeart/2018/2/layout/IconVerticalSolidList"/>
    <dgm:cxn modelId="{C21A9649-F704-4FF0-95BE-FA4772FB48F6}" type="presParOf" srcId="{766A5DA0-D10F-4F37-8D84-3A9340722192}" destId="{207E3546-E776-4CC8-B658-D44E1AE4DC17}" srcOrd="2" destOrd="0" presId="urn:microsoft.com/office/officeart/2018/2/layout/IconVerticalSolidList"/>
    <dgm:cxn modelId="{D1E71D16-1AC5-4B0D-AED2-A0921A3E9FAA}" type="presParOf" srcId="{766A5DA0-D10F-4F37-8D84-3A9340722192}" destId="{1D9DE8AF-1322-4BEC-B3D3-6C4546CEA099}" srcOrd="3" destOrd="0" presId="urn:microsoft.com/office/officeart/2018/2/layout/IconVerticalSolidList"/>
    <dgm:cxn modelId="{155D8116-0F49-4235-8D88-2D1E9C801F00}" type="presParOf" srcId="{8D5DF8D8-76A8-4044-9D7F-15C61E10E9D0}" destId="{057C216A-8B14-4797-96F0-BD028EEEB00D}" srcOrd="3" destOrd="0" presId="urn:microsoft.com/office/officeart/2018/2/layout/IconVerticalSolidList"/>
    <dgm:cxn modelId="{91447F41-EC76-4401-9BAD-48EBC45A5E5C}" type="presParOf" srcId="{8D5DF8D8-76A8-4044-9D7F-15C61E10E9D0}" destId="{1E8148A3-F31C-4187-9875-7CA76C2F1BD4}" srcOrd="4" destOrd="0" presId="urn:microsoft.com/office/officeart/2018/2/layout/IconVerticalSolidList"/>
    <dgm:cxn modelId="{F8B3A6B1-6B68-4C62-81AB-05DF3DB37D7F}" type="presParOf" srcId="{1E8148A3-F31C-4187-9875-7CA76C2F1BD4}" destId="{A9AC55A2-78DB-4C96-BEB0-B0690013BCC1}" srcOrd="0" destOrd="0" presId="urn:microsoft.com/office/officeart/2018/2/layout/IconVerticalSolidList"/>
    <dgm:cxn modelId="{761052E6-FED6-45AF-ADC4-417E13CB9C05}" type="presParOf" srcId="{1E8148A3-F31C-4187-9875-7CA76C2F1BD4}" destId="{CF5E3635-B368-49E8-BAE4-A1F19E60C6C0}" srcOrd="1" destOrd="0" presId="urn:microsoft.com/office/officeart/2018/2/layout/IconVerticalSolidList"/>
    <dgm:cxn modelId="{510C73F3-F837-4C76-BFE8-55640A8588E0}" type="presParOf" srcId="{1E8148A3-F31C-4187-9875-7CA76C2F1BD4}" destId="{B009DF82-8ABD-49EC-9C67-269EA5E2D8D8}" srcOrd="2" destOrd="0" presId="urn:microsoft.com/office/officeart/2018/2/layout/IconVerticalSolidList"/>
    <dgm:cxn modelId="{E015DAD4-3F35-498A-9035-F4B6B98623A0}" type="presParOf" srcId="{1E8148A3-F31C-4187-9875-7CA76C2F1BD4}" destId="{8DC14C66-A183-480E-B7CF-9592252FE5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2DC6E9-9ADF-41D0-8B90-9E21D49A6A2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EF49231-022F-4068-AE26-BEECF4DCD799}">
      <dgm:prSet/>
      <dgm:spPr/>
      <dgm:t>
        <a:bodyPr/>
        <a:lstStyle/>
        <a:p>
          <a:r>
            <a:rPr lang="en-SG" b="1"/>
            <a:t>Hierarchical clustering </a:t>
          </a:r>
          <a:r>
            <a:rPr lang="en-SG"/>
            <a:t>groups similar data into a hierarchy of clusters.</a:t>
          </a:r>
          <a:endParaRPr lang="en-US"/>
        </a:p>
      </dgm:t>
    </dgm:pt>
    <dgm:pt modelId="{5379372C-075F-47F1-85FC-E7B4FD5262BA}" type="parTrans" cxnId="{45B547E0-A2CA-4A91-A972-2A2AECF38E17}">
      <dgm:prSet/>
      <dgm:spPr/>
      <dgm:t>
        <a:bodyPr/>
        <a:lstStyle/>
        <a:p>
          <a:endParaRPr lang="en-US"/>
        </a:p>
      </dgm:t>
    </dgm:pt>
    <dgm:pt modelId="{092EE29A-21A8-4C9C-9545-2CC2AEF309D6}" type="sibTrans" cxnId="{45B547E0-A2CA-4A91-A972-2A2AECF38E17}">
      <dgm:prSet/>
      <dgm:spPr/>
      <dgm:t>
        <a:bodyPr/>
        <a:lstStyle/>
        <a:p>
          <a:endParaRPr lang="en-US"/>
        </a:p>
      </dgm:t>
    </dgm:pt>
    <dgm:pt modelId="{E8F3D672-C86B-49B4-B85B-C5A04794CA74}">
      <dgm:prSet/>
      <dgm:spPr/>
      <dgm:t>
        <a:bodyPr/>
        <a:lstStyle/>
        <a:p>
          <a:r>
            <a:rPr lang="en-SG" b="1"/>
            <a:t>Euclidean Distance: </a:t>
          </a:r>
          <a:r>
            <a:rPr lang="en-SG"/>
            <a:t>Measures the straight line distance between two data points.</a:t>
          </a:r>
          <a:endParaRPr lang="en-US"/>
        </a:p>
      </dgm:t>
    </dgm:pt>
    <dgm:pt modelId="{7236492E-6916-4CA3-87AA-8C85447D01AD}" type="parTrans" cxnId="{DC560E59-537C-4444-A8B6-EAD18C713C29}">
      <dgm:prSet/>
      <dgm:spPr/>
      <dgm:t>
        <a:bodyPr/>
        <a:lstStyle/>
        <a:p>
          <a:endParaRPr lang="en-US"/>
        </a:p>
      </dgm:t>
    </dgm:pt>
    <dgm:pt modelId="{D17329EB-A18C-451C-A6A1-EF2885E40902}" type="sibTrans" cxnId="{DC560E59-537C-4444-A8B6-EAD18C713C29}">
      <dgm:prSet/>
      <dgm:spPr/>
      <dgm:t>
        <a:bodyPr/>
        <a:lstStyle/>
        <a:p>
          <a:endParaRPr lang="en-US"/>
        </a:p>
      </dgm:t>
    </dgm:pt>
    <dgm:pt modelId="{B7515E16-71DB-4ECC-AC98-C2A217B00E84}">
      <dgm:prSet/>
      <dgm:spPr/>
      <dgm:t>
        <a:bodyPr/>
        <a:lstStyle/>
        <a:p>
          <a:r>
            <a:rPr lang="en-SG"/>
            <a:t>Smaller distances – data points are more similar</a:t>
          </a:r>
          <a:endParaRPr lang="en-US"/>
        </a:p>
      </dgm:t>
    </dgm:pt>
    <dgm:pt modelId="{35D0F88B-3573-45F2-B1AE-3AC81600B5D8}" type="parTrans" cxnId="{553D89ED-66C8-4C32-95AB-AB43AB4387F3}">
      <dgm:prSet/>
      <dgm:spPr/>
      <dgm:t>
        <a:bodyPr/>
        <a:lstStyle/>
        <a:p>
          <a:endParaRPr lang="en-US"/>
        </a:p>
      </dgm:t>
    </dgm:pt>
    <dgm:pt modelId="{9D8BF8A2-062B-4C5F-8B27-86B072D81D5E}" type="sibTrans" cxnId="{553D89ED-66C8-4C32-95AB-AB43AB4387F3}">
      <dgm:prSet/>
      <dgm:spPr/>
      <dgm:t>
        <a:bodyPr/>
        <a:lstStyle/>
        <a:p>
          <a:endParaRPr lang="en-US"/>
        </a:p>
      </dgm:t>
    </dgm:pt>
    <dgm:pt modelId="{CF710CC1-9B2E-4FBC-95F0-D2A90115E602}">
      <dgm:prSet/>
      <dgm:spPr/>
      <dgm:t>
        <a:bodyPr/>
        <a:lstStyle/>
        <a:p>
          <a:r>
            <a:rPr lang="en-SG"/>
            <a:t>Larger distances – data points are less similar</a:t>
          </a:r>
          <a:endParaRPr lang="en-US"/>
        </a:p>
      </dgm:t>
    </dgm:pt>
    <dgm:pt modelId="{B7C4C90F-19CE-462E-A9DB-05E75C2D1E45}" type="parTrans" cxnId="{0B9A3CA6-153C-41B5-A3EE-9401A7B4BB92}">
      <dgm:prSet/>
      <dgm:spPr/>
      <dgm:t>
        <a:bodyPr/>
        <a:lstStyle/>
        <a:p>
          <a:endParaRPr lang="en-US"/>
        </a:p>
      </dgm:t>
    </dgm:pt>
    <dgm:pt modelId="{193D3233-EA92-4906-97AE-1C34F99272C6}" type="sibTrans" cxnId="{0B9A3CA6-153C-41B5-A3EE-9401A7B4BB92}">
      <dgm:prSet/>
      <dgm:spPr/>
      <dgm:t>
        <a:bodyPr/>
        <a:lstStyle/>
        <a:p>
          <a:endParaRPr lang="en-US"/>
        </a:p>
      </dgm:t>
    </dgm:pt>
    <dgm:pt modelId="{9D388D0C-BA5C-45D5-B58D-9EE53FAE30FB}">
      <dgm:prSet/>
      <dgm:spPr/>
      <dgm:t>
        <a:bodyPr/>
        <a:lstStyle/>
        <a:p>
          <a:r>
            <a:rPr lang="en-SG" b="1"/>
            <a:t>Agglomerative Process:</a:t>
          </a:r>
          <a:endParaRPr lang="en-US"/>
        </a:p>
      </dgm:t>
    </dgm:pt>
    <dgm:pt modelId="{CA8DCF06-E395-48FB-840C-C979833AE668}" type="parTrans" cxnId="{4178B78A-28AF-4A8A-8C97-48ECC3FD9043}">
      <dgm:prSet/>
      <dgm:spPr/>
      <dgm:t>
        <a:bodyPr/>
        <a:lstStyle/>
        <a:p>
          <a:endParaRPr lang="en-US"/>
        </a:p>
      </dgm:t>
    </dgm:pt>
    <dgm:pt modelId="{E2F0111D-33DC-44C0-B78D-E0295EFFE82D}" type="sibTrans" cxnId="{4178B78A-28AF-4A8A-8C97-48ECC3FD9043}">
      <dgm:prSet/>
      <dgm:spPr/>
      <dgm:t>
        <a:bodyPr/>
        <a:lstStyle/>
        <a:p>
          <a:endParaRPr lang="en-US"/>
        </a:p>
      </dgm:t>
    </dgm:pt>
    <dgm:pt modelId="{628A6301-5E85-4AEB-A4AE-C415ACAF2BEF}">
      <dgm:prSet/>
      <dgm:spPr/>
      <dgm:t>
        <a:bodyPr/>
        <a:lstStyle/>
        <a:p>
          <a:r>
            <a:rPr lang="en-SG"/>
            <a:t>Start with each data point as an individual cluster.</a:t>
          </a:r>
          <a:endParaRPr lang="en-US"/>
        </a:p>
      </dgm:t>
    </dgm:pt>
    <dgm:pt modelId="{9EEFD303-DBD2-48B8-B756-7B3D557DE405}" type="parTrans" cxnId="{BD6B5EB0-5520-40D5-B9AD-7FD7AC5CC22C}">
      <dgm:prSet/>
      <dgm:spPr/>
      <dgm:t>
        <a:bodyPr/>
        <a:lstStyle/>
        <a:p>
          <a:endParaRPr lang="en-US"/>
        </a:p>
      </dgm:t>
    </dgm:pt>
    <dgm:pt modelId="{3621E7B3-42A0-4571-BE0B-AEA5C828F8FE}" type="sibTrans" cxnId="{BD6B5EB0-5520-40D5-B9AD-7FD7AC5CC22C}">
      <dgm:prSet/>
      <dgm:spPr/>
      <dgm:t>
        <a:bodyPr/>
        <a:lstStyle/>
        <a:p>
          <a:endParaRPr lang="en-US"/>
        </a:p>
      </dgm:t>
    </dgm:pt>
    <dgm:pt modelId="{792EB9E2-9C0B-4E92-90AC-8F09323F027A}">
      <dgm:prSet/>
      <dgm:spPr/>
      <dgm:t>
        <a:bodyPr/>
        <a:lstStyle/>
        <a:p>
          <a:r>
            <a:rPr lang="en-SG"/>
            <a:t>Calculate the Euclidean distance between clusters.</a:t>
          </a:r>
          <a:endParaRPr lang="en-US"/>
        </a:p>
      </dgm:t>
    </dgm:pt>
    <dgm:pt modelId="{0D28BE49-0E03-4DC9-9F4C-F6402512B1E3}" type="parTrans" cxnId="{93512FFE-BE9F-4DDC-98A9-335162679F2A}">
      <dgm:prSet/>
      <dgm:spPr/>
      <dgm:t>
        <a:bodyPr/>
        <a:lstStyle/>
        <a:p>
          <a:endParaRPr lang="en-US"/>
        </a:p>
      </dgm:t>
    </dgm:pt>
    <dgm:pt modelId="{635552EE-63F4-4EB9-A2C1-248238BB6B81}" type="sibTrans" cxnId="{93512FFE-BE9F-4DDC-98A9-335162679F2A}">
      <dgm:prSet/>
      <dgm:spPr/>
      <dgm:t>
        <a:bodyPr/>
        <a:lstStyle/>
        <a:p>
          <a:endParaRPr lang="en-US"/>
        </a:p>
      </dgm:t>
    </dgm:pt>
    <dgm:pt modelId="{3731D4C1-E849-43F9-B714-2EB5BAD74262}">
      <dgm:prSet/>
      <dgm:spPr/>
      <dgm:t>
        <a:bodyPr/>
        <a:lstStyle/>
        <a:p>
          <a:r>
            <a:rPr lang="en-SG"/>
            <a:t>Merge the closest clusters. </a:t>
          </a:r>
          <a:endParaRPr lang="en-US"/>
        </a:p>
      </dgm:t>
    </dgm:pt>
    <dgm:pt modelId="{C23B45CB-CD01-406D-9616-D1DBC138DF48}" type="parTrans" cxnId="{5E5D4CFD-5FAC-4554-8456-B50E24A51656}">
      <dgm:prSet/>
      <dgm:spPr/>
      <dgm:t>
        <a:bodyPr/>
        <a:lstStyle/>
        <a:p>
          <a:endParaRPr lang="en-US"/>
        </a:p>
      </dgm:t>
    </dgm:pt>
    <dgm:pt modelId="{0A72F57A-29D2-4EB3-AF17-4883FF37CCB7}" type="sibTrans" cxnId="{5E5D4CFD-5FAC-4554-8456-B50E24A51656}">
      <dgm:prSet/>
      <dgm:spPr/>
      <dgm:t>
        <a:bodyPr/>
        <a:lstStyle/>
        <a:p>
          <a:endParaRPr lang="en-US"/>
        </a:p>
      </dgm:t>
    </dgm:pt>
    <dgm:pt modelId="{F8C3806E-B675-497D-8453-A99E9D69D3D5}">
      <dgm:prSet/>
      <dgm:spPr/>
      <dgm:t>
        <a:bodyPr/>
        <a:lstStyle/>
        <a:p>
          <a:r>
            <a:rPr lang="en-SG"/>
            <a:t>Repeat until all clusters form a hierarchy.</a:t>
          </a:r>
          <a:endParaRPr lang="en-US"/>
        </a:p>
      </dgm:t>
    </dgm:pt>
    <dgm:pt modelId="{29521453-8BC0-4038-B1B0-C45E080C4D46}" type="parTrans" cxnId="{A4BC4D31-15FA-492A-9F4A-0E1718BC93C8}">
      <dgm:prSet/>
      <dgm:spPr/>
      <dgm:t>
        <a:bodyPr/>
        <a:lstStyle/>
        <a:p>
          <a:endParaRPr lang="en-US"/>
        </a:p>
      </dgm:t>
    </dgm:pt>
    <dgm:pt modelId="{23E66D6A-7062-4628-A989-77101FBAF04A}" type="sibTrans" cxnId="{A4BC4D31-15FA-492A-9F4A-0E1718BC93C8}">
      <dgm:prSet/>
      <dgm:spPr/>
      <dgm:t>
        <a:bodyPr/>
        <a:lstStyle/>
        <a:p>
          <a:endParaRPr lang="en-US"/>
        </a:p>
      </dgm:t>
    </dgm:pt>
    <dgm:pt modelId="{1617D9D2-76EA-4DC4-B09C-ACD0A26A117A}">
      <dgm:prSet/>
      <dgm:spPr/>
      <dgm:t>
        <a:bodyPr/>
        <a:lstStyle/>
        <a:p>
          <a:r>
            <a:rPr lang="en-SG"/>
            <a:t>Use a dendrogram to determine the final clusters. </a:t>
          </a:r>
          <a:endParaRPr lang="en-US"/>
        </a:p>
      </dgm:t>
    </dgm:pt>
    <dgm:pt modelId="{592DD797-BC45-4D22-B896-4A326506EFC0}" type="parTrans" cxnId="{D761527B-0796-46BA-9495-69DA1C0E863A}">
      <dgm:prSet/>
      <dgm:spPr/>
      <dgm:t>
        <a:bodyPr/>
        <a:lstStyle/>
        <a:p>
          <a:endParaRPr lang="en-US"/>
        </a:p>
      </dgm:t>
    </dgm:pt>
    <dgm:pt modelId="{F89D685A-CE01-4FB8-9B58-B8B106B7E96D}" type="sibTrans" cxnId="{D761527B-0796-46BA-9495-69DA1C0E863A}">
      <dgm:prSet/>
      <dgm:spPr/>
      <dgm:t>
        <a:bodyPr/>
        <a:lstStyle/>
        <a:p>
          <a:endParaRPr lang="en-US"/>
        </a:p>
      </dgm:t>
    </dgm:pt>
    <dgm:pt modelId="{2D8D7C71-ED96-4D85-BA4C-D4F0C305EADC}" type="pres">
      <dgm:prSet presAssocID="{1A2DC6E9-9ADF-41D0-8B90-9E21D49A6A2A}" presName="linear" presStyleCnt="0">
        <dgm:presLayoutVars>
          <dgm:animLvl val="lvl"/>
          <dgm:resizeHandles val="exact"/>
        </dgm:presLayoutVars>
      </dgm:prSet>
      <dgm:spPr/>
    </dgm:pt>
    <dgm:pt modelId="{80DD5D8E-B2C5-491D-AC0E-4C737728301C}" type="pres">
      <dgm:prSet presAssocID="{FEF49231-022F-4068-AE26-BEECF4DCD799}" presName="parentText" presStyleLbl="node1" presStyleIdx="0" presStyleCnt="3">
        <dgm:presLayoutVars>
          <dgm:chMax val="0"/>
          <dgm:bulletEnabled val="1"/>
        </dgm:presLayoutVars>
      </dgm:prSet>
      <dgm:spPr/>
    </dgm:pt>
    <dgm:pt modelId="{BF830B3D-C000-47AA-8433-7F2D7812A8BE}" type="pres">
      <dgm:prSet presAssocID="{092EE29A-21A8-4C9C-9545-2CC2AEF309D6}" presName="spacer" presStyleCnt="0"/>
      <dgm:spPr/>
    </dgm:pt>
    <dgm:pt modelId="{938EE9C8-60BC-4A04-856C-1D699EB34BDD}" type="pres">
      <dgm:prSet presAssocID="{E8F3D672-C86B-49B4-B85B-C5A04794CA74}" presName="parentText" presStyleLbl="node1" presStyleIdx="1" presStyleCnt="3">
        <dgm:presLayoutVars>
          <dgm:chMax val="0"/>
          <dgm:bulletEnabled val="1"/>
        </dgm:presLayoutVars>
      </dgm:prSet>
      <dgm:spPr/>
    </dgm:pt>
    <dgm:pt modelId="{5750482E-26CD-4BE0-BFE4-48EB395F096C}" type="pres">
      <dgm:prSet presAssocID="{E8F3D672-C86B-49B4-B85B-C5A04794CA74}" presName="childText" presStyleLbl="revTx" presStyleIdx="0" presStyleCnt="2">
        <dgm:presLayoutVars>
          <dgm:bulletEnabled val="1"/>
        </dgm:presLayoutVars>
      </dgm:prSet>
      <dgm:spPr/>
    </dgm:pt>
    <dgm:pt modelId="{4EC202D1-BAF8-4274-ACCA-31CAD8BC7D40}" type="pres">
      <dgm:prSet presAssocID="{9D388D0C-BA5C-45D5-B58D-9EE53FAE30FB}" presName="parentText" presStyleLbl="node1" presStyleIdx="2" presStyleCnt="3">
        <dgm:presLayoutVars>
          <dgm:chMax val="0"/>
          <dgm:bulletEnabled val="1"/>
        </dgm:presLayoutVars>
      </dgm:prSet>
      <dgm:spPr/>
    </dgm:pt>
    <dgm:pt modelId="{571C09DC-6703-4DCC-9E92-FB4DC9F39A27}" type="pres">
      <dgm:prSet presAssocID="{9D388D0C-BA5C-45D5-B58D-9EE53FAE30FB}" presName="childText" presStyleLbl="revTx" presStyleIdx="1" presStyleCnt="2">
        <dgm:presLayoutVars>
          <dgm:bulletEnabled val="1"/>
        </dgm:presLayoutVars>
      </dgm:prSet>
      <dgm:spPr/>
    </dgm:pt>
  </dgm:ptLst>
  <dgm:cxnLst>
    <dgm:cxn modelId="{A4BC4D31-15FA-492A-9F4A-0E1718BC93C8}" srcId="{9D388D0C-BA5C-45D5-B58D-9EE53FAE30FB}" destId="{F8C3806E-B675-497D-8453-A99E9D69D3D5}" srcOrd="3" destOrd="0" parTransId="{29521453-8BC0-4038-B1B0-C45E080C4D46}" sibTransId="{23E66D6A-7062-4628-A989-77101FBAF04A}"/>
    <dgm:cxn modelId="{CEB1D65D-0E59-41BA-AF79-FF2A8D17AD8E}" type="presOf" srcId="{1617D9D2-76EA-4DC4-B09C-ACD0A26A117A}" destId="{571C09DC-6703-4DCC-9E92-FB4DC9F39A27}" srcOrd="0" destOrd="4" presId="urn:microsoft.com/office/officeart/2005/8/layout/vList2"/>
    <dgm:cxn modelId="{F8F14E60-6591-4077-8310-D8AD120EC248}" type="presOf" srcId="{FEF49231-022F-4068-AE26-BEECF4DCD799}" destId="{80DD5D8E-B2C5-491D-AC0E-4C737728301C}" srcOrd="0" destOrd="0" presId="urn:microsoft.com/office/officeart/2005/8/layout/vList2"/>
    <dgm:cxn modelId="{ED66F453-B302-4368-B2C2-E481634D7D55}" type="presOf" srcId="{628A6301-5E85-4AEB-A4AE-C415ACAF2BEF}" destId="{571C09DC-6703-4DCC-9E92-FB4DC9F39A27}" srcOrd="0" destOrd="0" presId="urn:microsoft.com/office/officeart/2005/8/layout/vList2"/>
    <dgm:cxn modelId="{DC560E59-537C-4444-A8B6-EAD18C713C29}" srcId="{1A2DC6E9-9ADF-41D0-8B90-9E21D49A6A2A}" destId="{E8F3D672-C86B-49B4-B85B-C5A04794CA74}" srcOrd="1" destOrd="0" parTransId="{7236492E-6916-4CA3-87AA-8C85447D01AD}" sibTransId="{D17329EB-A18C-451C-A6A1-EF2885E40902}"/>
    <dgm:cxn modelId="{CD34FC59-AE00-48EE-901E-2F51818303B2}" type="presOf" srcId="{9D388D0C-BA5C-45D5-B58D-9EE53FAE30FB}" destId="{4EC202D1-BAF8-4274-ACCA-31CAD8BC7D40}" srcOrd="0" destOrd="0" presId="urn:microsoft.com/office/officeart/2005/8/layout/vList2"/>
    <dgm:cxn modelId="{1525BE7A-00C8-4EE1-A48E-ACB91D235FF2}" type="presOf" srcId="{CF710CC1-9B2E-4FBC-95F0-D2A90115E602}" destId="{5750482E-26CD-4BE0-BFE4-48EB395F096C}" srcOrd="0" destOrd="1" presId="urn:microsoft.com/office/officeart/2005/8/layout/vList2"/>
    <dgm:cxn modelId="{D761527B-0796-46BA-9495-69DA1C0E863A}" srcId="{9D388D0C-BA5C-45D5-B58D-9EE53FAE30FB}" destId="{1617D9D2-76EA-4DC4-B09C-ACD0A26A117A}" srcOrd="4" destOrd="0" parTransId="{592DD797-BC45-4D22-B896-4A326506EFC0}" sibTransId="{F89D685A-CE01-4FB8-9B58-B8B106B7E96D}"/>
    <dgm:cxn modelId="{4178B78A-28AF-4A8A-8C97-48ECC3FD9043}" srcId="{1A2DC6E9-9ADF-41D0-8B90-9E21D49A6A2A}" destId="{9D388D0C-BA5C-45D5-B58D-9EE53FAE30FB}" srcOrd="2" destOrd="0" parTransId="{CA8DCF06-E395-48FB-840C-C979833AE668}" sibTransId="{E2F0111D-33DC-44C0-B78D-E0295EFFE82D}"/>
    <dgm:cxn modelId="{2C42AA92-8FE5-4CE7-9113-B166ABC49766}" type="presOf" srcId="{E8F3D672-C86B-49B4-B85B-C5A04794CA74}" destId="{938EE9C8-60BC-4A04-856C-1D699EB34BDD}" srcOrd="0" destOrd="0" presId="urn:microsoft.com/office/officeart/2005/8/layout/vList2"/>
    <dgm:cxn modelId="{6B700A98-BDD6-4C56-9963-FCD949FFA727}" type="presOf" srcId="{792EB9E2-9C0B-4E92-90AC-8F09323F027A}" destId="{571C09DC-6703-4DCC-9E92-FB4DC9F39A27}" srcOrd="0" destOrd="1" presId="urn:microsoft.com/office/officeart/2005/8/layout/vList2"/>
    <dgm:cxn modelId="{7230A49C-1170-4BFB-9145-5D4B77AC149F}" type="presOf" srcId="{B7515E16-71DB-4ECC-AC98-C2A217B00E84}" destId="{5750482E-26CD-4BE0-BFE4-48EB395F096C}" srcOrd="0" destOrd="0" presId="urn:microsoft.com/office/officeart/2005/8/layout/vList2"/>
    <dgm:cxn modelId="{66E33AA6-0060-4188-A26B-94117E893E76}" type="presOf" srcId="{1A2DC6E9-9ADF-41D0-8B90-9E21D49A6A2A}" destId="{2D8D7C71-ED96-4D85-BA4C-D4F0C305EADC}" srcOrd="0" destOrd="0" presId="urn:microsoft.com/office/officeart/2005/8/layout/vList2"/>
    <dgm:cxn modelId="{0B9A3CA6-153C-41B5-A3EE-9401A7B4BB92}" srcId="{E8F3D672-C86B-49B4-B85B-C5A04794CA74}" destId="{CF710CC1-9B2E-4FBC-95F0-D2A90115E602}" srcOrd="1" destOrd="0" parTransId="{B7C4C90F-19CE-462E-A9DB-05E75C2D1E45}" sibTransId="{193D3233-EA92-4906-97AE-1C34F99272C6}"/>
    <dgm:cxn modelId="{BD6B5EB0-5520-40D5-B9AD-7FD7AC5CC22C}" srcId="{9D388D0C-BA5C-45D5-B58D-9EE53FAE30FB}" destId="{628A6301-5E85-4AEB-A4AE-C415ACAF2BEF}" srcOrd="0" destOrd="0" parTransId="{9EEFD303-DBD2-48B8-B756-7B3D557DE405}" sibTransId="{3621E7B3-42A0-4571-BE0B-AEA5C828F8FE}"/>
    <dgm:cxn modelId="{D8B34EBA-1573-40BE-A724-06950257D3F8}" type="presOf" srcId="{3731D4C1-E849-43F9-B714-2EB5BAD74262}" destId="{571C09DC-6703-4DCC-9E92-FB4DC9F39A27}" srcOrd="0" destOrd="2" presId="urn:microsoft.com/office/officeart/2005/8/layout/vList2"/>
    <dgm:cxn modelId="{45B547E0-A2CA-4A91-A972-2A2AECF38E17}" srcId="{1A2DC6E9-9ADF-41D0-8B90-9E21D49A6A2A}" destId="{FEF49231-022F-4068-AE26-BEECF4DCD799}" srcOrd="0" destOrd="0" parTransId="{5379372C-075F-47F1-85FC-E7B4FD5262BA}" sibTransId="{092EE29A-21A8-4C9C-9545-2CC2AEF309D6}"/>
    <dgm:cxn modelId="{51C2E7E9-97DE-4647-ACB7-5D0B3753526D}" type="presOf" srcId="{F8C3806E-B675-497D-8453-A99E9D69D3D5}" destId="{571C09DC-6703-4DCC-9E92-FB4DC9F39A27}" srcOrd="0" destOrd="3" presId="urn:microsoft.com/office/officeart/2005/8/layout/vList2"/>
    <dgm:cxn modelId="{553D89ED-66C8-4C32-95AB-AB43AB4387F3}" srcId="{E8F3D672-C86B-49B4-B85B-C5A04794CA74}" destId="{B7515E16-71DB-4ECC-AC98-C2A217B00E84}" srcOrd="0" destOrd="0" parTransId="{35D0F88B-3573-45F2-B1AE-3AC81600B5D8}" sibTransId="{9D8BF8A2-062B-4C5F-8B27-86B072D81D5E}"/>
    <dgm:cxn modelId="{5E5D4CFD-5FAC-4554-8456-B50E24A51656}" srcId="{9D388D0C-BA5C-45D5-B58D-9EE53FAE30FB}" destId="{3731D4C1-E849-43F9-B714-2EB5BAD74262}" srcOrd="2" destOrd="0" parTransId="{C23B45CB-CD01-406D-9616-D1DBC138DF48}" sibTransId="{0A72F57A-29D2-4EB3-AF17-4883FF37CCB7}"/>
    <dgm:cxn modelId="{93512FFE-BE9F-4DDC-98A9-335162679F2A}" srcId="{9D388D0C-BA5C-45D5-B58D-9EE53FAE30FB}" destId="{792EB9E2-9C0B-4E92-90AC-8F09323F027A}" srcOrd="1" destOrd="0" parTransId="{0D28BE49-0E03-4DC9-9F4C-F6402512B1E3}" sibTransId="{635552EE-63F4-4EB9-A2C1-248238BB6B81}"/>
    <dgm:cxn modelId="{C0B19476-D71E-4D9E-8C38-436EF6464C52}" type="presParOf" srcId="{2D8D7C71-ED96-4D85-BA4C-D4F0C305EADC}" destId="{80DD5D8E-B2C5-491D-AC0E-4C737728301C}" srcOrd="0" destOrd="0" presId="urn:microsoft.com/office/officeart/2005/8/layout/vList2"/>
    <dgm:cxn modelId="{D4B5F04F-130F-4349-8900-A56E33E01505}" type="presParOf" srcId="{2D8D7C71-ED96-4D85-BA4C-D4F0C305EADC}" destId="{BF830B3D-C000-47AA-8433-7F2D7812A8BE}" srcOrd="1" destOrd="0" presId="urn:microsoft.com/office/officeart/2005/8/layout/vList2"/>
    <dgm:cxn modelId="{E0796E8D-97E1-49E0-A101-A1947E42E891}" type="presParOf" srcId="{2D8D7C71-ED96-4D85-BA4C-D4F0C305EADC}" destId="{938EE9C8-60BC-4A04-856C-1D699EB34BDD}" srcOrd="2" destOrd="0" presId="urn:microsoft.com/office/officeart/2005/8/layout/vList2"/>
    <dgm:cxn modelId="{B63535B4-2FB4-482F-96F7-12DF45ED00EB}" type="presParOf" srcId="{2D8D7C71-ED96-4D85-BA4C-D4F0C305EADC}" destId="{5750482E-26CD-4BE0-BFE4-48EB395F096C}" srcOrd="3" destOrd="0" presId="urn:microsoft.com/office/officeart/2005/8/layout/vList2"/>
    <dgm:cxn modelId="{618C6C47-8D02-4584-8F99-9525BB0FECDA}" type="presParOf" srcId="{2D8D7C71-ED96-4D85-BA4C-D4F0C305EADC}" destId="{4EC202D1-BAF8-4274-ACCA-31CAD8BC7D40}" srcOrd="4" destOrd="0" presId="urn:microsoft.com/office/officeart/2005/8/layout/vList2"/>
    <dgm:cxn modelId="{78484244-729B-44B2-98A3-EC5CA023BD8F}" type="presParOf" srcId="{2D8D7C71-ED96-4D85-BA4C-D4F0C305EADC}" destId="{571C09DC-6703-4DCC-9E92-FB4DC9F39A2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546ABF-35F4-4B1F-A7B4-89C46B521BE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6CFC2850-4D96-423A-AF7E-3C3C801653DE}">
      <dgm:prSet/>
      <dgm:spPr/>
      <dgm:t>
        <a:bodyPr/>
        <a:lstStyle/>
        <a:p>
          <a:r>
            <a:rPr lang="en-SG" b="1"/>
            <a:t>C1:</a:t>
          </a:r>
          <a:r>
            <a:rPr lang="en-SG"/>
            <a:t> Reviews focus broadly on economy class, seats, service, delays, and overall travel experience. The enriched words suggest varied passenger experiences, including booking and premium/ economy services.</a:t>
          </a:r>
          <a:endParaRPr lang="en-US"/>
        </a:p>
      </dgm:t>
    </dgm:pt>
    <dgm:pt modelId="{4A1B38C7-78A7-4235-B7CF-D7D95251ABB1}" type="parTrans" cxnId="{087B8C3D-BDD5-4D2A-8124-8BB31787799C}">
      <dgm:prSet/>
      <dgm:spPr/>
      <dgm:t>
        <a:bodyPr/>
        <a:lstStyle/>
        <a:p>
          <a:endParaRPr lang="en-US"/>
        </a:p>
      </dgm:t>
    </dgm:pt>
    <dgm:pt modelId="{F95C053C-ABBE-40C0-ABDB-9D465AE84E9B}" type="sibTrans" cxnId="{087B8C3D-BDD5-4D2A-8124-8BB31787799C}">
      <dgm:prSet/>
      <dgm:spPr/>
      <dgm:t>
        <a:bodyPr/>
        <a:lstStyle/>
        <a:p>
          <a:endParaRPr lang="en-US"/>
        </a:p>
      </dgm:t>
    </dgm:pt>
    <dgm:pt modelId="{472CD37A-1540-4448-87D3-E946804AC343}">
      <dgm:prSet/>
      <dgm:spPr/>
      <dgm:t>
        <a:bodyPr/>
        <a:lstStyle/>
        <a:p>
          <a:r>
            <a:rPr lang="en-SG" b="1"/>
            <a:t>C2:</a:t>
          </a:r>
          <a:r>
            <a:rPr lang="en-SG"/>
            <a:t> Reviews are strongly associated with positive experiences, with enriched words such as excellent, comfortable, good, great, and wonderful, particularly relating to comfort and service.</a:t>
          </a:r>
          <a:endParaRPr lang="en-US"/>
        </a:p>
      </dgm:t>
    </dgm:pt>
    <dgm:pt modelId="{671D9D65-0AFD-4C45-854F-D11C53F52F1D}" type="parTrans" cxnId="{6EA0EAF1-8F59-47E5-8AAD-F2A550AF7CB0}">
      <dgm:prSet/>
      <dgm:spPr/>
      <dgm:t>
        <a:bodyPr/>
        <a:lstStyle/>
        <a:p>
          <a:endParaRPr lang="en-US"/>
        </a:p>
      </dgm:t>
    </dgm:pt>
    <dgm:pt modelId="{67355540-E03E-4F44-918B-96D047AC3E80}" type="sibTrans" cxnId="{6EA0EAF1-8F59-47E5-8AAD-F2A550AF7CB0}">
      <dgm:prSet/>
      <dgm:spPr/>
      <dgm:t>
        <a:bodyPr/>
        <a:lstStyle/>
        <a:p>
          <a:endParaRPr lang="en-US"/>
        </a:p>
      </dgm:t>
    </dgm:pt>
    <dgm:pt modelId="{D8973F0A-9257-4A48-B98E-A24AD64F7E89}">
      <dgm:prSet/>
      <dgm:spPr/>
      <dgm:t>
        <a:bodyPr/>
        <a:lstStyle/>
        <a:p>
          <a:r>
            <a:rPr lang="en-SG" b="1"/>
            <a:t>C3:</a:t>
          </a:r>
          <a:r>
            <a:rPr lang="en-SG"/>
            <a:t> Reviews mainly highlight crew, food/menu, flights, and landing, with crew and friendly being significantly enriched. </a:t>
          </a:r>
          <a:endParaRPr lang="en-US"/>
        </a:p>
      </dgm:t>
    </dgm:pt>
    <dgm:pt modelId="{57316B82-BE02-455D-BA8A-6DFDB151FE6A}" type="parTrans" cxnId="{3643691A-D0F7-4E23-A47F-01130E95C54B}">
      <dgm:prSet/>
      <dgm:spPr/>
      <dgm:t>
        <a:bodyPr/>
        <a:lstStyle/>
        <a:p>
          <a:endParaRPr lang="en-US"/>
        </a:p>
      </dgm:t>
    </dgm:pt>
    <dgm:pt modelId="{5F69BE9D-23B0-4770-BB50-6073CF1B288C}" type="sibTrans" cxnId="{3643691A-D0F7-4E23-A47F-01130E95C54B}">
      <dgm:prSet/>
      <dgm:spPr/>
      <dgm:t>
        <a:bodyPr/>
        <a:lstStyle/>
        <a:p>
          <a:endParaRPr lang="en-US"/>
        </a:p>
      </dgm:t>
    </dgm:pt>
    <dgm:pt modelId="{31A788CE-0BCC-421D-9912-D46ED53DFB6A}">
      <dgm:prSet/>
      <dgm:spPr/>
      <dgm:t>
        <a:bodyPr/>
        <a:lstStyle/>
        <a:p>
          <a:r>
            <a:rPr lang="en-SG"/>
            <a:t>Overall, the clusters reveal three distinct customer experience patterns: general flight and seating experiences (C1), positive comfort and service experiences (C2), and crew and food-related experiences (C3). This shows that customer reviews can be grouped according to different aspects of the Singapore Airlines experience. </a:t>
          </a:r>
          <a:endParaRPr lang="en-US"/>
        </a:p>
      </dgm:t>
    </dgm:pt>
    <dgm:pt modelId="{0457DF01-17CE-4B03-9078-33C7C007A7FD}" type="parTrans" cxnId="{350BB439-D474-4645-B1CB-ED0BDE5100E4}">
      <dgm:prSet/>
      <dgm:spPr/>
      <dgm:t>
        <a:bodyPr/>
        <a:lstStyle/>
        <a:p>
          <a:endParaRPr lang="en-US"/>
        </a:p>
      </dgm:t>
    </dgm:pt>
    <dgm:pt modelId="{E5D2C200-A823-45D0-97B2-78051BB11C4B}" type="sibTrans" cxnId="{350BB439-D474-4645-B1CB-ED0BDE5100E4}">
      <dgm:prSet/>
      <dgm:spPr/>
      <dgm:t>
        <a:bodyPr/>
        <a:lstStyle/>
        <a:p>
          <a:endParaRPr lang="en-US"/>
        </a:p>
      </dgm:t>
    </dgm:pt>
    <dgm:pt modelId="{C39ACCAE-5DAD-491A-A46D-5BDD586C84B6}" type="pres">
      <dgm:prSet presAssocID="{15546ABF-35F4-4B1F-A7B4-89C46B521BED}" presName="linear" presStyleCnt="0">
        <dgm:presLayoutVars>
          <dgm:animLvl val="lvl"/>
          <dgm:resizeHandles val="exact"/>
        </dgm:presLayoutVars>
      </dgm:prSet>
      <dgm:spPr/>
    </dgm:pt>
    <dgm:pt modelId="{FE6DBF24-B08C-4CDD-A60B-AC5B154E4738}" type="pres">
      <dgm:prSet presAssocID="{6CFC2850-4D96-423A-AF7E-3C3C801653DE}" presName="parentText" presStyleLbl="node1" presStyleIdx="0" presStyleCnt="4">
        <dgm:presLayoutVars>
          <dgm:chMax val="0"/>
          <dgm:bulletEnabled val="1"/>
        </dgm:presLayoutVars>
      </dgm:prSet>
      <dgm:spPr/>
    </dgm:pt>
    <dgm:pt modelId="{5F851E99-7FEE-461C-BEAE-AC9D14DAF4A9}" type="pres">
      <dgm:prSet presAssocID="{F95C053C-ABBE-40C0-ABDB-9D465AE84E9B}" presName="spacer" presStyleCnt="0"/>
      <dgm:spPr/>
    </dgm:pt>
    <dgm:pt modelId="{A3935E60-279D-415B-9A1F-0FA849C40F9B}" type="pres">
      <dgm:prSet presAssocID="{472CD37A-1540-4448-87D3-E946804AC343}" presName="parentText" presStyleLbl="node1" presStyleIdx="1" presStyleCnt="4">
        <dgm:presLayoutVars>
          <dgm:chMax val="0"/>
          <dgm:bulletEnabled val="1"/>
        </dgm:presLayoutVars>
      </dgm:prSet>
      <dgm:spPr/>
    </dgm:pt>
    <dgm:pt modelId="{B4C79C3B-41C0-4127-B4EC-B3E278E588D3}" type="pres">
      <dgm:prSet presAssocID="{67355540-E03E-4F44-918B-96D047AC3E80}" presName="spacer" presStyleCnt="0"/>
      <dgm:spPr/>
    </dgm:pt>
    <dgm:pt modelId="{D7C5678C-CDC2-4F83-BBE8-E9C08B3FD153}" type="pres">
      <dgm:prSet presAssocID="{D8973F0A-9257-4A48-B98E-A24AD64F7E89}" presName="parentText" presStyleLbl="node1" presStyleIdx="2" presStyleCnt="4">
        <dgm:presLayoutVars>
          <dgm:chMax val="0"/>
          <dgm:bulletEnabled val="1"/>
        </dgm:presLayoutVars>
      </dgm:prSet>
      <dgm:spPr/>
    </dgm:pt>
    <dgm:pt modelId="{10938E49-68F9-4CEA-8DAB-099A16947129}" type="pres">
      <dgm:prSet presAssocID="{5F69BE9D-23B0-4770-BB50-6073CF1B288C}" presName="spacer" presStyleCnt="0"/>
      <dgm:spPr/>
    </dgm:pt>
    <dgm:pt modelId="{6CAF39A5-9046-4EFC-8689-278519296191}" type="pres">
      <dgm:prSet presAssocID="{31A788CE-0BCC-421D-9912-D46ED53DFB6A}" presName="parentText" presStyleLbl="node1" presStyleIdx="3" presStyleCnt="4">
        <dgm:presLayoutVars>
          <dgm:chMax val="0"/>
          <dgm:bulletEnabled val="1"/>
        </dgm:presLayoutVars>
      </dgm:prSet>
      <dgm:spPr/>
    </dgm:pt>
  </dgm:ptLst>
  <dgm:cxnLst>
    <dgm:cxn modelId="{1E5CA118-C133-414D-9B3F-B4039E15AD7F}" type="presOf" srcId="{31A788CE-0BCC-421D-9912-D46ED53DFB6A}" destId="{6CAF39A5-9046-4EFC-8689-278519296191}" srcOrd="0" destOrd="0" presId="urn:microsoft.com/office/officeart/2005/8/layout/vList2"/>
    <dgm:cxn modelId="{3643691A-D0F7-4E23-A47F-01130E95C54B}" srcId="{15546ABF-35F4-4B1F-A7B4-89C46B521BED}" destId="{D8973F0A-9257-4A48-B98E-A24AD64F7E89}" srcOrd="2" destOrd="0" parTransId="{57316B82-BE02-455D-BA8A-6DFDB151FE6A}" sibTransId="{5F69BE9D-23B0-4770-BB50-6073CF1B288C}"/>
    <dgm:cxn modelId="{B813E91E-7B6F-4299-AACC-534E531A0091}" type="presOf" srcId="{15546ABF-35F4-4B1F-A7B4-89C46B521BED}" destId="{C39ACCAE-5DAD-491A-A46D-5BDD586C84B6}" srcOrd="0" destOrd="0" presId="urn:microsoft.com/office/officeart/2005/8/layout/vList2"/>
    <dgm:cxn modelId="{EE3ECE32-CA87-479D-8B5F-78B52BDC6747}" type="presOf" srcId="{472CD37A-1540-4448-87D3-E946804AC343}" destId="{A3935E60-279D-415B-9A1F-0FA849C40F9B}" srcOrd="0" destOrd="0" presId="urn:microsoft.com/office/officeart/2005/8/layout/vList2"/>
    <dgm:cxn modelId="{350BB439-D474-4645-B1CB-ED0BDE5100E4}" srcId="{15546ABF-35F4-4B1F-A7B4-89C46B521BED}" destId="{31A788CE-0BCC-421D-9912-D46ED53DFB6A}" srcOrd="3" destOrd="0" parTransId="{0457DF01-17CE-4B03-9078-33C7C007A7FD}" sibTransId="{E5D2C200-A823-45D0-97B2-78051BB11C4B}"/>
    <dgm:cxn modelId="{087B8C3D-BDD5-4D2A-8124-8BB31787799C}" srcId="{15546ABF-35F4-4B1F-A7B4-89C46B521BED}" destId="{6CFC2850-4D96-423A-AF7E-3C3C801653DE}" srcOrd="0" destOrd="0" parTransId="{4A1B38C7-78A7-4235-B7CF-D7D95251ABB1}" sibTransId="{F95C053C-ABBE-40C0-ABDB-9D465AE84E9B}"/>
    <dgm:cxn modelId="{B340E94A-33D8-4651-BE36-5A7328EC48F3}" type="presOf" srcId="{D8973F0A-9257-4A48-B98E-A24AD64F7E89}" destId="{D7C5678C-CDC2-4F83-BBE8-E9C08B3FD153}" srcOrd="0" destOrd="0" presId="urn:microsoft.com/office/officeart/2005/8/layout/vList2"/>
    <dgm:cxn modelId="{1805316D-E04F-44D6-9164-94D7C7E7E4AC}" type="presOf" srcId="{6CFC2850-4D96-423A-AF7E-3C3C801653DE}" destId="{FE6DBF24-B08C-4CDD-A60B-AC5B154E4738}" srcOrd="0" destOrd="0" presId="urn:microsoft.com/office/officeart/2005/8/layout/vList2"/>
    <dgm:cxn modelId="{6EA0EAF1-8F59-47E5-8AAD-F2A550AF7CB0}" srcId="{15546ABF-35F4-4B1F-A7B4-89C46B521BED}" destId="{472CD37A-1540-4448-87D3-E946804AC343}" srcOrd="1" destOrd="0" parTransId="{671D9D65-0AFD-4C45-854F-D11C53F52F1D}" sibTransId="{67355540-E03E-4F44-918B-96D047AC3E80}"/>
    <dgm:cxn modelId="{1717BAB7-DF83-44B0-98DE-B8E8365C29FF}" type="presParOf" srcId="{C39ACCAE-5DAD-491A-A46D-5BDD586C84B6}" destId="{FE6DBF24-B08C-4CDD-A60B-AC5B154E4738}" srcOrd="0" destOrd="0" presId="urn:microsoft.com/office/officeart/2005/8/layout/vList2"/>
    <dgm:cxn modelId="{AEDF5520-4F20-4611-A7C9-6A5706F93513}" type="presParOf" srcId="{C39ACCAE-5DAD-491A-A46D-5BDD586C84B6}" destId="{5F851E99-7FEE-461C-BEAE-AC9D14DAF4A9}" srcOrd="1" destOrd="0" presId="urn:microsoft.com/office/officeart/2005/8/layout/vList2"/>
    <dgm:cxn modelId="{A83985E8-59FE-4633-A723-B98F1FB10E2F}" type="presParOf" srcId="{C39ACCAE-5DAD-491A-A46D-5BDD586C84B6}" destId="{A3935E60-279D-415B-9A1F-0FA849C40F9B}" srcOrd="2" destOrd="0" presId="urn:microsoft.com/office/officeart/2005/8/layout/vList2"/>
    <dgm:cxn modelId="{A7DABB1A-1C76-4248-AB3F-D8470486D394}" type="presParOf" srcId="{C39ACCAE-5DAD-491A-A46D-5BDD586C84B6}" destId="{B4C79C3B-41C0-4127-B4EC-B3E278E588D3}" srcOrd="3" destOrd="0" presId="urn:microsoft.com/office/officeart/2005/8/layout/vList2"/>
    <dgm:cxn modelId="{69CFF777-CDF9-4EB0-8C19-7C2C97B099D0}" type="presParOf" srcId="{C39ACCAE-5DAD-491A-A46D-5BDD586C84B6}" destId="{D7C5678C-CDC2-4F83-BBE8-E9C08B3FD153}" srcOrd="4" destOrd="0" presId="urn:microsoft.com/office/officeart/2005/8/layout/vList2"/>
    <dgm:cxn modelId="{C1ACE44A-87EB-4D72-A6A5-AF830F0DF709}" type="presParOf" srcId="{C39ACCAE-5DAD-491A-A46D-5BDD586C84B6}" destId="{10938E49-68F9-4CEA-8DAB-099A16947129}" srcOrd="5" destOrd="0" presId="urn:microsoft.com/office/officeart/2005/8/layout/vList2"/>
    <dgm:cxn modelId="{9957E99A-11DA-47C5-A264-CF102AEDCB0F}" type="presParOf" srcId="{C39ACCAE-5DAD-491A-A46D-5BDD586C84B6}" destId="{6CAF39A5-9046-4EFC-8689-27851929619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C0550B7-A31D-4D25-984B-A64268E06AA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32D68E4-61C1-4DED-B521-DADC4B13D3E7}">
      <dgm:prSet/>
      <dgm:spPr/>
      <dgm:t>
        <a:bodyPr/>
        <a:lstStyle/>
        <a:p>
          <a:r>
            <a:rPr lang="en-SG" b="1" dirty="0"/>
            <a:t>Topic 1:</a:t>
          </a:r>
          <a:r>
            <a:rPr lang="en-SG" dirty="0"/>
            <a:t> Focuses on economy and premium travel experiences, particularly seats, flights, food , legroom, and inflight comfort. </a:t>
          </a:r>
          <a:endParaRPr lang="en-US" dirty="0"/>
        </a:p>
      </dgm:t>
    </dgm:pt>
    <dgm:pt modelId="{80970DE5-807C-4108-8AFF-FFBBBE7EF799}" type="parTrans" cxnId="{94656808-7EEE-478F-AC70-E3336DEF6098}">
      <dgm:prSet/>
      <dgm:spPr/>
      <dgm:t>
        <a:bodyPr/>
        <a:lstStyle/>
        <a:p>
          <a:endParaRPr lang="en-US"/>
        </a:p>
      </dgm:t>
    </dgm:pt>
    <dgm:pt modelId="{842FC663-9A18-4B66-9882-AF82F12E1BD8}" type="sibTrans" cxnId="{94656808-7EEE-478F-AC70-E3336DEF6098}">
      <dgm:prSet/>
      <dgm:spPr/>
      <dgm:t>
        <a:bodyPr/>
        <a:lstStyle/>
        <a:p>
          <a:endParaRPr lang="en-US"/>
        </a:p>
      </dgm:t>
    </dgm:pt>
    <dgm:pt modelId="{CC1B7CC5-CEC7-40FF-9B3F-23C8172CC796}">
      <dgm:prSet/>
      <dgm:spPr/>
      <dgm:t>
        <a:bodyPr/>
        <a:lstStyle/>
        <a:p>
          <a:r>
            <a:rPr lang="en-SG" b="1" dirty="0"/>
            <a:t>Topic 2: </a:t>
          </a:r>
          <a:r>
            <a:rPr lang="en-SG" dirty="0"/>
            <a:t>Highlights service quality and cabin experience, with enriched words such as crew, great, friendly, and comfortable, indicating generally positive feedback.</a:t>
          </a:r>
          <a:endParaRPr lang="en-US" dirty="0"/>
        </a:p>
      </dgm:t>
    </dgm:pt>
    <dgm:pt modelId="{A8E3E397-B51A-4090-B42C-27E3C28D6964}" type="parTrans" cxnId="{36012FFB-648A-4502-916F-088DA225E65E}">
      <dgm:prSet/>
      <dgm:spPr/>
      <dgm:t>
        <a:bodyPr/>
        <a:lstStyle/>
        <a:p>
          <a:endParaRPr lang="en-US"/>
        </a:p>
      </dgm:t>
    </dgm:pt>
    <dgm:pt modelId="{B217F958-6F20-49B6-8359-79FF76807B74}" type="sibTrans" cxnId="{36012FFB-648A-4502-916F-088DA225E65E}">
      <dgm:prSet/>
      <dgm:spPr/>
      <dgm:t>
        <a:bodyPr/>
        <a:lstStyle/>
        <a:p>
          <a:endParaRPr lang="en-US"/>
        </a:p>
      </dgm:t>
    </dgm:pt>
    <dgm:pt modelId="{857EBF97-0AC8-461E-86B1-CA00BC74DAAB}">
      <dgm:prSet/>
      <dgm:spPr/>
      <dgm:t>
        <a:bodyPr/>
        <a:lstStyle/>
        <a:p>
          <a:r>
            <a:rPr lang="en-SG" b="1" dirty="0"/>
            <a:t>Topic 3:</a:t>
          </a:r>
          <a:r>
            <a:rPr lang="en-SG" dirty="0"/>
            <a:t> Focuses on customer service and flight operations, including customer interactions, delays, boarding, and overall airline service. </a:t>
          </a:r>
          <a:endParaRPr lang="en-US" dirty="0"/>
        </a:p>
      </dgm:t>
    </dgm:pt>
    <dgm:pt modelId="{8E56622D-053E-42BA-BC9D-5682B4A98169}" type="parTrans" cxnId="{93DA05F3-0C54-47D5-AC28-8BAF1F41D17E}">
      <dgm:prSet/>
      <dgm:spPr/>
      <dgm:t>
        <a:bodyPr/>
        <a:lstStyle/>
        <a:p>
          <a:endParaRPr lang="en-US"/>
        </a:p>
      </dgm:t>
    </dgm:pt>
    <dgm:pt modelId="{D85BC9E3-EF36-45D6-B60D-62E26840DFCD}" type="sibTrans" cxnId="{93DA05F3-0C54-47D5-AC28-8BAF1F41D17E}">
      <dgm:prSet/>
      <dgm:spPr/>
      <dgm:t>
        <a:bodyPr/>
        <a:lstStyle/>
        <a:p>
          <a:endParaRPr lang="en-US"/>
        </a:p>
      </dgm:t>
    </dgm:pt>
    <dgm:pt modelId="{678B9163-18D4-4071-8371-FE585A6B951C}">
      <dgm:prSet/>
      <dgm:spPr/>
      <dgm:t>
        <a:bodyPr/>
        <a:lstStyle/>
        <a:p>
          <a:r>
            <a:rPr lang="en-SG"/>
            <a:t>Overall, the topic modelling identifies three main areas of customer feedback: cabin and comfort, service quality, and flight/ customer service experiences. This suggests that these factors are key themes influencing passengers’ overall experience with Singapore Airlines. </a:t>
          </a:r>
          <a:endParaRPr lang="en-US"/>
        </a:p>
      </dgm:t>
    </dgm:pt>
    <dgm:pt modelId="{F487D07A-BAD1-4585-9F4B-9BF8D4C54B10}" type="parTrans" cxnId="{BA50B527-AA3F-4AF8-AFC0-912F86FF9929}">
      <dgm:prSet/>
      <dgm:spPr/>
      <dgm:t>
        <a:bodyPr/>
        <a:lstStyle/>
        <a:p>
          <a:endParaRPr lang="en-US"/>
        </a:p>
      </dgm:t>
    </dgm:pt>
    <dgm:pt modelId="{86CD07E7-9B63-46A6-9C11-B6CDD1CDA5BA}" type="sibTrans" cxnId="{BA50B527-AA3F-4AF8-AFC0-912F86FF9929}">
      <dgm:prSet/>
      <dgm:spPr/>
      <dgm:t>
        <a:bodyPr/>
        <a:lstStyle/>
        <a:p>
          <a:endParaRPr lang="en-US"/>
        </a:p>
      </dgm:t>
    </dgm:pt>
    <dgm:pt modelId="{7EA398D2-C335-42D5-91D0-8C0542CF28AB}" type="pres">
      <dgm:prSet presAssocID="{8C0550B7-A31D-4D25-984B-A64268E06AA5}" presName="linear" presStyleCnt="0">
        <dgm:presLayoutVars>
          <dgm:animLvl val="lvl"/>
          <dgm:resizeHandles val="exact"/>
        </dgm:presLayoutVars>
      </dgm:prSet>
      <dgm:spPr/>
    </dgm:pt>
    <dgm:pt modelId="{FF08C0C7-A9CC-4CCF-AAEF-4E98047BA573}" type="pres">
      <dgm:prSet presAssocID="{C32D68E4-61C1-4DED-B521-DADC4B13D3E7}" presName="parentText" presStyleLbl="node1" presStyleIdx="0" presStyleCnt="4">
        <dgm:presLayoutVars>
          <dgm:chMax val="0"/>
          <dgm:bulletEnabled val="1"/>
        </dgm:presLayoutVars>
      </dgm:prSet>
      <dgm:spPr/>
    </dgm:pt>
    <dgm:pt modelId="{BFA6134F-95D6-4D44-92B8-C1FBC658CBE5}" type="pres">
      <dgm:prSet presAssocID="{842FC663-9A18-4B66-9882-AF82F12E1BD8}" presName="spacer" presStyleCnt="0"/>
      <dgm:spPr/>
    </dgm:pt>
    <dgm:pt modelId="{423D18C7-BEC8-4426-A006-D809174E7FDA}" type="pres">
      <dgm:prSet presAssocID="{CC1B7CC5-CEC7-40FF-9B3F-23C8172CC796}" presName="parentText" presStyleLbl="node1" presStyleIdx="1" presStyleCnt="4">
        <dgm:presLayoutVars>
          <dgm:chMax val="0"/>
          <dgm:bulletEnabled val="1"/>
        </dgm:presLayoutVars>
      </dgm:prSet>
      <dgm:spPr/>
    </dgm:pt>
    <dgm:pt modelId="{DE5A8F98-CCED-459B-8A43-1D758955891B}" type="pres">
      <dgm:prSet presAssocID="{B217F958-6F20-49B6-8359-79FF76807B74}" presName="spacer" presStyleCnt="0"/>
      <dgm:spPr/>
    </dgm:pt>
    <dgm:pt modelId="{4DD5B510-D151-4559-8176-5C105C1EDF85}" type="pres">
      <dgm:prSet presAssocID="{857EBF97-0AC8-461E-86B1-CA00BC74DAAB}" presName="parentText" presStyleLbl="node1" presStyleIdx="2" presStyleCnt="4">
        <dgm:presLayoutVars>
          <dgm:chMax val="0"/>
          <dgm:bulletEnabled val="1"/>
        </dgm:presLayoutVars>
      </dgm:prSet>
      <dgm:spPr/>
    </dgm:pt>
    <dgm:pt modelId="{FD7B001A-F33D-4A02-B16A-144E10FCA871}" type="pres">
      <dgm:prSet presAssocID="{D85BC9E3-EF36-45D6-B60D-62E26840DFCD}" presName="spacer" presStyleCnt="0"/>
      <dgm:spPr/>
    </dgm:pt>
    <dgm:pt modelId="{F475E377-1236-4C2B-97FF-1893F0D6ED96}" type="pres">
      <dgm:prSet presAssocID="{678B9163-18D4-4071-8371-FE585A6B951C}" presName="parentText" presStyleLbl="node1" presStyleIdx="3" presStyleCnt="4">
        <dgm:presLayoutVars>
          <dgm:chMax val="0"/>
          <dgm:bulletEnabled val="1"/>
        </dgm:presLayoutVars>
      </dgm:prSet>
      <dgm:spPr/>
    </dgm:pt>
  </dgm:ptLst>
  <dgm:cxnLst>
    <dgm:cxn modelId="{94656808-7EEE-478F-AC70-E3336DEF6098}" srcId="{8C0550B7-A31D-4D25-984B-A64268E06AA5}" destId="{C32D68E4-61C1-4DED-B521-DADC4B13D3E7}" srcOrd="0" destOrd="0" parTransId="{80970DE5-807C-4108-8AFF-FFBBBE7EF799}" sibTransId="{842FC663-9A18-4B66-9882-AF82F12E1BD8}"/>
    <dgm:cxn modelId="{7471BE1D-BAD4-4328-9EFC-F92C68789564}" type="presOf" srcId="{CC1B7CC5-CEC7-40FF-9B3F-23C8172CC796}" destId="{423D18C7-BEC8-4426-A006-D809174E7FDA}" srcOrd="0" destOrd="0" presId="urn:microsoft.com/office/officeart/2005/8/layout/vList2"/>
    <dgm:cxn modelId="{BA50B527-AA3F-4AF8-AFC0-912F86FF9929}" srcId="{8C0550B7-A31D-4D25-984B-A64268E06AA5}" destId="{678B9163-18D4-4071-8371-FE585A6B951C}" srcOrd="3" destOrd="0" parTransId="{F487D07A-BAD1-4585-9F4B-9BF8D4C54B10}" sibTransId="{86CD07E7-9B63-46A6-9C11-B6CDD1CDA5BA}"/>
    <dgm:cxn modelId="{01308C82-9B16-4079-BEE2-84E11A9E6D6F}" type="presOf" srcId="{8C0550B7-A31D-4D25-984B-A64268E06AA5}" destId="{7EA398D2-C335-42D5-91D0-8C0542CF28AB}" srcOrd="0" destOrd="0" presId="urn:microsoft.com/office/officeart/2005/8/layout/vList2"/>
    <dgm:cxn modelId="{53475CA1-94C8-4626-AD66-8CE4E1FB2C45}" type="presOf" srcId="{C32D68E4-61C1-4DED-B521-DADC4B13D3E7}" destId="{FF08C0C7-A9CC-4CCF-AAEF-4E98047BA573}" srcOrd="0" destOrd="0" presId="urn:microsoft.com/office/officeart/2005/8/layout/vList2"/>
    <dgm:cxn modelId="{540529A9-143F-49D2-B607-E4E1430CE122}" type="presOf" srcId="{678B9163-18D4-4071-8371-FE585A6B951C}" destId="{F475E377-1236-4C2B-97FF-1893F0D6ED96}" srcOrd="0" destOrd="0" presId="urn:microsoft.com/office/officeart/2005/8/layout/vList2"/>
    <dgm:cxn modelId="{F2AF9CEA-B02D-4EBE-B045-150026F1ABE7}" type="presOf" srcId="{857EBF97-0AC8-461E-86B1-CA00BC74DAAB}" destId="{4DD5B510-D151-4559-8176-5C105C1EDF85}" srcOrd="0" destOrd="0" presId="urn:microsoft.com/office/officeart/2005/8/layout/vList2"/>
    <dgm:cxn modelId="{93DA05F3-0C54-47D5-AC28-8BAF1F41D17E}" srcId="{8C0550B7-A31D-4D25-984B-A64268E06AA5}" destId="{857EBF97-0AC8-461E-86B1-CA00BC74DAAB}" srcOrd="2" destOrd="0" parTransId="{8E56622D-053E-42BA-BC9D-5682B4A98169}" sibTransId="{D85BC9E3-EF36-45D6-B60D-62E26840DFCD}"/>
    <dgm:cxn modelId="{36012FFB-648A-4502-916F-088DA225E65E}" srcId="{8C0550B7-A31D-4D25-984B-A64268E06AA5}" destId="{CC1B7CC5-CEC7-40FF-9B3F-23C8172CC796}" srcOrd="1" destOrd="0" parTransId="{A8E3E397-B51A-4090-B42C-27E3C28D6964}" sibTransId="{B217F958-6F20-49B6-8359-79FF76807B74}"/>
    <dgm:cxn modelId="{9C36FAC3-36BE-444B-856F-CC6D24C900FF}" type="presParOf" srcId="{7EA398D2-C335-42D5-91D0-8C0542CF28AB}" destId="{FF08C0C7-A9CC-4CCF-AAEF-4E98047BA573}" srcOrd="0" destOrd="0" presId="urn:microsoft.com/office/officeart/2005/8/layout/vList2"/>
    <dgm:cxn modelId="{B598466A-A00C-4484-8685-ABAE210D08D1}" type="presParOf" srcId="{7EA398D2-C335-42D5-91D0-8C0542CF28AB}" destId="{BFA6134F-95D6-4D44-92B8-C1FBC658CBE5}" srcOrd="1" destOrd="0" presId="urn:microsoft.com/office/officeart/2005/8/layout/vList2"/>
    <dgm:cxn modelId="{CE06A820-3F76-417D-BA53-6E2F554EB512}" type="presParOf" srcId="{7EA398D2-C335-42D5-91D0-8C0542CF28AB}" destId="{423D18C7-BEC8-4426-A006-D809174E7FDA}" srcOrd="2" destOrd="0" presId="urn:microsoft.com/office/officeart/2005/8/layout/vList2"/>
    <dgm:cxn modelId="{A547714F-C545-418D-BF5A-374D19660686}" type="presParOf" srcId="{7EA398D2-C335-42D5-91D0-8C0542CF28AB}" destId="{DE5A8F98-CCED-459B-8A43-1D758955891B}" srcOrd="3" destOrd="0" presId="urn:microsoft.com/office/officeart/2005/8/layout/vList2"/>
    <dgm:cxn modelId="{42DED190-72D5-4746-9B81-6A84B4DE327D}" type="presParOf" srcId="{7EA398D2-C335-42D5-91D0-8C0542CF28AB}" destId="{4DD5B510-D151-4559-8176-5C105C1EDF85}" srcOrd="4" destOrd="0" presId="urn:microsoft.com/office/officeart/2005/8/layout/vList2"/>
    <dgm:cxn modelId="{B2FBD34D-970D-4F0B-A9C4-953D0D299D48}" type="presParOf" srcId="{7EA398D2-C335-42D5-91D0-8C0542CF28AB}" destId="{FD7B001A-F33D-4A02-B16A-144E10FCA871}" srcOrd="5" destOrd="0" presId="urn:microsoft.com/office/officeart/2005/8/layout/vList2"/>
    <dgm:cxn modelId="{A451AD4C-3A37-4181-BC49-DB9BF2BE67FF}" type="presParOf" srcId="{7EA398D2-C335-42D5-91D0-8C0542CF28AB}" destId="{F475E377-1236-4C2B-97FF-1893F0D6ED9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A610DC-CC50-44C4-8971-A78602D9FB6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C2A0532-F872-491D-B6F8-A7748D5239AC}">
      <dgm:prSet/>
      <dgm:spPr/>
      <dgm:t>
        <a:bodyPr/>
        <a:lstStyle/>
        <a:p>
          <a:r>
            <a:rPr lang="en-SG" b="1"/>
            <a:t>VADER sentiment analysis </a:t>
          </a:r>
          <a:r>
            <a:rPr lang="en-SG"/>
            <a:t>identified whether reviews expressed positive, neutral or negative opinions, showing that positive experiences were mainly associated with service, comfort, and food, while negative feedback focused more on customer service, tickets, and flight-related issues. </a:t>
          </a:r>
          <a:endParaRPr lang="en-US"/>
        </a:p>
      </dgm:t>
    </dgm:pt>
    <dgm:pt modelId="{83EC1214-870F-4368-8864-DF0038D942B2}" type="parTrans" cxnId="{FBB95A88-8216-431F-A736-81D9A7BEFC61}">
      <dgm:prSet/>
      <dgm:spPr/>
      <dgm:t>
        <a:bodyPr/>
        <a:lstStyle/>
        <a:p>
          <a:endParaRPr lang="en-US"/>
        </a:p>
      </dgm:t>
    </dgm:pt>
    <dgm:pt modelId="{BE06596F-B747-4B80-9BD2-A8F9A8BB9C0F}" type="sibTrans" cxnId="{FBB95A88-8216-431F-A736-81D9A7BEFC61}">
      <dgm:prSet/>
      <dgm:spPr/>
      <dgm:t>
        <a:bodyPr/>
        <a:lstStyle/>
        <a:p>
          <a:endParaRPr lang="en-US"/>
        </a:p>
      </dgm:t>
    </dgm:pt>
    <dgm:pt modelId="{DD788416-88C1-4BB1-A15D-20B4E273FC81}">
      <dgm:prSet/>
      <dgm:spPr/>
      <dgm:t>
        <a:bodyPr/>
        <a:lstStyle/>
        <a:p>
          <a:r>
            <a:rPr lang="en-SG" b="1"/>
            <a:t>Euclidean hierarchical clustering </a:t>
          </a:r>
          <a:r>
            <a:rPr lang="en-SG"/>
            <a:t>further grouped similar reviews into distinct customer experience patterns, including general flight and seating experiences, positive comfort and service experiences, and crew and food-related experiences.</a:t>
          </a:r>
          <a:endParaRPr lang="en-US"/>
        </a:p>
      </dgm:t>
    </dgm:pt>
    <dgm:pt modelId="{F7F82FCE-9D99-4513-A39B-D25AAB0293EF}" type="parTrans" cxnId="{449C55AA-B011-4660-A6B9-A785BAFB2B79}">
      <dgm:prSet/>
      <dgm:spPr/>
      <dgm:t>
        <a:bodyPr/>
        <a:lstStyle/>
        <a:p>
          <a:endParaRPr lang="en-US"/>
        </a:p>
      </dgm:t>
    </dgm:pt>
    <dgm:pt modelId="{D8C57394-9B83-4D63-B7B9-890582E0439B}" type="sibTrans" cxnId="{449C55AA-B011-4660-A6B9-A785BAFB2B79}">
      <dgm:prSet/>
      <dgm:spPr/>
      <dgm:t>
        <a:bodyPr/>
        <a:lstStyle/>
        <a:p>
          <a:endParaRPr lang="en-US"/>
        </a:p>
      </dgm:t>
    </dgm:pt>
    <dgm:pt modelId="{599F89AC-56C5-4F96-8797-64D91E590B9F}">
      <dgm:prSet/>
      <dgm:spPr/>
      <dgm:t>
        <a:bodyPr/>
        <a:lstStyle/>
        <a:p>
          <a:r>
            <a:rPr lang="en-SG" b="1"/>
            <a:t>LDA topic modelling </a:t>
          </a:r>
          <a:r>
            <a:rPr lang="en-SG"/>
            <a:t>identified the main discussion themes, such as cabin comfort, service quality, and flight or customer service experiences. </a:t>
          </a:r>
          <a:endParaRPr lang="en-US"/>
        </a:p>
      </dgm:t>
    </dgm:pt>
    <dgm:pt modelId="{6C0F33D3-5BC3-4D74-8ABB-ED17426096EC}" type="parTrans" cxnId="{2625FEE5-E189-491B-BD2E-F9C2AA771CA4}">
      <dgm:prSet/>
      <dgm:spPr/>
      <dgm:t>
        <a:bodyPr/>
        <a:lstStyle/>
        <a:p>
          <a:endParaRPr lang="en-US"/>
        </a:p>
      </dgm:t>
    </dgm:pt>
    <dgm:pt modelId="{601EEB7D-8BFA-4A57-AC53-842FF00BEED5}" type="sibTrans" cxnId="{2625FEE5-E189-491B-BD2E-F9C2AA771CA4}">
      <dgm:prSet/>
      <dgm:spPr/>
      <dgm:t>
        <a:bodyPr/>
        <a:lstStyle/>
        <a:p>
          <a:endParaRPr lang="en-US"/>
        </a:p>
      </dgm:t>
    </dgm:pt>
    <dgm:pt modelId="{D2151D42-1531-46C6-A314-769F1DB1C111}">
      <dgm:prSet/>
      <dgm:spPr/>
      <dgm:t>
        <a:bodyPr/>
        <a:lstStyle/>
        <a:p>
          <a:r>
            <a:rPr lang="en-SG" b="1"/>
            <a:t>Text classification </a:t>
          </a:r>
          <a:r>
            <a:rPr lang="en-SG"/>
            <a:t>used these review patterns to predict sentiment categories, with Gradient Boosting achieving the best overall performance, although positive reviews were classified more accurately than neutral and negative reviews due to class imbalance. </a:t>
          </a:r>
          <a:endParaRPr lang="en-US"/>
        </a:p>
      </dgm:t>
    </dgm:pt>
    <dgm:pt modelId="{A0888DAD-FD7C-44BC-93D2-430CA2A09035}" type="parTrans" cxnId="{5D777B26-8C94-495A-8BF7-3F1CDE36161B}">
      <dgm:prSet/>
      <dgm:spPr/>
      <dgm:t>
        <a:bodyPr/>
        <a:lstStyle/>
        <a:p>
          <a:endParaRPr lang="en-US"/>
        </a:p>
      </dgm:t>
    </dgm:pt>
    <dgm:pt modelId="{364C0982-5B70-431B-BF74-F8C80F54E36A}" type="sibTrans" cxnId="{5D777B26-8C94-495A-8BF7-3F1CDE36161B}">
      <dgm:prSet/>
      <dgm:spPr/>
      <dgm:t>
        <a:bodyPr/>
        <a:lstStyle/>
        <a:p>
          <a:endParaRPr lang="en-US"/>
        </a:p>
      </dgm:t>
    </dgm:pt>
    <dgm:pt modelId="{39C7BDEB-13C9-453C-A3AB-FAD536D66210}" type="pres">
      <dgm:prSet presAssocID="{94A610DC-CC50-44C4-8971-A78602D9FB6A}" presName="root" presStyleCnt="0">
        <dgm:presLayoutVars>
          <dgm:dir/>
          <dgm:resizeHandles val="exact"/>
        </dgm:presLayoutVars>
      </dgm:prSet>
      <dgm:spPr/>
    </dgm:pt>
    <dgm:pt modelId="{740C2CCD-4C2D-47DA-BE52-94562A28C149}" type="pres">
      <dgm:prSet presAssocID="{BC2A0532-F872-491D-B6F8-A7748D5239AC}" presName="compNode" presStyleCnt="0"/>
      <dgm:spPr/>
    </dgm:pt>
    <dgm:pt modelId="{833C9DB9-6D1F-4E97-86D7-9B7D5EC7FB09}" type="pres">
      <dgm:prSet presAssocID="{BC2A0532-F872-491D-B6F8-A7748D5239AC}" presName="bgRect" presStyleLbl="bgShp" presStyleIdx="0" presStyleCnt="4"/>
      <dgm:spPr/>
    </dgm:pt>
    <dgm:pt modelId="{C0D0853E-8938-42CC-930E-7C9A9F73B379}" type="pres">
      <dgm:prSet presAssocID="{BC2A0532-F872-491D-B6F8-A7748D5239A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utral Face with No Fill"/>
        </a:ext>
      </dgm:extLst>
    </dgm:pt>
    <dgm:pt modelId="{923F2E72-197D-4C5F-9C77-E128BDEE0EC0}" type="pres">
      <dgm:prSet presAssocID="{BC2A0532-F872-491D-B6F8-A7748D5239AC}" presName="spaceRect" presStyleCnt="0"/>
      <dgm:spPr/>
    </dgm:pt>
    <dgm:pt modelId="{BB6C37E1-B188-4B39-B676-2ABF5332C245}" type="pres">
      <dgm:prSet presAssocID="{BC2A0532-F872-491D-B6F8-A7748D5239AC}" presName="parTx" presStyleLbl="revTx" presStyleIdx="0" presStyleCnt="4">
        <dgm:presLayoutVars>
          <dgm:chMax val="0"/>
          <dgm:chPref val="0"/>
        </dgm:presLayoutVars>
      </dgm:prSet>
      <dgm:spPr/>
    </dgm:pt>
    <dgm:pt modelId="{E61DB9DE-8389-4301-B2B3-96995F93108F}" type="pres">
      <dgm:prSet presAssocID="{BE06596F-B747-4B80-9BD2-A8F9A8BB9C0F}" presName="sibTrans" presStyleCnt="0"/>
      <dgm:spPr/>
    </dgm:pt>
    <dgm:pt modelId="{BA46E924-4098-4E2C-B8EF-B5225A2E517F}" type="pres">
      <dgm:prSet presAssocID="{DD788416-88C1-4BB1-A15D-20B4E273FC81}" presName="compNode" presStyleCnt="0"/>
      <dgm:spPr/>
    </dgm:pt>
    <dgm:pt modelId="{FF4C5F7E-502C-4E36-9644-9021060587AB}" type="pres">
      <dgm:prSet presAssocID="{DD788416-88C1-4BB1-A15D-20B4E273FC81}" presName="bgRect" presStyleLbl="bgShp" presStyleIdx="1" presStyleCnt="4"/>
      <dgm:spPr/>
    </dgm:pt>
    <dgm:pt modelId="{44D6B496-AEF1-4931-AB1D-EE79D40657BF}" type="pres">
      <dgm:prSet presAssocID="{DD788416-88C1-4BB1-A15D-20B4E273FC8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iter"/>
        </a:ext>
      </dgm:extLst>
    </dgm:pt>
    <dgm:pt modelId="{FAF64876-ACB5-461A-9991-79FC60051CFC}" type="pres">
      <dgm:prSet presAssocID="{DD788416-88C1-4BB1-A15D-20B4E273FC81}" presName="spaceRect" presStyleCnt="0"/>
      <dgm:spPr/>
    </dgm:pt>
    <dgm:pt modelId="{6AEB9919-55A3-41D8-9E0F-954143366EB7}" type="pres">
      <dgm:prSet presAssocID="{DD788416-88C1-4BB1-A15D-20B4E273FC81}" presName="parTx" presStyleLbl="revTx" presStyleIdx="1" presStyleCnt="4">
        <dgm:presLayoutVars>
          <dgm:chMax val="0"/>
          <dgm:chPref val="0"/>
        </dgm:presLayoutVars>
      </dgm:prSet>
      <dgm:spPr/>
    </dgm:pt>
    <dgm:pt modelId="{780BBC8E-4344-4E65-97AE-40FF28F2A174}" type="pres">
      <dgm:prSet presAssocID="{D8C57394-9B83-4D63-B7B9-890582E0439B}" presName="sibTrans" presStyleCnt="0"/>
      <dgm:spPr/>
    </dgm:pt>
    <dgm:pt modelId="{D00487A2-0264-404B-821E-EB8CF296B0B9}" type="pres">
      <dgm:prSet presAssocID="{599F89AC-56C5-4F96-8797-64D91E590B9F}" presName="compNode" presStyleCnt="0"/>
      <dgm:spPr/>
    </dgm:pt>
    <dgm:pt modelId="{386A8CFD-B311-4176-BC10-D418225636E1}" type="pres">
      <dgm:prSet presAssocID="{599F89AC-56C5-4F96-8797-64D91E590B9F}" presName="bgRect" presStyleLbl="bgShp" presStyleIdx="2" presStyleCnt="4"/>
      <dgm:spPr/>
    </dgm:pt>
    <dgm:pt modelId="{8942440B-761A-44F3-BC95-0D18673B2489}" type="pres">
      <dgm:prSet presAssocID="{599F89AC-56C5-4F96-8797-64D91E590B9F}"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irplane"/>
        </a:ext>
      </dgm:extLst>
    </dgm:pt>
    <dgm:pt modelId="{BE345508-6572-4EE1-A7F8-1DCD0D07FDE8}" type="pres">
      <dgm:prSet presAssocID="{599F89AC-56C5-4F96-8797-64D91E590B9F}" presName="spaceRect" presStyleCnt="0"/>
      <dgm:spPr/>
    </dgm:pt>
    <dgm:pt modelId="{73F44BF1-30A5-4B02-8F50-6AE537B44047}" type="pres">
      <dgm:prSet presAssocID="{599F89AC-56C5-4F96-8797-64D91E590B9F}" presName="parTx" presStyleLbl="revTx" presStyleIdx="2" presStyleCnt="4">
        <dgm:presLayoutVars>
          <dgm:chMax val="0"/>
          <dgm:chPref val="0"/>
        </dgm:presLayoutVars>
      </dgm:prSet>
      <dgm:spPr/>
    </dgm:pt>
    <dgm:pt modelId="{9C4FB998-5E90-4F2F-AEBD-35A2072D0827}" type="pres">
      <dgm:prSet presAssocID="{601EEB7D-8BFA-4A57-AC53-842FF00BEED5}" presName="sibTrans" presStyleCnt="0"/>
      <dgm:spPr/>
    </dgm:pt>
    <dgm:pt modelId="{FE67CFA9-B9A7-4843-94CF-5F5DC35BC5A0}" type="pres">
      <dgm:prSet presAssocID="{D2151D42-1531-46C6-A314-769F1DB1C111}" presName="compNode" presStyleCnt="0"/>
      <dgm:spPr/>
    </dgm:pt>
    <dgm:pt modelId="{165BBDB2-3749-49A6-B8AD-35F07B7F5D39}" type="pres">
      <dgm:prSet presAssocID="{D2151D42-1531-46C6-A314-769F1DB1C111}" presName="bgRect" presStyleLbl="bgShp" presStyleIdx="3" presStyleCnt="4"/>
      <dgm:spPr/>
    </dgm:pt>
    <dgm:pt modelId="{00E57365-B8B6-4E2A-AC1F-01A8C31B9375}" type="pres">
      <dgm:prSet presAssocID="{D2151D42-1531-46C6-A314-769F1DB1C111}"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9470BC65-A177-4C0D-8254-6041A6C23782}" type="pres">
      <dgm:prSet presAssocID="{D2151D42-1531-46C6-A314-769F1DB1C111}" presName="spaceRect" presStyleCnt="0"/>
      <dgm:spPr/>
    </dgm:pt>
    <dgm:pt modelId="{BBE8CE0E-E993-4F8D-B42F-FFE1F29D52AA}" type="pres">
      <dgm:prSet presAssocID="{D2151D42-1531-46C6-A314-769F1DB1C111}" presName="parTx" presStyleLbl="revTx" presStyleIdx="3" presStyleCnt="4">
        <dgm:presLayoutVars>
          <dgm:chMax val="0"/>
          <dgm:chPref val="0"/>
        </dgm:presLayoutVars>
      </dgm:prSet>
      <dgm:spPr/>
    </dgm:pt>
  </dgm:ptLst>
  <dgm:cxnLst>
    <dgm:cxn modelId="{5D777B26-8C94-495A-8BF7-3F1CDE36161B}" srcId="{94A610DC-CC50-44C4-8971-A78602D9FB6A}" destId="{D2151D42-1531-46C6-A314-769F1DB1C111}" srcOrd="3" destOrd="0" parTransId="{A0888DAD-FD7C-44BC-93D2-430CA2A09035}" sibTransId="{364C0982-5B70-431B-BF74-F8C80F54E36A}"/>
    <dgm:cxn modelId="{7888B766-61EA-4704-AE6A-C8F0EEFBACBC}" type="presOf" srcId="{599F89AC-56C5-4F96-8797-64D91E590B9F}" destId="{73F44BF1-30A5-4B02-8F50-6AE537B44047}" srcOrd="0" destOrd="0" presId="urn:microsoft.com/office/officeart/2018/2/layout/IconVerticalSolidList"/>
    <dgm:cxn modelId="{BFBA2585-1070-4229-8E1F-95F28A581921}" type="presOf" srcId="{DD788416-88C1-4BB1-A15D-20B4E273FC81}" destId="{6AEB9919-55A3-41D8-9E0F-954143366EB7}" srcOrd="0" destOrd="0" presId="urn:microsoft.com/office/officeart/2018/2/layout/IconVerticalSolidList"/>
    <dgm:cxn modelId="{FBB95A88-8216-431F-A736-81D9A7BEFC61}" srcId="{94A610DC-CC50-44C4-8971-A78602D9FB6A}" destId="{BC2A0532-F872-491D-B6F8-A7748D5239AC}" srcOrd="0" destOrd="0" parTransId="{83EC1214-870F-4368-8864-DF0038D942B2}" sibTransId="{BE06596F-B747-4B80-9BD2-A8F9A8BB9C0F}"/>
    <dgm:cxn modelId="{449C55AA-B011-4660-A6B9-A785BAFB2B79}" srcId="{94A610DC-CC50-44C4-8971-A78602D9FB6A}" destId="{DD788416-88C1-4BB1-A15D-20B4E273FC81}" srcOrd="1" destOrd="0" parTransId="{F7F82FCE-9D99-4513-A39B-D25AAB0293EF}" sibTransId="{D8C57394-9B83-4D63-B7B9-890582E0439B}"/>
    <dgm:cxn modelId="{018082B9-8DB0-4F4F-95E5-96D00F9921FF}" type="presOf" srcId="{D2151D42-1531-46C6-A314-769F1DB1C111}" destId="{BBE8CE0E-E993-4F8D-B42F-FFE1F29D52AA}" srcOrd="0" destOrd="0" presId="urn:microsoft.com/office/officeart/2018/2/layout/IconVerticalSolidList"/>
    <dgm:cxn modelId="{2625FEE5-E189-491B-BD2E-F9C2AA771CA4}" srcId="{94A610DC-CC50-44C4-8971-A78602D9FB6A}" destId="{599F89AC-56C5-4F96-8797-64D91E590B9F}" srcOrd="2" destOrd="0" parTransId="{6C0F33D3-5BC3-4D74-8ABB-ED17426096EC}" sibTransId="{601EEB7D-8BFA-4A57-AC53-842FF00BEED5}"/>
    <dgm:cxn modelId="{21D50DF1-2237-4A46-B697-1C3A5BC983F5}" type="presOf" srcId="{94A610DC-CC50-44C4-8971-A78602D9FB6A}" destId="{39C7BDEB-13C9-453C-A3AB-FAD536D66210}" srcOrd="0" destOrd="0" presId="urn:microsoft.com/office/officeart/2018/2/layout/IconVerticalSolidList"/>
    <dgm:cxn modelId="{1159C4F9-BD65-449A-A9D1-099A5B40ED38}" type="presOf" srcId="{BC2A0532-F872-491D-B6F8-A7748D5239AC}" destId="{BB6C37E1-B188-4B39-B676-2ABF5332C245}" srcOrd="0" destOrd="0" presId="urn:microsoft.com/office/officeart/2018/2/layout/IconVerticalSolidList"/>
    <dgm:cxn modelId="{F8629251-8820-42E7-889E-F1AADBC4D547}" type="presParOf" srcId="{39C7BDEB-13C9-453C-A3AB-FAD536D66210}" destId="{740C2CCD-4C2D-47DA-BE52-94562A28C149}" srcOrd="0" destOrd="0" presId="urn:microsoft.com/office/officeart/2018/2/layout/IconVerticalSolidList"/>
    <dgm:cxn modelId="{48024F8D-1B81-4D39-9C1D-9F3F8D92CDE8}" type="presParOf" srcId="{740C2CCD-4C2D-47DA-BE52-94562A28C149}" destId="{833C9DB9-6D1F-4E97-86D7-9B7D5EC7FB09}" srcOrd="0" destOrd="0" presId="urn:microsoft.com/office/officeart/2018/2/layout/IconVerticalSolidList"/>
    <dgm:cxn modelId="{CA316F38-3EBC-4362-A61C-339A6535001B}" type="presParOf" srcId="{740C2CCD-4C2D-47DA-BE52-94562A28C149}" destId="{C0D0853E-8938-42CC-930E-7C9A9F73B379}" srcOrd="1" destOrd="0" presId="urn:microsoft.com/office/officeart/2018/2/layout/IconVerticalSolidList"/>
    <dgm:cxn modelId="{2F53C228-734D-4991-AC5D-D256471F42A4}" type="presParOf" srcId="{740C2CCD-4C2D-47DA-BE52-94562A28C149}" destId="{923F2E72-197D-4C5F-9C77-E128BDEE0EC0}" srcOrd="2" destOrd="0" presId="urn:microsoft.com/office/officeart/2018/2/layout/IconVerticalSolidList"/>
    <dgm:cxn modelId="{58A0BACB-8A45-47F3-8127-22F203EFAD2D}" type="presParOf" srcId="{740C2CCD-4C2D-47DA-BE52-94562A28C149}" destId="{BB6C37E1-B188-4B39-B676-2ABF5332C245}" srcOrd="3" destOrd="0" presId="urn:microsoft.com/office/officeart/2018/2/layout/IconVerticalSolidList"/>
    <dgm:cxn modelId="{EFC92341-DAF0-4AB3-9F11-6E06603F65C2}" type="presParOf" srcId="{39C7BDEB-13C9-453C-A3AB-FAD536D66210}" destId="{E61DB9DE-8389-4301-B2B3-96995F93108F}" srcOrd="1" destOrd="0" presId="urn:microsoft.com/office/officeart/2018/2/layout/IconVerticalSolidList"/>
    <dgm:cxn modelId="{DD0CC84F-E750-4B3A-9B1C-64108310B407}" type="presParOf" srcId="{39C7BDEB-13C9-453C-A3AB-FAD536D66210}" destId="{BA46E924-4098-4E2C-B8EF-B5225A2E517F}" srcOrd="2" destOrd="0" presId="urn:microsoft.com/office/officeart/2018/2/layout/IconVerticalSolidList"/>
    <dgm:cxn modelId="{88D2CAE1-C8CB-4218-8143-20E3F05580A2}" type="presParOf" srcId="{BA46E924-4098-4E2C-B8EF-B5225A2E517F}" destId="{FF4C5F7E-502C-4E36-9644-9021060587AB}" srcOrd="0" destOrd="0" presId="urn:microsoft.com/office/officeart/2018/2/layout/IconVerticalSolidList"/>
    <dgm:cxn modelId="{6E740FC4-2402-4EEA-9241-0315C579E710}" type="presParOf" srcId="{BA46E924-4098-4E2C-B8EF-B5225A2E517F}" destId="{44D6B496-AEF1-4931-AB1D-EE79D40657BF}" srcOrd="1" destOrd="0" presId="urn:microsoft.com/office/officeart/2018/2/layout/IconVerticalSolidList"/>
    <dgm:cxn modelId="{95068103-BB91-443F-A5A5-89B65EFCCDC6}" type="presParOf" srcId="{BA46E924-4098-4E2C-B8EF-B5225A2E517F}" destId="{FAF64876-ACB5-461A-9991-79FC60051CFC}" srcOrd="2" destOrd="0" presId="urn:microsoft.com/office/officeart/2018/2/layout/IconVerticalSolidList"/>
    <dgm:cxn modelId="{B0DE79FC-BE6C-4EB6-8C49-D091EBB188D3}" type="presParOf" srcId="{BA46E924-4098-4E2C-B8EF-B5225A2E517F}" destId="{6AEB9919-55A3-41D8-9E0F-954143366EB7}" srcOrd="3" destOrd="0" presId="urn:microsoft.com/office/officeart/2018/2/layout/IconVerticalSolidList"/>
    <dgm:cxn modelId="{E7DAF5D4-0A71-4E20-9554-6F0FC4354E04}" type="presParOf" srcId="{39C7BDEB-13C9-453C-A3AB-FAD536D66210}" destId="{780BBC8E-4344-4E65-97AE-40FF28F2A174}" srcOrd="3" destOrd="0" presId="urn:microsoft.com/office/officeart/2018/2/layout/IconVerticalSolidList"/>
    <dgm:cxn modelId="{C36C6D59-CBB6-4D05-B194-840BC9E8978E}" type="presParOf" srcId="{39C7BDEB-13C9-453C-A3AB-FAD536D66210}" destId="{D00487A2-0264-404B-821E-EB8CF296B0B9}" srcOrd="4" destOrd="0" presId="urn:microsoft.com/office/officeart/2018/2/layout/IconVerticalSolidList"/>
    <dgm:cxn modelId="{DAFC5D4A-BA51-4F6F-B413-95DBBE1E579C}" type="presParOf" srcId="{D00487A2-0264-404B-821E-EB8CF296B0B9}" destId="{386A8CFD-B311-4176-BC10-D418225636E1}" srcOrd="0" destOrd="0" presId="urn:microsoft.com/office/officeart/2018/2/layout/IconVerticalSolidList"/>
    <dgm:cxn modelId="{587E5B01-E73E-460F-83D9-9343D44CD5B4}" type="presParOf" srcId="{D00487A2-0264-404B-821E-EB8CF296B0B9}" destId="{8942440B-761A-44F3-BC95-0D18673B2489}" srcOrd="1" destOrd="0" presId="urn:microsoft.com/office/officeart/2018/2/layout/IconVerticalSolidList"/>
    <dgm:cxn modelId="{443408B1-0331-46FE-810F-6927147E2A12}" type="presParOf" srcId="{D00487A2-0264-404B-821E-EB8CF296B0B9}" destId="{BE345508-6572-4EE1-A7F8-1DCD0D07FDE8}" srcOrd="2" destOrd="0" presId="urn:microsoft.com/office/officeart/2018/2/layout/IconVerticalSolidList"/>
    <dgm:cxn modelId="{BD0939F0-FA0F-4ABE-8503-F9F8F94ED7F6}" type="presParOf" srcId="{D00487A2-0264-404B-821E-EB8CF296B0B9}" destId="{73F44BF1-30A5-4B02-8F50-6AE537B44047}" srcOrd="3" destOrd="0" presId="urn:microsoft.com/office/officeart/2018/2/layout/IconVerticalSolidList"/>
    <dgm:cxn modelId="{6F24776A-D49F-4244-982F-377E8ED784A5}" type="presParOf" srcId="{39C7BDEB-13C9-453C-A3AB-FAD536D66210}" destId="{9C4FB998-5E90-4F2F-AEBD-35A2072D0827}" srcOrd="5" destOrd="0" presId="urn:microsoft.com/office/officeart/2018/2/layout/IconVerticalSolidList"/>
    <dgm:cxn modelId="{4B190044-BD0E-422D-915A-6777EC97B0E3}" type="presParOf" srcId="{39C7BDEB-13C9-453C-A3AB-FAD536D66210}" destId="{FE67CFA9-B9A7-4843-94CF-5F5DC35BC5A0}" srcOrd="6" destOrd="0" presId="urn:microsoft.com/office/officeart/2018/2/layout/IconVerticalSolidList"/>
    <dgm:cxn modelId="{2CD321D5-A888-4C57-8CE1-587E259C5D08}" type="presParOf" srcId="{FE67CFA9-B9A7-4843-94CF-5F5DC35BC5A0}" destId="{165BBDB2-3749-49A6-B8AD-35F07B7F5D39}" srcOrd="0" destOrd="0" presId="urn:microsoft.com/office/officeart/2018/2/layout/IconVerticalSolidList"/>
    <dgm:cxn modelId="{43CEA0B3-45A5-46D3-9248-BA6212D7848C}" type="presParOf" srcId="{FE67CFA9-B9A7-4843-94CF-5F5DC35BC5A0}" destId="{00E57365-B8B6-4E2A-AC1F-01A8C31B9375}" srcOrd="1" destOrd="0" presId="urn:microsoft.com/office/officeart/2018/2/layout/IconVerticalSolidList"/>
    <dgm:cxn modelId="{1C8BDE02-91C1-4538-A9B4-4F41875AB7E7}" type="presParOf" srcId="{FE67CFA9-B9A7-4843-94CF-5F5DC35BC5A0}" destId="{9470BC65-A177-4C0D-8254-6041A6C23782}" srcOrd="2" destOrd="0" presId="urn:microsoft.com/office/officeart/2018/2/layout/IconVerticalSolidList"/>
    <dgm:cxn modelId="{32CB6C36-6045-436A-BC50-C56143C3FC28}" type="presParOf" srcId="{FE67CFA9-B9A7-4843-94CF-5F5DC35BC5A0}" destId="{BBE8CE0E-E993-4F8D-B42F-FFE1F29D52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580AD3-D701-4864-9FF3-F1FA27C97361}">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4122E0-5559-44DE-8F80-9B6BBC18715B}">
      <dsp:nvSpPr>
        <dsp:cNvPr id="0" name=""/>
        <dsp:cNvSpPr/>
      </dsp:nvSpPr>
      <dsp:spPr>
        <a:xfrm>
          <a:off x="277554" y="21075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93971A-41CA-4BE0-A634-0EB0CC40AAA6}">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90000"/>
            </a:lnSpc>
            <a:spcBef>
              <a:spcPct val="0"/>
            </a:spcBef>
            <a:spcAft>
              <a:spcPct val="35000"/>
            </a:spcAft>
            <a:buNone/>
          </a:pPr>
          <a:r>
            <a:rPr lang="en-SG" sz="1500" b="1" kern="1200"/>
            <a:t>VADER </a:t>
          </a:r>
          <a:r>
            <a:rPr lang="en-SG" sz="1500" kern="1200"/>
            <a:t>(Valence Aware Dictionary and Sentiment Reasoner) is a lexicon- and rule- based sentiment analysis method, particularly effective for social media and informal text. </a:t>
          </a:r>
          <a:endParaRPr lang="en-US" sz="1500" kern="1200"/>
        </a:p>
      </dsp:txBody>
      <dsp:txXfrm>
        <a:off x="1059754" y="4307"/>
        <a:ext cx="5304469" cy="917536"/>
      </dsp:txXfrm>
    </dsp:sp>
    <dsp:sp modelId="{D64270F4-6524-41D1-BCC8-28098AF327CB}">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89DE5-5ED7-4B9A-9889-8193BCF86963}">
      <dsp:nvSpPr>
        <dsp:cNvPr id="0" name=""/>
        <dsp:cNvSpPr/>
      </dsp:nvSpPr>
      <dsp:spPr>
        <a:xfrm>
          <a:off x="277554" y="135767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61CA0E-2265-4D59-9409-703AD83A6006}">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90000"/>
            </a:lnSpc>
            <a:spcBef>
              <a:spcPct val="0"/>
            </a:spcBef>
            <a:spcAft>
              <a:spcPct val="35000"/>
            </a:spcAft>
            <a:buNone/>
          </a:pPr>
          <a:r>
            <a:rPr lang="en-SG" sz="1500" kern="1200"/>
            <a:t>Produces </a:t>
          </a:r>
          <a:r>
            <a:rPr lang="en-SG" sz="1500" b="1" kern="1200"/>
            <a:t>four</a:t>
          </a:r>
          <a:r>
            <a:rPr lang="en-SG" sz="1500" kern="1200"/>
            <a:t> sources: </a:t>
          </a:r>
          <a:r>
            <a:rPr lang="en-SG" sz="1500" b="1" kern="1200"/>
            <a:t>Positive, Negative, Neutral, and Compound</a:t>
          </a:r>
          <a:r>
            <a:rPr lang="en-SG" sz="1500" kern="1200"/>
            <a:t>. </a:t>
          </a:r>
          <a:endParaRPr lang="en-US" sz="1500" kern="1200"/>
        </a:p>
      </dsp:txBody>
      <dsp:txXfrm>
        <a:off x="1059754" y="1151227"/>
        <a:ext cx="5304469" cy="917536"/>
      </dsp:txXfrm>
    </dsp:sp>
    <dsp:sp modelId="{305588C1-32E8-46E6-BD22-D95A03D6E746}">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6E33C9-1CD0-4740-BE77-0A1532195FDF}">
      <dsp:nvSpPr>
        <dsp:cNvPr id="0" name=""/>
        <dsp:cNvSpPr/>
      </dsp:nvSpPr>
      <dsp:spPr>
        <a:xfrm>
          <a:off x="277554" y="250459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56A3F0-4A85-4C4C-AD9C-08043F2624AA}">
      <dsp:nvSpPr>
        <dsp:cNvPr id="0" name=""/>
        <dsp:cNvSpPr/>
      </dsp:nvSpPr>
      <dsp:spPr>
        <a:xfrm>
          <a:off x="1059754" y="2298147"/>
          <a:ext cx="2863900"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90000"/>
            </a:lnSpc>
            <a:spcBef>
              <a:spcPct val="0"/>
            </a:spcBef>
            <a:spcAft>
              <a:spcPct val="35000"/>
            </a:spcAft>
            <a:buNone/>
          </a:pPr>
          <a:r>
            <a:rPr lang="en-SG" sz="1500" kern="1200"/>
            <a:t>Compound score interpretation commonly used:</a:t>
          </a:r>
          <a:endParaRPr lang="en-US" sz="1500" kern="1200"/>
        </a:p>
      </dsp:txBody>
      <dsp:txXfrm>
        <a:off x="1059754" y="2298147"/>
        <a:ext cx="2863900" cy="917536"/>
      </dsp:txXfrm>
    </dsp:sp>
    <dsp:sp modelId="{FC41A2E2-FA44-4577-9CAF-990488D2C7A6}">
      <dsp:nvSpPr>
        <dsp:cNvPr id="0" name=""/>
        <dsp:cNvSpPr/>
      </dsp:nvSpPr>
      <dsp:spPr>
        <a:xfrm>
          <a:off x="3923655" y="2298147"/>
          <a:ext cx="2440568"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488950">
            <a:lnSpc>
              <a:spcPct val="90000"/>
            </a:lnSpc>
            <a:spcBef>
              <a:spcPct val="0"/>
            </a:spcBef>
            <a:spcAft>
              <a:spcPct val="35000"/>
            </a:spcAft>
            <a:buNone/>
          </a:pPr>
          <a:r>
            <a:rPr lang="en-SG" sz="1100" kern="1200"/>
            <a:t>&gt;= 0.05 </a:t>
          </a:r>
          <a:r>
            <a:rPr lang="en-SG" sz="1100" kern="1200">
              <a:sym typeface="Wingdings" panose="05000000000000000000" pitchFamily="2" charset="2"/>
            </a:rPr>
            <a:t></a:t>
          </a:r>
          <a:r>
            <a:rPr lang="en-SG" sz="1100" kern="1200"/>
            <a:t> Positive</a:t>
          </a:r>
          <a:endParaRPr lang="en-US" sz="1100" kern="1200"/>
        </a:p>
        <a:p>
          <a:pPr marL="0" lvl="0" indent="0" algn="l" defTabSz="488950">
            <a:lnSpc>
              <a:spcPct val="90000"/>
            </a:lnSpc>
            <a:spcBef>
              <a:spcPct val="0"/>
            </a:spcBef>
            <a:spcAft>
              <a:spcPct val="35000"/>
            </a:spcAft>
            <a:buNone/>
          </a:pPr>
          <a:r>
            <a:rPr lang="en-SG" sz="1100" kern="1200"/>
            <a:t>&lt;= -0.05 </a:t>
          </a:r>
          <a:r>
            <a:rPr lang="en-SG" sz="1100" kern="1200">
              <a:sym typeface="Wingdings" panose="05000000000000000000" pitchFamily="2" charset="2"/>
            </a:rPr>
            <a:t></a:t>
          </a:r>
          <a:r>
            <a:rPr lang="en-SG" sz="1100" kern="1200"/>
            <a:t> Negative</a:t>
          </a:r>
          <a:endParaRPr lang="en-US" sz="1100" kern="1200"/>
        </a:p>
        <a:p>
          <a:pPr marL="0" lvl="0" indent="0" algn="l" defTabSz="488950">
            <a:lnSpc>
              <a:spcPct val="90000"/>
            </a:lnSpc>
            <a:spcBef>
              <a:spcPct val="0"/>
            </a:spcBef>
            <a:spcAft>
              <a:spcPct val="35000"/>
            </a:spcAft>
            <a:buNone/>
          </a:pPr>
          <a:r>
            <a:rPr lang="en-SG" sz="1100" kern="1200"/>
            <a:t>-0.05 to 0.05 </a:t>
          </a:r>
          <a:r>
            <a:rPr lang="en-SG" sz="1100" kern="1200">
              <a:sym typeface="Wingdings" panose="05000000000000000000" pitchFamily="2" charset="2"/>
            </a:rPr>
            <a:t></a:t>
          </a:r>
          <a:r>
            <a:rPr lang="en-SG" sz="1100" kern="1200"/>
            <a:t> Neutral </a:t>
          </a:r>
          <a:endParaRPr lang="en-US" sz="1100" kern="1200"/>
        </a:p>
      </dsp:txBody>
      <dsp:txXfrm>
        <a:off x="3923655" y="2298147"/>
        <a:ext cx="2440568" cy="917536"/>
      </dsp:txXfrm>
    </dsp:sp>
    <dsp:sp modelId="{D7E96154-FFF7-477D-AA95-C6112FC8EF78}">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6600D1-3F06-4F2A-94F4-2AA759529631}">
      <dsp:nvSpPr>
        <dsp:cNvPr id="0" name=""/>
        <dsp:cNvSpPr/>
      </dsp:nvSpPr>
      <dsp:spPr>
        <a:xfrm>
          <a:off x="277554" y="365151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C70114-6E82-41B0-8331-E6E85D375A5C}">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90000"/>
            </a:lnSpc>
            <a:spcBef>
              <a:spcPct val="0"/>
            </a:spcBef>
            <a:spcAft>
              <a:spcPct val="35000"/>
            </a:spcAft>
            <a:buNone/>
          </a:pPr>
          <a:r>
            <a:rPr lang="en-SG" sz="1500" b="1" kern="1200"/>
            <a:t>Advantages:</a:t>
          </a:r>
          <a:r>
            <a:rPr lang="en-SG" sz="1500" kern="1200"/>
            <a:t> Fast, simple, no training data required, good for short/ informal text.</a:t>
          </a:r>
          <a:endParaRPr lang="en-US" sz="1500" kern="1200"/>
        </a:p>
      </dsp:txBody>
      <dsp:txXfrm>
        <a:off x="1059754" y="3445068"/>
        <a:ext cx="5304469" cy="917536"/>
      </dsp:txXfrm>
    </dsp:sp>
    <dsp:sp modelId="{71A47B07-8693-43EB-9442-8E9BAD4AA1A9}">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05440E-D68D-49E4-B832-44F2B6F5F0D3}">
      <dsp:nvSpPr>
        <dsp:cNvPr id="0" name=""/>
        <dsp:cNvSpPr/>
      </dsp:nvSpPr>
      <dsp:spPr>
        <a:xfrm>
          <a:off x="277554" y="4798433"/>
          <a:ext cx="504644" cy="50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1FAB72-5378-4622-BDCD-FD661A8E8B9C}">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666750">
            <a:lnSpc>
              <a:spcPct val="90000"/>
            </a:lnSpc>
            <a:spcBef>
              <a:spcPct val="0"/>
            </a:spcBef>
            <a:spcAft>
              <a:spcPct val="35000"/>
            </a:spcAft>
            <a:buNone/>
          </a:pPr>
          <a:r>
            <a:rPr lang="en-SG" sz="1500" b="1" kern="1200"/>
            <a:t>Limitations: </a:t>
          </a:r>
          <a:r>
            <a:rPr lang="en-SG" sz="1500" kern="1200"/>
            <a:t>May struggle with sarcasm, domain-specific terminology, and complex content.</a:t>
          </a:r>
          <a:endParaRPr lang="en-US" sz="1500" kern="1200"/>
        </a:p>
      </dsp:txBody>
      <dsp:txXfrm>
        <a:off x="1059754" y="4591988"/>
        <a:ext cx="5304469" cy="917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D25ECB-FC45-40AC-B1F0-37FDA4676EF4}">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00271D-FCCF-4D57-9765-395C4622F410}">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6D27C6-F72B-4D6B-8823-D41309D2B829}">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SG" sz="1900" b="1" kern="1200"/>
            <a:t>Positive Sentiment: </a:t>
          </a:r>
          <a:r>
            <a:rPr lang="en-SG" sz="1900" kern="1200"/>
            <a:t>Reviews frequently mention friendly service, comfortable experiences, excellent service, good food, and entertainment. Words such as great, friendly comfortable, and excellent are significantly enriched.</a:t>
          </a:r>
          <a:endParaRPr lang="en-US" sz="1900" kern="1200"/>
        </a:p>
      </dsp:txBody>
      <dsp:txXfrm>
        <a:off x="1437631" y="531"/>
        <a:ext cx="9077968" cy="1244702"/>
      </dsp:txXfrm>
    </dsp:sp>
    <dsp:sp modelId="{28A042FB-7F37-49C7-82A0-3F3BA1D86B82}">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45450E-3EC1-48E9-8E2D-7E7FD7887E6B}">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9DE8AF-1322-4BEC-B3D3-6C4546CEA099}">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SG" sz="1900" b="1" kern="1200"/>
            <a:t>Negative Sentiment: </a:t>
          </a:r>
          <a:r>
            <a:rPr lang="en-SG" sz="1900" kern="1200"/>
            <a:t>Negative reviews focus more on tickets, customer service, poor experiences, and complaints, with enriched words such as ticket, customer, poor, disappointed, and asked. Issues also relate to food, seats, flights, and service. </a:t>
          </a:r>
          <a:endParaRPr lang="en-US" sz="1900" kern="1200"/>
        </a:p>
      </dsp:txBody>
      <dsp:txXfrm>
        <a:off x="1437631" y="1556410"/>
        <a:ext cx="9077968" cy="1244702"/>
      </dsp:txXfrm>
    </dsp:sp>
    <dsp:sp modelId="{A9AC55A2-78DB-4C96-BEB0-B0690013BCC1}">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5E3635-B368-49E8-BAE4-A1F19E60C6C0}">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C14C66-A183-480E-B7CF-9592252FE55E}">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SG" sz="1900" kern="1200"/>
            <a:t>Overall, positive reviews emphasise Singapore Airlines service quality and comfortable travel experience, while negative reviews mainly highlight customer service issues and problems with tickets and the overall flight experience. </a:t>
          </a:r>
          <a:endParaRPr lang="en-US" sz="1900" kern="1200"/>
        </a:p>
      </dsp:txBody>
      <dsp:txXfrm>
        <a:off x="1437631" y="3112289"/>
        <a:ext cx="90779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DD5D8E-B2C5-491D-AC0E-4C737728301C}">
      <dsp:nvSpPr>
        <dsp:cNvPr id="0" name=""/>
        <dsp:cNvSpPr/>
      </dsp:nvSpPr>
      <dsp:spPr>
        <a:xfrm>
          <a:off x="0" y="17726"/>
          <a:ext cx="6900512" cy="9945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SG" sz="2500" b="1" kern="1200"/>
            <a:t>Hierarchical clustering </a:t>
          </a:r>
          <a:r>
            <a:rPr lang="en-SG" sz="2500" kern="1200"/>
            <a:t>groups similar data into a hierarchy of clusters.</a:t>
          </a:r>
          <a:endParaRPr lang="en-US" sz="2500" kern="1200"/>
        </a:p>
      </dsp:txBody>
      <dsp:txXfrm>
        <a:off x="48547" y="66273"/>
        <a:ext cx="6803418" cy="897406"/>
      </dsp:txXfrm>
    </dsp:sp>
    <dsp:sp modelId="{938EE9C8-60BC-4A04-856C-1D699EB34BDD}">
      <dsp:nvSpPr>
        <dsp:cNvPr id="0" name=""/>
        <dsp:cNvSpPr/>
      </dsp:nvSpPr>
      <dsp:spPr>
        <a:xfrm>
          <a:off x="0" y="1084226"/>
          <a:ext cx="6900512" cy="9945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SG" sz="2500" b="1" kern="1200"/>
            <a:t>Euclidean Distance: </a:t>
          </a:r>
          <a:r>
            <a:rPr lang="en-SG" sz="2500" kern="1200"/>
            <a:t>Measures the straight line distance between two data points.</a:t>
          </a:r>
          <a:endParaRPr lang="en-US" sz="2500" kern="1200"/>
        </a:p>
      </dsp:txBody>
      <dsp:txXfrm>
        <a:off x="48547" y="1132773"/>
        <a:ext cx="6803418" cy="897406"/>
      </dsp:txXfrm>
    </dsp:sp>
    <dsp:sp modelId="{5750482E-26CD-4BE0-BFE4-48EB395F096C}">
      <dsp:nvSpPr>
        <dsp:cNvPr id="0" name=""/>
        <dsp:cNvSpPr/>
      </dsp:nvSpPr>
      <dsp:spPr>
        <a:xfrm>
          <a:off x="0" y="2078726"/>
          <a:ext cx="6900512"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SG" sz="2000" kern="1200"/>
            <a:t>Smaller distances – data points are more similar</a:t>
          </a:r>
          <a:endParaRPr lang="en-US" sz="2000" kern="1200"/>
        </a:p>
        <a:p>
          <a:pPr marL="228600" lvl="1" indent="-228600" algn="l" defTabSz="889000">
            <a:lnSpc>
              <a:spcPct val="90000"/>
            </a:lnSpc>
            <a:spcBef>
              <a:spcPct val="0"/>
            </a:spcBef>
            <a:spcAft>
              <a:spcPct val="20000"/>
            </a:spcAft>
            <a:buChar char="•"/>
          </a:pPr>
          <a:r>
            <a:rPr lang="en-SG" sz="2000" kern="1200"/>
            <a:t>Larger distances – data points are less similar</a:t>
          </a:r>
          <a:endParaRPr lang="en-US" sz="2000" kern="1200"/>
        </a:p>
      </dsp:txBody>
      <dsp:txXfrm>
        <a:off x="0" y="2078726"/>
        <a:ext cx="6900512" cy="685687"/>
      </dsp:txXfrm>
    </dsp:sp>
    <dsp:sp modelId="{4EC202D1-BAF8-4274-ACCA-31CAD8BC7D40}">
      <dsp:nvSpPr>
        <dsp:cNvPr id="0" name=""/>
        <dsp:cNvSpPr/>
      </dsp:nvSpPr>
      <dsp:spPr>
        <a:xfrm>
          <a:off x="0" y="2764414"/>
          <a:ext cx="6900512" cy="9945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SG" sz="2500" b="1" kern="1200"/>
            <a:t>Agglomerative Process:</a:t>
          </a:r>
          <a:endParaRPr lang="en-US" sz="2500" kern="1200"/>
        </a:p>
      </dsp:txBody>
      <dsp:txXfrm>
        <a:off x="48547" y="2812961"/>
        <a:ext cx="6803418" cy="897406"/>
      </dsp:txXfrm>
    </dsp:sp>
    <dsp:sp modelId="{571C09DC-6703-4DCC-9E92-FB4DC9F39A27}">
      <dsp:nvSpPr>
        <dsp:cNvPr id="0" name=""/>
        <dsp:cNvSpPr/>
      </dsp:nvSpPr>
      <dsp:spPr>
        <a:xfrm>
          <a:off x="0" y="3758914"/>
          <a:ext cx="6900512" cy="175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SG" sz="2000" kern="1200"/>
            <a:t>Start with each data point as an individual cluster.</a:t>
          </a:r>
          <a:endParaRPr lang="en-US" sz="2000" kern="1200"/>
        </a:p>
        <a:p>
          <a:pPr marL="228600" lvl="1" indent="-228600" algn="l" defTabSz="889000">
            <a:lnSpc>
              <a:spcPct val="90000"/>
            </a:lnSpc>
            <a:spcBef>
              <a:spcPct val="0"/>
            </a:spcBef>
            <a:spcAft>
              <a:spcPct val="20000"/>
            </a:spcAft>
            <a:buChar char="•"/>
          </a:pPr>
          <a:r>
            <a:rPr lang="en-SG" sz="2000" kern="1200"/>
            <a:t>Calculate the Euclidean distance between clusters.</a:t>
          </a:r>
          <a:endParaRPr lang="en-US" sz="2000" kern="1200"/>
        </a:p>
        <a:p>
          <a:pPr marL="228600" lvl="1" indent="-228600" algn="l" defTabSz="889000">
            <a:lnSpc>
              <a:spcPct val="90000"/>
            </a:lnSpc>
            <a:spcBef>
              <a:spcPct val="0"/>
            </a:spcBef>
            <a:spcAft>
              <a:spcPct val="20000"/>
            </a:spcAft>
            <a:buChar char="•"/>
          </a:pPr>
          <a:r>
            <a:rPr lang="en-SG" sz="2000" kern="1200"/>
            <a:t>Merge the closest clusters. </a:t>
          </a:r>
          <a:endParaRPr lang="en-US" sz="2000" kern="1200"/>
        </a:p>
        <a:p>
          <a:pPr marL="228600" lvl="1" indent="-228600" algn="l" defTabSz="889000">
            <a:lnSpc>
              <a:spcPct val="90000"/>
            </a:lnSpc>
            <a:spcBef>
              <a:spcPct val="0"/>
            </a:spcBef>
            <a:spcAft>
              <a:spcPct val="20000"/>
            </a:spcAft>
            <a:buChar char="•"/>
          </a:pPr>
          <a:r>
            <a:rPr lang="en-SG" sz="2000" kern="1200"/>
            <a:t>Repeat until all clusters form a hierarchy.</a:t>
          </a:r>
          <a:endParaRPr lang="en-US" sz="2000" kern="1200"/>
        </a:p>
        <a:p>
          <a:pPr marL="228600" lvl="1" indent="-228600" algn="l" defTabSz="889000">
            <a:lnSpc>
              <a:spcPct val="90000"/>
            </a:lnSpc>
            <a:spcBef>
              <a:spcPct val="0"/>
            </a:spcBef>
            <a:spcAft>
              <a:spcPct val="20000"/>
            </a:spcAft>
            <a:buChar char="•"/>
          </a:pPr>
          <a:r>
            <a:rPr lang="en-SG" sz="2000" kern="1200"/>
            <a:t>Use a dendrogram to determine the final clusters. </a:t>
          </a:r>
          <a:endParaRPr lang="en-US" sz="2000" kern="1200"/>
        </a:p>
      </dsp:txBody>
      <dsp:txXfrm>
        <a:off x="0" y="3758914"/>
        <a:ext cx="6900512" cy="1759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6DBF24-B08C-4CDD-A60B-AC5B154E4738}">
      <dsp:nvSpPr>
        <dsp:cNvPr id="0" name=""/>
        <dsp:cNvSpPr/>
      </dsp:nvSpPr>
      <dsp:spPr>
        <a:xfrm>
          <a:off x="0" y="114459"/>
          <a:ext cx="6364224" cy="1288828"/>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SG" sz="1500" b="1" kern="1200"/>
            <a:t>C1:</a:t>
          </a:r>
          <a:r>
            <a:rPr lang="en-SG" sz="1500" kern="1200"/>
            <a:t> Reviews focus broadly on economy class, seats, service, delays, and overall travel experience. The enriched words suggest varied passenger experiences, including booking and premium/ economy services.</a:t>
          </a:r>
          <a:endParaRPr lang="en-US" sz="1500" kern="1200"/>
        </a:p>
      </dsp:txBody>
      <dsp:txXfrm>
        <a:off x="62915" y="177374"/>
        <a:ext cx="6238394" cy="1162998"/>
      </dsp:txXfrm>
    </dsp:sp>
    <dsp:sp modelId="{A3935E60-279D-415B-9A1F-0FA849C40F9B}">
      <dsp:nvSpPr>
        <dsp:cNvPr id="0" name=""/>
        <dsp:cNvSpPr/>
      </dsp:nvSpPr>
      <dsp:spPr>
        <a:xfrm>
          <a:off x="0" y="1446487"/>
          <a:ext cx="6364224" cy="1288828"/>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SG" sz="1500" b="1" kern="1200"/>
            <a:t>C2:</a:t>
          </a:r>
          <a:r>
            <a:rPr lang="en-SG" sz="1500" kern="1200"/>
            <a:t> Reviews are strongly associated with positive experiences, with enriched words such as excellent, comfortable, good, great, and wonderful, particularly relating to comfort and service.</a:t>
          </a:r>
          <a:endParaRPr lang="en-US" sz="1500" kern="1200"/>
        </a:p>
      </dsp:txBody>
      <dsp:txXfrm>
        <a:off x="62915" y="1509402"/>
        <a:ext cx="6238394" cy="1162998"/>
      </dsp:txXfrm>
    </dsp:sp>
    <dsp:sp modelId="{D7C5678C-CDC2-4F83-BBE8-E9C08B3FD153}">
      <dsp:nvSpPr>
        <dsp:cNvPr id="0" name=""/>
        <dsp:cNvSpPr/>
      </dsp:nvSpPr>
      <dsp:spPr>
        <a:xfrm>
          <a:off x="0" y="2778516"/>
          <a:ext cx="6364224" cy="1288828"/>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SG" sz="1500" b="1" kern="1200"/>
            <a:t>C3:</a:t>
          </a:r>
          <a:r>
            <a:rPr lang="en-SG" sz="1500" kern="1200"/>
            <a:t> Reviews mainly highlight crew, food/menu, flights, and landing, with crew and friendly being significantly enriched. </a:t>
          </a:r>
          <a:endParaRPr lang="en-US" sz="1500" kern="1200"/>
        </a:p>
      </dsp:txBody>
      <dsp:txXfrm>
        <a:off x="62915" y="2841431"/>
        <a:ext cx="6238394" cy="1162998"/>
      </dsp:txXfrm>
    </dsp:sp>
    <dsp:sp modelId="{6CAF39A5-9046-4EFC-8689-278519296191}">
      <dsp:nvSpPr>
        <dsp:cNvPr id="0" name=""/>
        <dsp:cNvSpPr/>
      </dsp:nvSpPr>
      <dsp:spPr>
        <a:xfrm>
          <a:off x="0" y="4110544"/>
          <a:ext cx="6364224" cy="1288828"/>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SG" sz="1500" kern="1200"/>
            <a:t>Overall, the clusters reveal three distinct customer experience patterns: general flight and seating experiences (C1), positive comfort and service experiences (C2), and crew and food-related experiences (C3). This shows that customer reviews can be grouped according to different aspects of the Singapore Airlines experience. </a:t>
          </a:r>
          <a:endParaRPr lang="en-US" sz="1500" kern="1200"/>
        </a:p>
      </dsp:txBody>
      <dsp:txXfrm>
        <a:off x="62915" y="4173459"/>
        <a:ext cx="6238394" cy="11629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8C0C7-A9CC-4CCF-AAEF-4E98047BA573}">
      <dsp:nvSpPr>
        <dsp:cNvPr id="0" name=""/>
        <dsp:cNvSpPr/>
      </dsp:nvSpPr>
      <dsp:spPr>
        <a:xfrm>
          <a:off x="0" y="257717"/>
          <a:ext cx="6900512" cy="121845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SG" sz="1700" b="1" kern="1200" dirty="0"/>
            <a:t>Topic 1:</a:t>
          </a:r>
          <a:r>
            <a:rPr lang="en-SG" sz="1700" kern="1200" dirty="0"/>
            <a:t> Focuses on economy and premium travel experiences, particularly seats, flights, food , legroom, and inflight comfort. </a:t>
          </a:r>
          <a:endParaRPr lang="en-US" sz="1700" kern="1200" dirty="0"/>
        </a:p>
      </dsp:txBody>
      <dsp:txXfrm>
        <a:off x="59480" y="317197"/>
        <a:ext cx="6781552" cy="1099496"/>
      </dsp:txXfrm>
    </dsp:sp>
    <dsp:sp modelId="{423D18C7-BEC8-4426-A006-D809174E7FDA}">
      <dsp:nvSpPr>
        <dsp:cNvPr id="0" name=""/>
        <dsp:cNvSpPr/>
      </dsp:nvSpPr>
      <dsp:spPr>
        <a:xfrm>
          <a:off x="0" y="1525133"/>
          <a:ext cx="6900512" cy="1218456"/>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SG" sz="1700" b="1" kern="1200" dirty="0"/>
            <a:t>Topic 2: </a:t>
          </a:r>
          <a:r>
            <a:rPr lang="en-SG" sz="1700" kern="1200" dirty="0"/>
            <a:t>Highlights service quality and cabin experience, with enriched words such as crew, great, friendly, and comfortable, indicating generally positive feedback.</a:t>
          </a:r>
          <a:endParaRPr lang="en-US" sz="1700" kern="1200" dirty="0"/>
        </a:p>
      </dsp:txBody>
      <dsp:txXfrm>
        <a:off x="59480" y="1584613"/>
        <a:ext cx="6781552" cy="1099496"/>
      </dsp:txXfrm>
    </dsp:sp>
    <dsp:sp modelId="{4DD5B510-D151-4559-8176-5C105C1EDF85}">
      <dsp:nvSpPr>
        <dsp:cNvPr id="0" name=""/>
        <dsp:cNvSpPr/>
      </dsp:nvSpPr>
      <dsp:spPr>
        <a:xfrm>
          <a:off x="0" y="2792550"/>
          <a:ext cx="6900512" cy="1218456"/>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SG" sz="1700" b="1" kern="1200" dirty="0"/>
            <a:t>Topic 3:</a:t>
          </a:r>
          <a:r>
            <a:rPr lang="en-SG" sz="1700" kern="1200" dirty="0"/>
            <a:t> Focuses on customer service and flight operations, including customer interactions, delays, boarding, and overall airline service. </a:t>
          </a:r>
          <a:endParaRPr lang="en-US" sz="1700" kern="1200" dirty="0"/>
        </a:p>
      </dsp:txBody>
      <dsp:txXfrm>
        <a:off x="59480" y="2852030"/>
        <a:ext cx="6781552" cy="1099496"/>
      </dsp:txXfrm>
    </dsp:sp>
    <dsp:sp modelId="{F475E377-1236-4C2B-97FF-1893F0D6ED96}">
      <dsp:nvSpPr>
        <dsp:cNvPr id="0" name=""/>
        <dsp:cNvSpPr/>
      </dsp:nvSpPr>
      <dsp:spPr>
        <a:xfrm>
          <a:off x="0" y="4059967"/>
          <a:ext cx="6900512" cy="121845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SG" sz="1700" kern="1200"/>
            <a:t>Overall, the topic modelling identifies three main areas of customer feedback: cabin and comfort, service quality, and flight/ customer service experiences. This suggests that these factors are key themes influencing passengers’ overall experience with Singapore Airlines. </a:t>
          </a:r>
          <a:endParaRPr lang="en-US" sz="1700" kern="1200"/>
        </a:p>
      </dsp:txBody>
      <dsp:txXfrm>
        <a:off x="59480" y="4119447"/>
        <a:ext cx="6781552" cy="10994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3C9DB9-6D1F-4E97-86D7-9B7D5EC7FB09}">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D0853E-8938-42CC-930E-7C9A9F73B379}">
      <dsp:nvSpPr>
        <dsp:cNvPr id="0" name=""/>
        <dsp:cNvSpPr/>
      </dsp:nvSpPr>
      <dsp:spPr>
        <a:xfrm>
          <a:off x="277275" y="208046"/>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6C37E1-B188-4B39-B676-2ABF5332C245}">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SG" sz="1700" b="1" kern="1200"/>
            <a:t>VADER sentiment analysis </a:t>
          </a:r>
          <a:r>
            <a:rPr lang="en-SG" sz="1700" kern="1200"/>
            <a:t>identified whether reviews expressed positive, neutral or negative opinions, showing that positive experiences were mainly associated with service, comfort, and food, while negative feedback focused more on customer service, tickets, and flight-related issues. </a:t>
          </a:r>
          <a:endParaRPr lang="en-US" sz="1700" kern="1200"/>
        </a:p>
      </dsp:txBody>
      <dsp:txXfrm>
        <a:off x="1058686" y="1808"/>
        <a:ext cx="9456913" cy="916611"/>
      </dsp:txXfrm>
    </dsp:sp>
    <dsp:sp modelId="{FF4C5F7E-502C-4E36-9644-9021060587AB}">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D6B496-AEF1-4931-AB1D-EE79D40657BF}">
      <dsp:nvSpPr>
        <dsp:cNvPr id="0" name=""/>
        <dsp:cNvSpPr/>
      </dsp:nvSpPr>
      <dsp:spPr>
        <a:xfrm>
          <a:off x="277275" y="1353811"/>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EB9919-55A3-41D8-9E0F-954143366EB7}">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SG" sz="1700" b="1" kern="1200"/>
            <a:t>Euclidean hierarchical clustering </a:t>
          </a:r>
          <a:r>
            <a:rPr lang="en-SG" sz="1700" kern="1200"/>
            <a:t>further grouped similar reviews into distinct customer experience patterns, including general flight and seating experiences, positive comfort and service experiences, and crew and food-related experiences.</a:t>
          </a:r>
          <a:endParaRPr lang="en-US" sz="1700" kern="1200"/>
        </a:p>
      </dsp:txBody>
      <dsp:txXfrm>
        <a:off x="1058686" y="1147573"/>
        <a:ext cx="9456913" cy="916611"/>
      </dsp:txXfrm>
    </dsp:sp>
    <dsp:sp modelId="{386A8CFD-B311-4176-BC10-D418225636E1}">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42440B-761A-44F3-BC95-0D18673B2489}">
      <dsp:nvSpPr>
        <dsp:cNvPr id="0" name=""/>
        <dsp:cNvSpPr/>
      </dsp:nvSpPr>
      <dsp:spPr>
        <a:xfrm>
          <a:off x="277275" y="2499576"/>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F44BF1-30A5-4B02-8F50-6AE537B44047}">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SG" sz="1700" b="1" kern="1200"/>
            <a:t>LDA topic modelling </a:t>
          </a:r>
          <a:r>
            <a:rPr lang="en-SG" sz="1700" kern="1200"/>
            <a:t>identified the main discussion themes, such as cabin comfort, service quality, and flight or customer service experiences. </a:t>
          </a:r>
          <a:endParaRPr lang="en-US" sz="1700" kern="1200"/>
        </a:p>
      </dsp:txBody>
      <dsp:txXfrm>
        <a:off x="1058686" y="2293338"/>
        <a:ext cx="9456913" cy="916611"/>
      </dsp:txXfrm>
    </dsp:sp>
    <dsp:sp modelId="{165BBDB2-3749-49A6-B8AD-35F07B7F5D39}">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E57365-B8B6-4E2A-AC1F-01A8C31B9375}">
      <dsp:nvSpPr>
        <dsp:cNvPr id="0" name=""/>
        <dsp:cNvSpPr/>
      </dsp:nvSpPr>
      <dsp:spPr>
        <a:xfrm>
          <a:off x="277275" y="3645341"/>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E8CE0E-E993-4F8D-B42F-FFE1F29D52AA}">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SG" sz="1700" b="1" kern="1200"/>
            <a:t>Text classification </a:t>
          </a:r>
          <a:r>
            <a:rPr lang="en-SG" sz="1700" kern="1200"/>
            <a:t>used these review patterns to predict sentiment categories, with Gradient Boosting achieving the best overall performance, although positive reviews were classified more accurately than neutral and negative reviews due to class imbalance. </a:t>
          </a:r>
          <a:endParaRPr lang="en-US" sz="1700" kern="1200"/>
        </a:p>
      </dsp:txBody>
      <dsp:txXfrm>
        <a:off x="1058686" y="3439103"/>
        <a:ext cx="9456913" cy="9166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F6C1AE-DDE9-4412-BC92-636C67C68A32}" type="datetimeFigureOut">
              <a:rPr lang="en-SG" smtClean="0"/>
              <a:t>14/8/2026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41E6D-C44A-4007-B083-7AD18EB975EF}" type="slidenum">
              <a:rPr lang="en-SG" smtClean="0"/>
              <a:t>‹#›</a:t>
            </a:fld>
            <a:endParaRPr lang="en-SG"/>
          </a:p>
        </p:txBody>
      </p:sp>
    </p:spTree>
    <p:extLst>
      <p:ext uri="{BB962C8B-B14F-4D97-AF65-F5344CB8AC3E}">
        <p14:creationId xmlns:p14="http://schemas.microsoft.com/office/powerpoint/2010/main" val="616940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23388-8195-A155-D4E9-1912C9C8F0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D75425F3-8342-C15B-E0AF-C2CA1E9F8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B6E7087C-21C2-FE40-4075-FA6D62D9378C}"/>
              </a:ext>
            </a:extLst>
          </p:cNvPr>
          <p:cNvSpPr>
            <a:spLocks noGrp="1"/>
          </p:cNvSpPr>
          <p:nvPr>
            <p:ph type="dt" sz="half" idx="10"/>
          </p:nvPr>
        </p:nvSpPr>
        <p:spPr/>
        <p:txBody>
          <a:bodyPr/>
          <a:lstStyle/>
          <a:p>
            <a:fld id="{30DBD06A-E9FC-4EA7-9904-79050FC5D5B1}" type="datetime1">
              <a:rPr lang="en-SG" smtClean="0"/>
              <a:t>14/8/2026</a:t>
            </a:fld>
            <a:endParaRPr lang="en-SG"/>
          </a:p>
        </p:txBody>
      </p:sp>
      <p:sp>
        <p:nvSpPr>
          <p:cNvPr id="5" name="Footer Placeholder 4">
            <a:extLst>
              <a:ext uri="{FF2B5EF4-FFF2-40B4-BE49-F238E27FC236}">
                <a16:creationId xmlns:a16="http://schemas.microsoft.com/office/drawing/2014/main" id="{BCCD0FB9-ED76-765F-A1DB-76ED357A1C08}"/>
              </a:ext>
            </a:extLst>
          </p:cNvPr>
          <p:cNvSpPr>
            <a:spLocks noGrp="1"/>
          </p:cNvSpPr>
          <p:nvPr>
            <p:ph type="ftr" sz="quarter" idx="11"/>
          </p:nvPr>
        </p:nvSpPr>
        <p:spPr/>
        <p:txBody>
          <a:bodyPr/>
          <a:lstStyle/>
          <a:p>
            <a:r>
              <a:rPr lang="en-SG"/>
              <a:t>RP/SDAAI/Capstone Project 2021</a:t>
            </a:r>
          </a:p>
        </p:txBody>
      </p:sp>
      <p:sp>
        <p:nvSpPr>
          <p:cNvPr id="6" name="Slide Number Placeholder 5">
            <a:extLst>
              <a:ext uri="{FF2B5EF4-FFF2-40B4-BE49-F238E27FC236}">
                <a16:creationId xmlns:a16="http://schemas.microsoft.com/office/drawing/2014/main" id="{83946BA2-0C94-F8D7-B2DF-BC8D25AD546C}"/>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3808598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B11AC-7E10-E4AE-BE4A-84891008A06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180664C-0CDA-38C3-24B4-8A57BF9727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F88C58D-D646-2C92-86E2-A0E3F23CC1CF}"/>
              </a:ext>
            </a:extLst>
          </p:cNvPr>
          <p:cNvSpPr>
            <a:spLocks noGrp="1"/>
          </p:cNvSpPr>
          <p:nvPr>
            <p:ph type="dt" sz="half" idx="10"/>
          </p:nvPr>
        </p:nvSpPr>
        <p:spPr/>
        <p:txBody>
          <a:bodyPr/>
          <a:lstStyle/>
          <a:p>
            <a:fld id="{B4DB8678-2A6F-473C-A73B-857D27FA43D7}" type="datetime1">
              <a:rPr lang="en-SG" smtClean="0"/>
              <a:t>14/8/2026</a:t>
            </a:fld>
            <a:endParaRPr lang="en-SG"/>
          </a:p>
        </p:txBody>
      </p:sp>
      <p:sp>
        <p:nvSpPr>
          <p:cNvPr id="5" name="Footer Placeholder 4">
            <a:extLst>
              <a:ext uri="{FF2B5EF4-FFF2-40B4-BE49-F238E27FC236}">
                <a16:creationId xmlns:a16="http://schemas.microsoft.com/office/drawing/2014/main" id="{CA52596A-D2B2-6450-77E8-9B46DD54275E}"/>
              </a:ext>
            </a:extLst>
          </p:cNvPr>
          <p:cNvSpPr>
            <a:spLocks noGrp="1"/>
          </p:cNvSpPr>
          <p:nvPr>
            <p:ph type="ftr" sz="quarter" idx="11"/>
          </p:nvPr>
        </p:nvSpPr>
        <p:spPr/>
        <p:txBody>
          <a:bodyPr/>
          <a:lstStyle/>
          <a:p>
            <a:r>
              <a:rPr lang="en-SG"/>
              <a:t>RP/SDAAI/Capstone Project 2021</a:t>
            </a:r>
          </a:p>
        </p:txBody>
      </p:sp>
      <p:sp>
        <p:nvSpPr>
          <p:cNvPr id="6" name="Slide Number Placeholder 5">
            <a:extLst>
              <a:ext uri="{FF2B5EF4-FFF2-40B4-BE49-F238E27FC236}">
                <a16:creationId xmlns:a16="http://schemas.microsoft.com/office/drawing/2014/main" id="{FD2B4247-11D0-9544-363B-33BA8C97AA14}"/>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249676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1D5E-F119-673E-0C07-478B642232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9B1445-9183-C63A-B9DB-E11A97311A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196E19-F582-F1A6-FC06-27B92E05ACEF}"/>
              </a:ext>
            </a:extLst>
          </p:cNvPr>
          <p:cNvSpPr>
            <a:spLocks noGrp="1"/>
          </p:cNvSpPr>
          <p:nvPr>
            <p:ph type="dt" sz="half" idx="10"/>
          </p:nvPr>
        </p:nvSpPr>
        <p:spPr/>
        <p:txBody>
          <a:bodyPr/>
          <a:lstStyle/>
          <a:p>
            <a:fld id="{2E2F4078-EC6F-4608-9F97-32C7F5D15326}" type="datetime1">
              <a:rPr lang="en-SG" smtClean="0"/>
              <a:t>14/8/2026</a:t>
            </a:fld>
            <a:endParaRPr lang="en-SG"/>
          </a:p>
        </p:txBody>
      </p:sp>
      <p:sp>
        <p:nvSpPr>
          <p:cNvPr id="5" name="Footer Placeholder 4">
            <a:extLst>
              <a:ext uri="{FF2B5EF4-FFF2-40B4-BE49-F238E27FC236}">
                <a16:creationId xmlns:a16="http://schemas.microsoft.com/office/drawing/2014/main" id="{376BBF81-7F70-B9AC-2D39-57549491ADFB}"/>
              </a:ext>
            </a:extLst>
          </p:cNvPr>
          <p:cNvSpPr>
            <a:spLocks noGrp="1"/>
          </p:cNvSpPr>
          <p:nvPr>
            <p:ph type="ftr" sz="quarter" idx="11"/>
          </p:nvPr>
        </p:nvSpPr>
        <p:spPr/>
        <p:txBody>
          <a:bodyPr/>
          <a:lstStyle/>
          <a:p>
            <a:r>
              <a:rPr lang="en-SG"/>
              <a:t>RP/SDAAI/Capstone Project 2021</a:t>
            </a:r>
          </a:p>
        </p:txBody>
      </p:sp>
      <p:sp>
        <p:nvSpPr>
          <p:cNvPr id="6" name="Slide Number Placeholder 5">
            <a:extLst>
              <a:ext uri="{FF2B5EF4-FFF2-40B4-BE49-F238E27FC236}">
                <a16:creationId xmlns:a16="http://schemas.microsoft.com/office/drawing/2014/main" id="{90BDDC7E-C444-5109-71D9-65CF84284D26}"/>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2479718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CD54-3DAE-58E6-D04D-9E13DA7C4BC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CDF7AF5-93E6-71A2-D8FB-010F3EDAB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6E76CD9-E001-00EE-86EC-E1B466CD9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3340C9C6-C004-599A-0B5C-670FBC31531F}"/>
              </a:ext>
            </a:extLst>
          </p:cNvPr>
          <p:cNvSpPr>
            <a:spLocks noGrp="1"/>
          </p:cNvSpPr>
          <p:nvPr>
            <p:ph type="dt" sz="half" idx="10"/>
          </p:nvPr>
        </p:nvSpPr>
        <p:spPr/>
        <p:txBody>
          <a:bodyPr/>
          <a:lstStyle/>
          <a:p>
            <a:fld id="{34DFE79F-2780-493B-9AB7-0932BA0738E7}" type="datetime1">
              <a:rPr lang="en-SG" smtClean="0"/>
              <a:t>14/8/2026</a:t>
            </a:fld>
            <a:endParaRPr lang="en-SG"/>
          </a:p>
        </p:txBody>
      </p:sp>
      <p:sp>
        <p:nvSpPr>
          <p:cNvPr id="6" name="Footer Placeholder 5">
            <a:extLst>
              <a:ext uri="{FF2B5EF4-FFF2-40B4-BE49-F238E27FC236}">
                <a16:creationId xmlns:a16="http://schemas.microsoft.com/office/drawing/2014/main" id="{187B4681-6F51-84A7-E734-8C18FA70E6C2}"/>
              </a:ext>
            </a:extLst>
          </p:cNvPr>
          <p:cNvSpPr>
            <a:spLocks noGrp="1"/>
          </p:cNvSpPr>
          <p:nvPr>
            <p:ph type="ftr" sz="quarter" idx="11"/>
          </p:nvPr>
        </p:nvSpPr>
        <p:spPr/>
        <p:txBody>
          <a:bodyPr/>
          <a:lstStyle/>
          <a:p>
            <a:r>
              <a:rPr lang="en-SG"/>
              <a:t>RP/SDAAI/Capstone Project 2021</a:t>
            </a:r>
          </a:p>
        </p:txBody>
      </p:sp>
      <p:sp>
        <p:nvSpPr>
          <p:cNvPr id="7" name="Slide Number Placeholder 6">
            <a:extLst>
              <a:ext uri="{FF2B5EF4-FFF2-40B4-BE49-F238E27FC236}">
                <a16:creationId xmlns:a16="http://schemas.microsoft.com/office/drawing/2014/main" id="{7A5D0B27-84F2-C919-AB73-4A70CEAE4242}"/>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21088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47A5-B983-892F-C66B-4B46241D0FB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A8C2B50-D5E5-973E-9C6B-FDB91F734A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257928-8FEC-46C8-C585-C9061B780D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002CB01C-F05A-24AE-9ED4-07CF93C218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5DC160-CE04-8FBB-2ABA-6AF8EC9A4F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0FBBAC7-7B20-234C-A215-C43BBF2D12BA}"/>
              </a:ext>
            </a:extLst>
          </p:cNvPr>
          <p:cNvSpPr>
            <a:spLocks noGrp="1"/>
          </p:cNvSpPr>
          <p:nvPr>
            <p:ph type="dt" sz="half" idx="10"/>
          </p:nvPr>
        </p:nvSpPr>
        <p:spPr/>
        <p:txBody>
          <a:bodyPr/>
          <a:lstStyle/>
          <a:p>
            <a:fld id="{85E35550-B373-46AE-81C9-97EE833F6F37}" type="datetime1">
              <a:rPr lang="en-SG" smtClean="0"/>
              <a:t>14/8/2026</a:t>
            </a:fld>
            <a:endParaRPr lang="en-SG"/>
          </a:p>
        </p:txBody>
      </p:sp>
      <p:sp>
        <p:nvSpPr>
          <p:cNvPr id="8" name="Footer Placeholder 7">
            <a:extLst>
              <a:ext uri="{FF2B5EF4-FFF2-40B4-BE49-F238E27FC236}">
                <a16:creationId xmlns:a16="http://schemas.microsoft.com/office/drawing/2014/main" id="{1BC62EF9-B2E4-7C78-6AFE-E679EB5AE258}"/>
              </a:ext>
            </a:extLst>
          </p:cNvPr>
          <p:cNvSpPr>
            <a:spLocks noGrp="1"/>
          </p:cNvSpPr>
          <p:nvPr>
            <p:ph type="ftr" sz="quarter" idx="11"/>
          </p:nvPr>
        </p:nvSpPr>
        <p:spPr/>
        <p:txBody>
          <a:bodyPr/>
          <a:lstStyle/>
          <a:p>
            <a:r>
              <a:rPr lang="en-SG"/>
              <a:t>RP/SDAAI/Capstone Project 2021</a:t>
            </a:r>
          </a:p>
        </p:txBody>
      </p:sp>
      <p:sp>
        <p:nvSpPr>
          <p:cNvPr id="9" name="Slide Number Placeholder 8">
            <a:extLst>
              <a:ext uri="{FF2B5EF4-FFF2-40B4-BE49-F238E27FC236}">
                <a16:creationId xmlns:a16="http://schemas.microsoft.com/office/drawing/2014/main" id="{67A13E56-90B6-666C-E876-992700C3FE4B}"/>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2823954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16BE4-6F48-0F80-6CD2-5DFB1D1434BF}"/>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C0563D9-2471-37DD-AACC-A63A7EBABF8D}"/>
              </a:ext>
            </a:extLst>
          </p:cNvPr>
          <p:cNvSpPr>
            <a:spLocks noGrp="1"/>
          </p:cNvSpPr>
          <p:nvPr>
            <p:ph type="dt" sz="half" idx="10"/>
          </p:nvPr>
        </p:nvSpPr>
        <p:spPr/>
        <p:txBody>
          <a:bodyPr/>
          <a:lstStyle/>
          <a:p>
            <a:fld id="{5DC369FA-7AD4-4D5A-B4CD-CBA1905F503D}" type="datetime1">
              <a:rPr lang="en-SG" smtClean="0"/>
              <a:t>14/8/2026</a:t>
            </a:fld>
            <a:endParaRPr lang="en-SG"/>
          </a:p>
        </p:txBody>
      </p:sp>
      <p:sp>
        <p:nvSpPr>
          <p:cNvPr id="4" name="Footer Placeholder 3">
            <a:extLst>
              <a:ext uri="{FF2B5EF4-FFF2-40B4-BE49-F238E27FC236}">
                <a16:creationId xmlns:a16="http://schemas.microsoft.com/office/drawing/2014/main" id="{5E56BC71-1496-D773-25A9-07C5C4624697}"/>
              </a:ext>
            </a:extLst>
          </p:cNvPr>
          <p:cNvSpPr>
            <a:spLocks noGrp="1"/>
          </p:cNvSpPr>
          <p:nvPr>
            <p:ph type="ftr" sz="quarter" idx="11"/>
          </p:nvPr>
        </p:nvSpPr>
        <p:spPr/>
        <p:txBody>
          <a:bodyPr/>
          <a:lstStyle/>
          <a:p>
            <a:r>
              <a:rPr lang="en-SG"/>
              <a:t>RP/SDAAI/Capstone Project 2021</a:t>
            </a:r>
          </a:p>
        </p:txBody>
      </p:sp>
      <p:sp>
        <p:nvSpPr>
          <p:cNvPr id="5" name="Slide Number Placeholder 4">
            <a:extLst>
              <a:ext uri="{FF2B5EF4-FFF2-40B4-BE49-F238E27FC236}">
                <a16:creationId xmlns:a16="http://schemas.microsoft.com/office/drawing/2014/main" id="{EC10583A-C61F-1836-9E01-1855972C6B6B}"/>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1810165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07928A-940C-E406-0A73-9696B5C06E9E}"/>
              </a:ext>
            </a:extLst>
          </p:cNvPr>
          <p:cNvSpPr>
            <a:spLocks noGrp="1"/>
          </p:cNvSpPr>
          <p:nvPr>
            <p:ph type="dt" sz="half" idx="10"/>
          </p:nvPr>
        </p:nvSpPr>
        <p:spPr/>
        <p:txBody>
          <a:bodyPr/>
          <a:lstStyle/>
          <a:p>
            <a:fld id="{6B4E802E-00B4-4371-84C5-B658A68296E7}" type="datetime1">
              <a:rPr lang="en-SG" smtClean="0"/>
              <a:t>14/8/2026</a:t>
            </a:fld>
            <a:endParaRPr lang="en-SG"/>
          </a:p>
        </p:txBody>
      </p:sp>
      <p:sp>
        <p:nvSpPr>
          <p:cNvPr id="3" name="Footer Placeholder 2">
            <a:extLst>
              <a:ext uri="{FF2B5EF4-FFF2-40B4-BE49-F238E27FC236}">
                <a16:creationId xmlns:a16="http://schemas.microsoft.com/office/drawing/2014/main" id="{00DB77DE-DC7F-8C87-F7B7-49C81AFBEFD0}"/>
              </a:ext>
            </a:extLst>
          </p:cNvPr>
          <p:cNvSpPr>
            <a:spLocks noGrp="1"/>
          </p:cNvSpPr>
          <p:nvPr>
            <p:ph type="ftr" sz="quarter" idx="11"/>
          </p:nvPr>
        </p:nvSpPr>
        <p:spPr/>
        <p:txBody>
          <a:bodyPr/>
          <a:lstStyle/>
          <a:p>
            <a:r>
              <a:rPr lang="en-SG"/>
              <a:t>RP/SDAAI/Capstone Project 2021</a:t>
            </a:r>
          </a:p>
        </p:txBody>
      </p:sp>
      <p:sp>
        <p:nvSpPr>
          <p:cNvPr id="4" name="Slide Number Placeholder 3">
            <a:extLst>
              <a:ext uri="{FF2B5EF4-FFF2-40B4-BE49-F238E27FC236}">
                <a16:creationId xmlns:a16="http://schemas.microsoft.com/office/drawing/2014/main" id="{9ADE0127-DFBA-3727-C427-2093BF232C0A}"/>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30393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6C27-EB78-790F-6C12-150A7C9285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7A0E40A8-0666-2DE1-4664-8606AABD5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CD8ADFB0-A91A-6CCF-CEF0-625BA17E46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60DE1A-F271-2A82-9697-5AC8B49718A0}"/>
              </a:ext>
            </a:extLst>
          </p:cNvPr>
          <p:cNvSpPr>
            <a:spLocks noGrp="1"/>
          </p:cNvSpPr>
          <p:nvPr>
            <p:ph type="dt" sz="half" idx="10"/>
          </p:nvPr>
        </p:nvSpPr>
        <p:spPr/>
        <p:txBody>
          <a:bodyPr/>
          <a:lstStyle/>
          <a:p>
            <a:fld id="{1D6DB310-9ECA-435B-9C2A-BA86792321EB}" type="datetime1">
              <a:rPr lang="en-SG" smtClean="0"/>
              <a:t>14/8/2026</a:t>
            </a:fld>
            <a:endParaRPr lang="en-SG"/>
          </a:p>
        </p:txBody>
      </p:sp>
      <p:sp>
        <p:nvSpPr>
          <p:cNvPr id="6" name="Footer Placeholder 5">
            <a:extLst>
              <a:ext uri="{FF2B5EF4-FFF2-40B4-BE49-F238E27FC236}">
                <a16:creationId xmlns:a16="http://schemas.microsoft.com/office/drawing/2014/main" id="{9014C233-92AC-56DF-1788-BDED66E2DABE}"/>
              </a:ext>
            </a:extLst>
          </p:cNvPr>
          <p:cNvSpPr>
            <a:spLocks noGrp="1"/>
          </p:cNvSpPr>
          <p:nvPr>
            <p:ph type="ftr" sz="quarter" idx="11"/>
          </p:nvPr>
        </p:nvSpPr>
        <p:spPr/>
        <p:txBody>
          <a:bodyPr/>
          <a:lstStyle/>
          <a:p>
            <a:r>
              <a:rPr lang="en-SG"/>
              <a:t>RP/SDAAI/Capstone Project 2021</a:t>
            </a:r>
          </a:p>
        </p:txBody>
      </p:sp>
      <p:sp>
        <p:nvSpPr>
          <p:cNvPr id="7" name="Slide Number Placeholder 6">
            <a:extLst>
              <a:ext uri="{FF2B5EF4-FFF2-40B4-BE49-F238E27FC236}">
                <a16:creationId xmlns:a16="http://schemas.microsoft.com/office/drawing/2014/main" id="{3FA8D0ED-6AE5-7010-34EC-0636C4D080AD}"/>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136472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B0AF-9A72-FCAC-8A78-ECD59137FB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072FDFE-E787-A3E0-A7E3-034F53770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8A07C166-5092-0FC2-0B18-268B143E1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DD970B-63BF-2FAF-185C-59D28335FA12}"/>
              </a:ext>
            </a:extLst>
          </p:cNvPr>
          <p:cNvSpPr>
            <a:spLocks noGrp="1"/>
          </p:cNvSpPr>
          <p:nvPr>
            <p:ph type="dt" sz="half" idx="10"/>
          </p:nvPr>
        </p:nvSpPr>
        <p:spPr/>
        <p:txBody>
          <a:bodyPr/>
          <a:lstStyle/>
          <a:p>
            <a:fld id="{4A833728-6A6E-4D34-9861-61D6C22D75AD}" type="datetime1">
              <a:rPr lang="en-SG" smtClean="0"/>
              <a:t>14/8/2026</a:t>
            </a:fld>
            <a:endParaRPr lang="en-SG"/>
          </a:p>
        </p:txBody>
      </p:sp>
      <p:sp>
        <p:nvSpPr>
          <p:cNvPr id="6" name="Footer Placeholder 5">
            <a:extLst>
              <a:ext uri="{FF2B5EF4-FFF2-40B4-BE49-F238E27FC236}">
                <a16:creationId xmlns:a16="http://schemas.microsoft.com/office/drawing/2014/main" id="{5448DF0A-E13A-4F1A-40AB-F4B42BE6817D}"/>
              </a:ext>
            </a:extLst>
          </p:cNvPr>
          <p:cNvSpPr>
            <a:spLocks noGrp="1"/>
          </p:cNvSpPr>
          <p:nvPr>
            <p:ph type="ftr" sz="quarter" idx="11"/>
          </p:nvPr>
        </p:nvSpPr>
        <p:spPr/>
        <p:txBody>
          <a:bodyPr/>
          <a:lstStyle/>
          <a:p>
            <a:r>
              <a:rPr lang="en-SG"/>
              <a:t>RP/SDAAI/Capstone Project 2021</a:t>
            </a:r>
          </a:p>
        </p:txBody>
      </p:sp>
      <p:sp>
        <p:nvSpPr>
          <p:cNvPr id="7" name="Slide Number Placeholder 6">
            <a:extLst>
              <a:ext uri="{FF2B5EF4-FFF2-40B4-BE49-F238E27FC236}">
                <a16:creationId xmlns:a16="http://schemas.microsoft.com/office/drawing/2014/main" id="{681C9654-E366-15F1-4D0F-65EB8FF01BFB}"/>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40097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2D26A-91C0-736D-5080-997BEFE6D7BA}"/>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7B205E9-403D-2401-4B42-DD5B9E780E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05D6D99-AEAE-0880-085A-5B47D4BED05A}"/>
              </a:ext>
            </a:extLst>
          </p:cNvPr>
          <p:cNvSpPr>
            <a:spLocks noGrp="1"/>
          </p:cNvSpPr>
          <p:nvPr>
            <p:ph type="dt" sz="half" idx="10"/>
          </p:nvPr>
        </p:nvSpPr>
        <p:spPr/>
        <p:txBody>
          <a:bodyPr/>
          <a:lstStyle/>
          <a:p>
            <a:fld id="{79F4F4B5-A1D2-42CC-85CE-D1FD0FC61F2C}" type="datetime1">
              <a:rPr lang="en-SG" smtClean="0"/>
              <a:t>14/8/2026</a:t>
            </a:fld>
            <a:endParaRPr lang="en-SG"/>
          </a:p>
        </p:txBody>
      </p:sp>
      <p:sp>
        <p:nvSpPr>
          <p:cNvPr id="5" name="Footer Placeholder 4">
            <a:extLst>
              <a:ext uri="{FF2B5EF4-FFF2-40B4-BE49-F238E27FC236}">
                <a16:creationId xmlns:a16="http://schemas.microsoft.com/office/drawing/2014/main" id="{2260D685-AB66-1726-60F1-A88C938AEFA2}"/>
              </a:ext>
            </a:extLst>
          </p:cNvPr>
          <p:cNvSpPr>
            <a:spLocks noGrp="1"/>
          </p:cNvSpPr>
          <p:nvPr>
            <p:ph type="ftr" sz="quarter" idx="11"/>
          </p:nvPr>
        </p:nvSpPr>
        <p:spPr/>
        <p:txBody>
          <a:bodyPr/>
          <a:lstStyle/>
          <a:p>
            <a:r>
              <a:rPr lang="en-SG"/>
              <a:t>RP/SDAAI/Capstone Project 2021</a:t>
            </a:r>
          </a:p>
        </p:txBody>
      </p:sp>
      <p:sp>
        <p:nvSpPr>
          <p:cNvPr id="6" name="Slide Number Placeholder 5">
            <a:extLst>
              <a:ext uri="{FF2B5EF4-FFF2-40B4-BE49-F238E27FC236}">
                <a16:creationId xmlns:a16="http://schemas.microsoft.com/office/drawing/2014/main" id="{8A220424-D35C-9E04-8220-E9C24E013DEB}"/>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2630480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C14066-DC1C-B252-0330-E96778BD7F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31A3BDD-3EDF-B6E7-B7C9-97D36790CC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D87CF33-A6CC-010F-C88D-2B97BA2C8EF8}"/>
              </a:ext>
            </a:extLst>
          </p:cNvPr>
          <p:cNvSpPr>
            <a:spLocks noGrp="1"/>
          </p:cNvSpPr>
          <p:nvPr>
            <p:ph type="dt" sz="half" idx="10"/>
          </p:nvPr>
        </p:nvSpPr>
        <p:spPr/>
        <p:txBody>
          <a:bodyPr/>
          <a:lstStyle/>
          <a:p>
            <a:fld id="{4F67B8E5-6123-487E-8C98-D6FD565B92A1}" type="datetime1">
              <a:rPr lang="en-SG" smtClean="0"/>
              <a:t>14/8/2026</a:t>
            </a:fld>
            <a:endParaRPr lang="en-SG"/>
          </a:p>
        </p:txBody>
      </p:sp>
      <p:sp>
        <p:nvSpPr>
          <p:cNvPr id="5" name="Footer Placeholder 4">
            <a:extLst>
              <a:ext uri="{FF2B5EF4-FFF2-40B4-BE49-F238E27FC236}">
                <a16:creationId xmlns:a16="http://schemas.microsoft.com/office/drawing/2014/main" id="{D706F601-2DAE-5344-E19B-1A7D2B90E1D0}"/>
              </a:ext>
            </a:extLst>
          </p:cNvPr>
          <p:cNvSpPr>
            <a:spLocks noGrp="1"/>
          </p:cNvSpPr>
          <p:nvPr>
            <p:ph type="ftr" sz="quarter" idx="11"/>
          </p:nvPr>
        </p:nvSpPr>
        <p:spPr/>
        <p:txBody>
          <a:bodyPr/>
          <a:lstStyle/>
          <a:p>
            <a:r>
              <a:rPr lang="en-SG"/>
              <a:t>RP/SDAAI/Capstone Project 2021</a:t>
            </a:r>
          </a:p>
        </p:txBody>
      </p:sp>
      <p:sp>
        <p:nvSpPr>
          <p:cNvPr id="6" name="Slide Number Placeholder 5">
            <a:extLst>
              <a:ext uri="{FF2B5EF4-FFF2-40B4-BE49-F238E27FC236}">
                <a16:creationId xmlns:a16="http://schemas.microsoft.com/office/drawing/2014/main" id="{8E84F508-1F0A-3FAC-666C-C059B96EB6E9}"/>
              </a:ext>
            </a:extLst>
          </p:cNvPr>
          <p:cNvSpPr>
            <a:spLocks noGrp="1"/>
          </p:cNvSpPr>
          <p:nvPr>
            <p:ph type="sldNum" sz="quarter" idx="12"/>
          </p:nvPr>
        </p:nvSpPr>
        <p:spPr/>
        <p:txBody>
          <a:bodyPr/>
          <a:lstStyle/>
          <a:p>
            <a:fld id="{7B5FF986-6745-4566-9357-372A6AE080A5}" type="slidenum">
              <a:rPr lang="en-SG" smtClean="0"/>
              <a:t>‹#›</a:t>
            </a:fld>
            <a:endParaRPr lang="en-SG"/>
          </a:p>
        </p:txBody>
      </p:sp>
    </p:spTree>
    <p:extLst>
      <p:ext uri="{BB962C8B-B14F-4D97-AF65-F5344CB8AC3E}">
        <p14:creationId xmlns:p14="http://schemas.microsoft.com/office/powerpoint/2010/main" val="2076771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13D9BD-7E84-1380-E547-5A64AD7302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A4326F1-658E-47CE-D566-00B7F5E8E3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7FF0285-061F-3D6C-46DA-E57949371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8A8F4E-8012-4ACB-834D-1954D0876693}" type="datetime1">
              <a:rPr lang="en-SG" smtClean="0"/>
              <a:t>14/8/2026</a:t>
            </a:fld>
            <a:endParaRPr lang="en-SG"/>
          </a:p>
        </p:txBody>
      </p:sp>
      <p:sp>
        <p:nvSpPr>
          <p:cNvPr id="5" name="Footer Placeholder 4">
            <a:extLst>
              <a:ext uri="{FF2B5EF4-FFF2-40B4-BE49-F238E27FC236}">
                <a16:creationId xmlns:a16="http://schemas.microsoft.com/office/drawing/2014/main" id="{2D401957-D731-48F7-76BF-E69B846735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SG"/>
              <a:t>RP/SDAAI/Capstone Project 2021</a:t>
            </a:r>
          </a:p>
        </p:txBody>
      </p:sp>
      <p:sp>
        <p:nvSpPr>
          <p:cNvPr id="6" name="Slide Number Placeholder 5">
            <a:extLst>
              <a:ext uri="{FF2B5EF4-FFF2-40B4-BE49-F238E27FC236}">
                <a16:creationId xmlns:a16="http://schemas.microsoft.com/office/drawing/2014/main" id="{369A3567-E56C-387A-D586-3D121E789A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5FF986-6745-4566-9357-372A6AE080A5}" type="slidenum">
              <a:rPr lang="en-SG" smtClean="0"/>
              <a:t>‹#›</a:t>
            </a:fld>
            <a:endParaRPr lang="en-SG"/>
          </a:p>
        </p:txBody>
      </p:sp>
    </p:spTree>
    <p:extLst>
      <p:ext uri="{BB962C8B-B14F-4D97-AF65-F5344CB8AC3E}">
        <p14:creationId xmlns:p14="http://schemas.microsoft.com/office/powerpoint/2010/main" val="3339145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ingapore Airlines Brings First Class and New Business Class to A350 -  Business Traveller">
            <a:extLst>
              <a:ext uri="{FF2B5EF4-FFF2-40B4-BE49-F238E27FC236}">
                <a16:creationId xmlns:a16="http://schemas.microsoft.com/office/drawing/2014/main" id="{DFB0E344-EE37-4D6B-F5F6-ED47A6978A5C}"/>
              </a:ext>
            </a:extLst>
          </p:cNvPr>
          <p:cNvPicPr>
            <a:picLocks noChangeAspect="1"/>
          </p:cNvPicPr>
          <p:nvPr/>
        </p:nvPicPr>
        <p:blipFill>
          <a:blip r:embed="rId2"/>
          <a:srcRect t="4343" r="23298" b="4749"/>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51B136C-465D-AADA-EEC2-5B0B156DD5E6}"/>
              </a:ext>
            </a:extLst>
          </p:cNvPr>
          <p:cNvSpPr>
            <a:spLocks noGrp="1"/>
          </p:cNvSpPr>
          <p:nvPr>
            <p:ph type="ctrTitle"/>
          </p:nvPr>
        </p:nvSpPr>
        <p:spPr>
          <a:xfrm>
            <a:off x="477980" y="1122363"/>
            <a:ext cx="4274889" cy="3204134"/>
          </a:xfrm>
        </p:spPr>
        <p:txBody>
          <a:bodyPr anchor="b">
            <a:normAutofit/>
          </a:bodyPr>
          <a:lstStyle/>
          <a:p>
            <a:pPr algn="l"/>
            <a:r>
              <a:rPr lang="en-SG" sz="4800" b="1" dirty="0">
                <a:latin typeface="Calibri" panose="020F0502020204030204" pitchFamily="34" charset="0"/>
                <a:ea typeface="Calibri" panose="020F0502020204030204" pitchFamily="34" charset="0"/>
                <a:cs typeface="Calibri" panose="020F0502020204030204" pitchFamily="34" charset="0"/>
              </a:rPr>
              <a:t>Singapore Airlines Review Analysis</a:t>
            </a:r>
          </a:p>
        </p:txBody>
      </p:sp>
      <p:sp>
        <p:nvSpPr>
          <p:cNvPr id="3" name="Subtitle 2">
            <a:extLst>
              <a:ext uri="{FF2B5EF4-FFF2-40B4-BE49-F238E27FC236}">
                <a16:creationId xmlns:a16="http://schemas.microsoft.com/office/drawing/2014/main" id="{124D4482-2D54-80D7-1C59-1F878A1A33FC}"/>
              </a:ext>
            </a:extLst>
          </p:cNvPr>
          <p:cNvSpPr>
            <a:spLocks noGrp="1"/>
          </p:cNvSpPr>
          <p:nvPr>
            <p:ph type="subTitle" idx="1"/>
          </p:nvPr>
        </p:nvSpPr>
        <p:spPr>
          <a:xfrm>
            <a:off x="477980" y="4872922"/>
            <a:ext cx="4023359" cy="1208141"/>
          </a:xfrm>
        </p:spPr>
        <p:txBody>
          <a:bodyPr>
            <a:normAutofit/>
          </a:bodyPr>
          <a:lstStyle/>
          <a:p>
            <a:pPr algn="l"/>
            <a:r>
              <a:rPr lang="en-SG" sz="2000" b="1" dirty="0"/>
              <a:t>Specialist Diploma in Applied Artificial Intelligence</a:t>
            </a:r>
          </a:p>
          <a:p>
            <a:pPr algn="l"/>
            <a:r>
              <a:rPr lang="en-SG" sz="2000" b="1" dirty="0"/>
              <a:t>Capstone Project 2021</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75736A2-AF80-E12D-84D6-B8A96AE38D80}"/>
              </a:ext>
            </a:extLst>
          </p:cNvPr>
          <p:cNvPicPr>
            <a:picLocks noChangeAspect="1"/>
          </p:cNvPicPr>
          <p:nvPr/>
        </p:nvPicPr>
        <p:blipFill>
          <a:blip r:embed="rId3"/>
          <a:stretch>
            <a:fillRect/>
          </a:stretch>
        </p:blipFill>
        <p:spPr>
          <a:xfrm>
            <a:off x="1" y="21928"/>
            <a:ext cx="4023358" cy="827403"/>
          </a:xfrm>
          <a:prstGeom prst="rect">
            <a:avLst/>
          </a:prstGeom>
        </p:spPr>
      </p:pic>
      <p:sp>
        <p:nvSpPr>
          <p:cNvPr id="7" name="Date Placeholder 6">
            <a:extLst>
              <a:ext uri="{FF2B5EF4-FFF2-40B4-BE49-F238E27FC236}">
                <a16:creationId xmlns:a16="http://schemas.microsoft.com/office/drawing/2014/main" id="{EF16998D-6539-CCAF-19CB-39D0361E1616}"/>
              </a:ext>
            </a:extLst>
          </p:cNvPr>
          <p:cNvSpPr>
            <a:spLocks noGrp="1"/>
          </p:cNvSpPr>
          <p:nvPr>
            <p:ph type="dt" sz="half" idx="10"/>
          </p:nvPr>
        </p:nvSpPr>
        <p:spPr/>
        <p:txBody>
          <a:bodyPr/>
          <a:lstStyle/>
          <a:p>
            <a:fld id="{0A0F8494-523B-4391-9EB8-3332AA40B299}" type="datetime1">
              <a:rPr lang="en-SG" smtClean="0"/>
              <a:t>14/8/2026</a:t>
            </a:fld>
            <a:endParaRPr lang="en-SG"/>
          </a:p>
        </p:txBody>
      </p:sp>
      <p:sp>
        <p:nvSpPr>
          <p:cNvPr id="8" name="Footer Placeholder 7">
            <a:extLst>
              <a:ext uri="{FF2B5EF4-FFF2-40B4-BE49-F238E27FC236}">
                <a16:creationId xmlns:a16="http://schemas.microsoft.com/office/drawing/2014/main" id="{FBA60E85-5182-F943-9AF5-A23289961378}"/>
              </a:ext>
            </a:extLst>
          </p:cNvPr>
          <p:cNvSpPr>
            <a:spLocks noGrp="1"/>
          </p:cNvSpPr>
          <p:nvPr>
            <p:ph type="ftr" sz="quarter" idx="11"/>
          </p:nvPr>
        </p:nvSpPr>
        <p:spPr/>
        <p:txBody>
          <a:bodyPr/>
          <a:lstStyle/>
          <a:p>
            <a:r>
              <a:rPr lang="en-SG"/>
              <a:t>RP/SDAAI/Capstone Project 2021</a:t>
            </a:r>
          </a:p>
        </p:txBody>
      </p:sp>
      <p:sp>
        <p:nvSpPr>
          <p:cNvPr id="10" name="Slide Number Placeholder 9">
            <a:extLst>
              <a:ext uri="{FF2B5EF4-FFF2-40B4-BE49-F238E27FC236}">
                <a16:creationId xmlns:a16="http://schemas.microsoft.com/office/drawing/2014/main" id="{766B6400-2B60-924A-A93F-C50F6CFCF6F9}"/>
              </a:ext>
            </a:extLst>
          </p:cNvPr>
          <p:cNvSpPr>
            <a:spLocks noGrp="1"/>
          </p:cNvSpPr>
          <p:nvPr>
            <p:ph type="sldNum" sz="quarter" idx="12"/>
          </p:nvPr>
        </p:nvSpPr>
        <p:spPr/>
        <p:txBody>
          <a:bodyPr/>
          <a:lstStyle/>
          <a:p>
            <a:fld id="{7B5FF986-6745-4566-9357-372A6AE080A5}" type="slidenum">
              <a:rPr lang="en-SG" smtClean="0"/>
              <a:t>1</a:t>
            </a:fld>
            <a:endParaRPr lang="en-SG"/>
          </a:p>
        </p:txBody>
      </p:sp>
    </p:spTree>
    <p:extLst>
      <p:ext uri="{BB962C8B-B14F-4D97-AF65-F5344CB8AC3E}">
        <p14:creationId xmlns:p14="http://schemas.microsoft.com/office/powerpoint/2010/main" val="1279332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4" name="Rectangle 1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46092-5670-08C4-1E10-85CD508DE499}"/>
              </a:ext>
            </a:extLst>
          </p:cNvPr>
          <p:cNvSpPr>
            <a:spLocks noGrp="1"/>
          </p:cNvSpPr>
          <p:nvPr>
            <p:ph type="title"/>
          </p:nvPr>
        </p:nvSpPr>
        <p:spPr>
          <a:xfrm>
            <a:off x="761803" y="350196"/>
            <a:ext cx="4646904" cy="1624520"/>
          </a:xfrm>
        </p:spPr>
        <p:txBody>
          <a:bodyPr anchor="ctr">
            <a:normAutofit/>
          </a:bodyPr>
          <a:lstStyle/>
          <a:p>
            <a:r>
              <a:rPr lang="en-SG" sz="4000"/>
              <a:t>Problem Statement</a:t>
            </a:r>
          </a:p>
        </p:txBody>
      </p:sp>
      <p:sp>
        <p:nvSpPr>
          <p:cNvPr id="3" name="Content Placeholder 2">
            <a:extLst>
              <a:ext uri="{FF2B5EF4-FFF2-40B4-BE49-F238E27FC236}">
                <a16:creationId xmlns:a16="http://schemas.microsoft.com/office/drawing/2014/main" id="{997F5CC2-B8E3-CDF6-6320-0C2797090782}"/>
              </a:ext>
            </a:extLst>
          </p:cNvPr>
          <p:cNvSpPr>
            <a:spLocks noGrp="1"/>
          </p:cNvSpPr>
          <p:nvPr>
            <p:ph idx="1"/>
          </p:nvPr>
        </p:nvSpPr>
        <p:spPr>
          <a:xfrm>
            <a:off x="761802" y="2324912"/>
            <a:ext cx="4840345" cy="4031437"/>
          </a:xfrm>
        </p:spPr>
        <p:txBody>
          <a:bodyPr anchor="ctr">
            <a:normAutofit lnSpcReduction="10000"/>
          </a:bodyPr>
          <a:lstStyle/>
          <a:p>
            <a:r>
              <a:rPr lang="en-SG" sz="2000" dirty="0"/>
              <a:t>Singapore airlines receives a large volume of customer reviews containing valuable feedback about passengers’ experiences. </a:t>
            </a:r>
          </a:p>
          <a:p>
            <a:r>
              <a:rPr lang="en-SG" sz="2000" dirty="0"/>
              <a:t>However, manually analysing these reviews can be time-consuming and may make it difficult to identify common concerns, positive experiences, and patterns in customer feedback. </a:t>
            </a:r>
          </a:p>
          <a:p>
            <a:r>
              <a:rPr lang="en-SG" sz="2000" dirty="0"/>
              <a:t>Therefore, text analytics techniques are needed to systematically analyse the reviews and uncover meaningful insights into customer sentiment, key topics, and different groups of customer experiences. </a:t>
            </a:r>
          </a:p>
        </p:txBody>
      </p:sp>
      <p:sp>
        <p:nvSpPr>
          <p:cNvPr id="4" name="Date Placeholder 3">
            <a:extLst>
              <a:ext uri="{FF2B5EF4-FFF2-40B4-BE49-F238E27FC236}">
                <a16:creationId xmlns:a16="http://schemas.microsoft.com/office/drawing/2014/main" id="{B0046BAB-FBED-7617-9562-CFC8D2EA8794}"/>
              </a:ext>
            </a:extLst>
          </p:cNvPr>
          <p:cNvSpPr>
            <a:spLocks noGrp="1"/>
          </p:cNvSpPr>
          <p:nvPr>
            <p:ph type="dt" sz="half" idx="10"/>
          </p:nvPr>
        </p:nvSpPr>
        <p:spPr>
          <a:xfrm>
            <a:off x="761802" y="6356350"/>
            <a:ext cx="2819598" cy="365125"/>
          </a:xfrm>
        </p:spPr>
        <p:txBody>
          <a:bodyPr>
            <a:normAutofit/>
          </a:bodyPr>
          <a:lstStyle/>
          <a:p>
            <a:pPr>
              <a:spcAft>
                <a:spcPts val="600"/>
              </a:spcAft>
            </a:pPr>
            <a:fld id="{B4DB8678-2A6F-473C-A73B-857D27FA43D7}" type="datetime1">
              <a:rPr lang="en-SG">
                <a:solidFill>
                  <a:schemeClr val="tx1"/>
                </a:solidFill>
              </a:rPr>
              <a:pPr>
                <a:spcAft>
                  <a:spcPts val="600"/>
                </a:spcAft>
              </a:pPr>
              <a:t>14/8/2026</a:t>
            </a:fld>
            <a:endParaRPr lang="en-SG">
              <a:solidFill>
                <a:schemeClr val="tx1"/>
              </a:solidFill>
            </a:endParaRPr>
          </a:p>
        </p:txBody>
      </p:sp>
      <p:pic>
        <p:nvPicPr>
          <p:cNvPr id="8" name="Picture 7" descr="Pen placed on top of a signature line">
            <a:extLst>
              <a:ext uri="{FF2B5EF4-FFF2-40B4-BE49-F238E27FC236}">
                <a16:creationId xmlns:a16="http://schemas.microsoft.com/office/drawing/2014/main" id="{5E81B26D-CF6E-7FB3-19E3-93AF41A987AC}"/>
              </a:ext>
            </a:extLst>
          </p:cNvPr>
          <p:cNvPicPr>
            <a:picLocks noChangeAspect="1"/>
          </p:cNvPicPr>
          <p:nvPr/>
        </p:nvPicPr>
        <p:blipFill>
          <a:blip r:embed="rId2"/>
          <a:srcRect l="40601" r="-2" b="-2"/>
          <a:stretch>
            <a:fillRect/>
          </a:stretch>
        </p:blipFill>
        <p:spPr>
          <a:xfrm>
            <a:off x="6096000" y="1"/>
            <a:ext cx="6102825" cy="6858000"/>
          </a:xfrm>
          <a:prstGeom prst="rect">
            <a:avLst/>
          </a:prstGeom>
        </p:spPr>
      </p:pic>
      <p:sp>
        <p:nvSpPr>
          <p:cNvPr id="5" name="Footer Placeholder 4">
            <a:extLst>
              <a:ext uri="{FF2B5EF4-FFF2-40B4-BE49-F238E27FC236}">
                <a16:creationId xmlns:a16="http://schemas.microsoft.com/office/drawing/2014/main" id="{DC3CDFE7-8B4E-37D2-FA70-B30D9302AE5B}"/>
              </a:ext>
            </a:extLst>
          </p:cNvPr>
          <p:cNvSpPr>
            <a:spLocks noGrp="1"/>
          </p:cNvSpPr>
          <p:nvPr>
            <p:ph type="ftr" sz="quarter" idx="11"/>
          </p:nvPr>
        </p:nvSpPr>
        <p:spPr>
          <a:xfrm>
            <a:off x="6478073" y="6356350"/>
            <a:ext cx="3303431" cy="365125"/>
          </a:xfrm>
        </p:spPr>
        <p:txBody>
          <a:bodyPr>
            <a:normAutofit/>
          </a:bodyPr>
          <a:lstStyle/>
          <a:p>
            <a:pPr algn="l">
              <a:spcAft>
                <a:spcPts val="600"/>
              </a:spcAft>
            </a:pPr>
            <a:r>
              <a:rPr lang="en-SG">
                <a:solidFill>
                  <a:srgbClr val="FFFFFF"/>
                </a:solidFill>
              </a:rPr>
              <a:t>RP/SDAAI/Capstone Project 2021</a:t>
            </a:r>
          </a:p>
        </p:txBody>
      </p:sp>
      <p:sp>
        <p:nvSpPr>
          <p:cNvPr id="6" name="Slide Number Placeholder 5">
            <a:extLst>
              <a:ext uri="{FF2B5EF4-FFF2-40B4-BE49-F238E27FC236}">
                <a16:creationId xmlns:a16="http://schemas.microsoft.com/office/drawing/2014/main" id="{44D62F3C-6D88-186F-BD28-195356A84019}"/>
              </a:ext>
            </a:extLst>
          </p:cNvPr>
          <p:cNvSpPr>
            <a:spLocks noGrp="1"/>
          </p:cNvSpPr>
          <p:nvPr>
            <p:ph type="sldNum" sz="quarter" idx="12"/>
          </p:nvPr>
        </p:nvSpPr>
        <p:spPr>
          <a:xfrm>
            <a:off x="8732520" y="6356350"/>
            <a:ext cx="3200400" cy="365125"/>
          </a:xfrm>
        </p:spPr>
        <p:txBody>
          <a:bodyPr>
            <a:normAutofit/>
          </a:bodyPr>
          <a:lstStyle/>
          <a:p>
            <a:pPr>
              <a:spcAft>
                <a:spcPts val="600"/>
              </a:spcAft>
            </a:pPr>
            <a:fld id="{7B5FF986-6745-4566-9357-372A6AE080A5}" type="slidenum">
              <a:rPr lang="en-SG">
                <a:solidFill>
                  <a:srgbClr val="FFFFFF"/>
                </a:solidFill>
              </a:rPr>
              <a:pPr>
                <a:spcAft>
                  <a:spcPts val="600"/>
                </a:spcAft>
              </a:pPr>
              <a:t>2</a:t>
            </a:fld>
            <a:endParaRPr lang="en-SG">
              <a:solidFill>
                <a:srgbClr val="FFFFFF"/>
              </a:solidFill>
            </a:endParaRPr>
          </a:p>
        </p:txBody>
      </p:sp>
    </p:spTree>
    <p:extLst>
      <p:ext uri="{BB962C8B-B14F-4D97-AF65-F5344CB8AC3E}">
        <p14:creationId xmlns:p14="http://schemas.microsoft.com/office/powerpoint/2010/main" val="2232507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16"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AADA13A-0384-D990-26E3-80A296C56747}"/>
              </a:ext>
            </a:extLst>
          </p:cNvPr>
          <p:cNvSpPr>
            <a:spLocks noGrp="1"/>
          </p:cNvSpPr>
          <p:nvPr>
            <p:ph type="title"/>
          </p:nvPr>
        </p:nvSpPr>
        <p:spPr>
          <a:xfrm>
            <a:off x="789708" y="841664"/>
            <a:ext cx="4874661" cy="5156800"/>
          </a:xfrm>
        </p:spPr>
        <p:txBody>
          <a:bodyPr vert="horz" lIns="91440" tIns="45720" rIns="91440" bIns="45720" rtlCol="0" anchor="ctr">
            <a:normAutofit/>
          </a:bodyPr>
          <a:lstStyle/>
          <a:p>
            <a:r>
              <a:rPr lang="en-US" sz="4800" kern="1200">
                <a:solidFill>
                  <a:schemeClr val="bg1"/>
                </a:solidFill>
                <a:latin typeface="+mj-lt"/>
                <a:ea typeface="+mj-ea"/>
                <a:cs typeface="+mj-cs"/>
              </a:rPr>
              <a:t>Project Objectives</a:t>
            </a:r>
          </a:p>
        </p:txBody>
      </p:sp>
      <p:sp>
        <p:nvSpPr>
          <p:cNvPr id="3" name="Content Placeholder 2">
            <a:extLst>
              <a:ext uri="{FF2B5EF4-FFF2-40B4-BE49-F238E27FC236}">
                <a16:creationId xmlns:a16="http://schemas.microsoft.com/office/drawing/2014/main" id="{559E6529-390E-291E-D9EC-7D6B94A829A0}"/>
              </a:ext>
            </a:extLst>
          </p:cNvPr>
          <p:cNvSpPr>
            <a:spLocks noGrp="1"/>
          </p:cNvSpPr>
          <p:nvPr>
            <p:ph idx="1"/>
          </p:nvPr>
        </p:nvSpPr>
        <p:spPr>
          <a:xfrm>
            <a:off x="6534687" y="1183305"/>
            <a:ext cx="4867605" cy="5156800"/>
          </a:xfrm>
        </p:spPr>
        <p:txBody>
          <a:bodyPr vert="horz" lIns="91440" tIns="45720" rIns="91440" bIns="45720" rtlCol="0" anchor="ctr">
            <a:normAutofit fontScale="92500" lnSpcReduction="10000"/>
          </a:bodyPr>
          <a:lstStyle/>
          <a:p>
            <a:pPr marL="457200" indent="-457200">
              <a:buFont typeface="+mj-lt"/>
              <a:buAutoNum type="arabicPeriod"/>
            </a:pPr>
            <a:r>
              <a:rPr lang="en-US" sz="2400" b="1" dirty="0">
                <a:solidFill>
                  <a:schemeClr val="tx2"/>
                </a:solidFill>
              </a:rPr>
              <a:t>Analyze customer sentiment </a:t>
            </a:r>
            <a:r>
              <a:rPr lang="en-US" sz="2400" dirty="0">
                <a:solidFill>
                  <a:schemeClr val="tx2"/>
                </a:solidFill>
              </a:rPr>
              <a:t>in Singapore Airlines reviews to identify positive or negative feedback and determine the main words associated with each sentiment. </a:t>
            </a:r>
          </a:p>
          <a:p>
            <a:pPr marL="457200" indent="-457200">
              <a:buFont typeface="+mj-lt"/>
              <a:buAutoNum type="arabicPeriod"/>
            </a:pPr>
            <a:r>
              <a:rPr lang="en-US" sz="2400" b="1" dirty="0">
                <a:solidFill>
                  <a:schemeClr val="tx2"/>
                </a:solidFill>
              </a:rPr>
              <a:t>Identify key topics and patterns </a:t>
            </a:r>
            <a:r>
              <a:rPr lang="en-US" sz="2400" dirty="0">
                <a:solidFill>
                  <a:schemeClr val="tx2"/>
                </a:solidFill>
              </a:rPr>
              <a:t>in reviews using topic modelling and clustering to understand the main areas of customer experience. </a:t>
            </a:r>
          </a:p>
          <a:p>
            <a:pPr marL="457200" indent="-457200">
              <a:buFont typeface="+mj-lt"/>
              <a:buAutoNum type="arabicPeriod"/>
            </a:pPr>
            <a:r>
              <a:rPr lang="en-US" sz="2400" b="1" dirty="0">
                <a:solidFill>
                  <a:schemeClr val="tx2"/>
                </a:solidFill>
              </a:rPr>
              <a:t>Develop a text classification model </a:t>
            </a:r>
            <a:r>
              <a:rPr lang="en-US" sz="2400" dirty="0">
                <a:solidFill>
                  <a:schemeClr val="tx2"/>
                </a:solidFill>
              </a:rPr>
              <a:t>using sentiment, dominant topic, and cluster as features to classify customer satisfaction into low, neutral, and high rating categories. </a:t>
            </a:r>
          </a:p>
          <a:p>
            <a:pPr marL="457200" indent="-457200">
              <a:buFont typeface="+mj-lt"/>
              <a:buAutoNum type="arabicPeriod"/>
            </a:pPr>
            <a:endParaRPr lang="en-US" sz="2400" kern="1200" dirty="0">
              <a:solidFill>
                <a:schemeClr val="tx2"/>
              </a:solidFill>
              <a:latin typeface="+mn-lt"/>
              <a:ea typeface="+mn-ea"/>
              <a:cs typeface="+mn-cs"/>
            </a:endParaRPr>
          </a:p>
        </p:txBody>
      </p:sp>
      <p:sp>
        <p:nvSpPr>
          <p:cNvPr id="4" name="Date Placeholder 3">
            <a:extLst>
              <a:ext uri="{FF2B5EF4-FFF2-40B4-BE49-F238E27FC236}">
                <a16:creationId xmlns:a16="http://schemas.microsoft.com/office/drawing/2014/main" id="{7971226C-9C8A-FED4-4385-717FED9EFCC8}"/>
              </a:ext>
            </a:extLst>
          </p:cNvPr>
          <p:cNvSpPr>
            <a:spLocks noGrp="1"/>
          </p:cNvSpPr>
          <p:nvPr>
            <p:ph type="dt" sz="half" idx="10"/>
          </p:nvPr>
        </p:nvSpPr>
        <p:spPr>
          <a:xfrm rot="5400000">
            <a:off x="10725312" y="983777"/>
            <a:ext cx="2286000" cy="640080"/>
          </a:xfrm>
        </p:spPr>
        <p:txBody>
          <a:bodyPr vert="horz" lIns="91440" tIns="45720" rIns="91440" bIns="45720" rtlCol="0" anchor="ctr">
            <a:normAutofit/>
          </a:bodyPr>
          <a:lstStyle/>
          <a:p>
            <a:pPr algn="r">
              <a:spcAft>
                <a:spcPts val="600"/>
              </a:spcAft>
            </a:pPr>
            <a:fld id="{B4DB8678-2A6F-473C-A73B-857D27FA43D7}" type="datetime1">
              <a:rPr lang="en-US" sz="1000">
                <a:solidFill>
                  <a:schemeClr val="tx2"/>
                </a:solidFill>
              </a:rPr>
              <a:pPr algn="r">
                <a:spcAft>
                  <a:spcPts val="600"/>
                </a:spcAft>
              </a:pPr>
              <a:t>8/14/2026</a:t>
            </a:fld>
            <a:endParaRPr lang="en-US" sz="1000">
              <a:solidFill>
                <a:schemeClr val="tx2"/>
              </a:solidFill>
            </a:endParaRPr>
          </a:p>
        </p:txBody>
      </p:sp>
      <p:sp>
        <p:nvSpPr>
          <p:cNvPr id="5" name="Footer Placeholder 4">
            <a:extLst>
              <a:ext uri="{FF2B5EF4-FFF2-40B4-BE49-F238E27FC236}">
                <a16:creationId xmlns:a16="http://schemas.microsoft.com/office/drawing/2014/main" id="{34FE4AE6-B65A-D188-1369-193ED8292799}"/>
              </a:ext>
            </a:extLst>
          </p:cNvPr>
          <p:cNvSpPr>
            <a:spLocks noGrp="1"/>
          </p:cNvSpPr>
          <p:nvPr>
            <p:ph type="ftr" sz="quarter" idx="11"/>
          </p:nvPr>
        </p:nvSpPr>
        <p:spPr>
          <a:xfrm rot="5400000">
            <a:off x="10039513" y="4033684"/>
            <a:ext cx="3657600" cy="640080"/>
          </a:xfrm>
        </p:spPr>
        <p:txBody>
          <a:bodyPr vert="horz" lIns="91440" tIns="45720" rIns="91440" bIns="45720" rtlCol="0" anchor="ctr">
            <a:normAutofit/>
          </a:bodyPr>
          <a:lstStyle/>
          <a:p>
            <a:pPr>
              <a:spcAft>
                <a:spcPts val="600"/>
              </a:spcAft>
            </a:pPr>
            <a:r>
              <a:rPr lang="en-US" sz="1000" kern="1200">
                <a:solidFill>
                  <a:schemeClr val="tx2"/>
                </a:solidFill>
                <a:latin typeface="+mn-lt"/>
                <a:ea typeface="+mn-ea"/>
                <a:cs typeface="+mn-cs"/>
              </a:rPr>
              <a:t>RP/SDAAI/Capstone Project 2021</a:t>
            </a:r>
          </a:p>
        </p:txBody>
      </p:sp>
      <p:sp>
        <p:nvSpPr>
          <p:cNvPr id="6" name="Slide Number Placeholder 5">
            <a:extLst>
              <a:ext uri="{FF2B5EF4-FFF2-40B4-BE49-F238E27FC236}">
                <a16:creationId xmlns:a16="http://schemas.microsoft.com/office/drawing/2014/main" id="{E317C79E-4D14-3079-AA92-D1FE6440902E}"/>
              </a:ext>
            </a:extLst>
          </p:cNvPr>
          <p:cNvSpPr>
            <a:spLocks noGrp="1"/>
          </p:cNvSpPr>
          <p:nvPr>
            <p:ph type="sldNum" sz="quarter" idx="12"/>
          </p:nvPr>
        </p:nvSpPr>
        <p:spPr>
          <a:xfrm>
            <a:off x="11548272" y="6217920"/>
            <a:ext cx="640080" cy="640080"/>
          </a:xfrm>
        </p:spPr>
        <p:txBody>
          <a:bodyPr vert="horz" lIns="91440" tIns="45720" rIns="91440" bIns="45720" rtlCol="0" anchor="ctr">
            <a:normAutofit/>
          </a:bodyPr>
          <a:lstStyle/>
          <a:p>
            <a:pPr algn="ctr">
              <a:spcAft>
                <a:spcPts val="600"/>
              </a:spcAft>
            </a:pPr>
            <a:fld id="{7B5FF986-6745-4566-9357-372A6AE080A5}" type="slidenum">
              <a:rPr lang="en-US" sz="1600">
                <a:solidFill>
                  <a:schemeClr val="tx2"/>
                </a:solidFill>
              </a:rPr>
              <a:pPr algn="ctr">
                <a:spcAft>
                  <a:spcPts val="600"/>
                </a:spcAft>
              </a:pPr>
              <a:t>3</a:t>
            </a:fld>
            <a:endParaRPr lang="en-US" sz="1600">
              <a:solidFill>
                <a:schemeClr val="tx2"/>
              </a:solidFill>
            </a:endParaRPr>
          </a:p>
        </p:txBody>
      </p:sp>
    </p:spTree>
    <p:extLst>
      <p:ext uri="{BB962C8B-B14F-4D97-AF65-F5344CB8AC3E}">
        <p14:creationId xmlns:p14="http://schemas.microsoft.com/office/powerpoint/2010/main" val="1314366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Freeform: Shape 25">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E9E1C7-2B5B-CCDB-D5F6-06EEC7FE4A0C}"/>
              </a:ext>
            </a:extLst>
          </p:cNvPr>
          <p:cNvSpPr>
            <a:spLocks noGrp="1"/>
          </p:cNvSpPr>
          <p:nvPr>
            <p:ph type="title"/>
          </p:nvPr>
        </p:nvSpPr>
        <p:spPr>
          <a:xfrm>
            <a:off x="621792" y="1161288"/>
            <a:ext cx="3602736" cy="4526280"/>
          </a:xfrm>
        </p:spPr>
        <p:txBody>
          <a:bodyPr>
            <a:normAutofit/>
          </a:bodyPr>
          <a:lstStyle/>
          <a:p>
            <a:r>
              <a:rPr lang="en-SG" sz="4000">
                <a:latin typeface="Calibri" panose="020F0502020204030204" pitchFamily="34" charset="0"/>
                <a:ea typeface="Calibri" panose="020F0502020204030204" pitchFamily="34" charset="0"/>
                <a:cs typeface="Calibri" panose="020F0502020204030204" pitchFamily="34" charset="0"/>
              </a:rPr>
              <a:t>What is Sentiment Analysis (VADER)?</a:t>
            </a:r>
          </a:p>
        </p:txBody>
      </p:sp>
      <p:sp>
        <p:nvSpPr>
          <p:cNvPr id="28" name="Rectangle 2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02D66B8F-CA94-1427-4DDB-26994BBE1FC4}"/>
              </a:ext>
            </a:extLst>
          </p:cNvPr>
          <p:cNvSpPr>
            <a:spLocks noGrp="1"/>
          </p:cNvSpPr>
          <p:nvPr>
            <p:ph type="dt" sz="half" idx="10"/>
          </p:nvPr>
        </p:nvSpPr>
        <p:spPr>
          <a:xfrm>
            <a:off x="621792" y="6356350"/>
            <a:ext cx="2743200" cy="365125"/>
          </a:xfrm>
        </p:spPr>
        <p:txBody>
          <a:bodyPr>
            <a:normAutofit/>
          </a:bodyPr>
          <a:lstStyle/>
          <a:p>
            <a:pPr>
              <a:spcAft>
                <a:spcPts val="600"/>
              </a:spcAft>
            </a:pPr>
            <a:fld id="{56527A8B-B932-4F17-B205-4FF8A9A7B805}" type="datetime1">
              <a:rPr lang="en-SG">
                <a:solidFill>
                  <a:schemeClr val="tx1">
                    <a:lumMod val="50000"/>
                    <a:lumOff val="50000"/>
                  </a:schemeClr>
                </a:solidFill>
              </a:rPr>
              <a:pPr>
                <a:spcAft>
                  <a:spcPts val="600"/>
                </a:spcAft>
              </a:pPr>
              <a:t>14/8/2026</a:t>
            </a:fld>
            <a:endParaRPr lang="en-SG">
              <a:solidFill>
                <a:schemeClr val="tx1">
                  <a:lumMod val="50000"/>
                  <a:lumOff val="50000"/>
                </a:schemeClr>
              </a:solidFill>
            </a:endParaRPr>
          </a:p>
        </p:txBody>
      </p:sp>
      <p:sp>
        <p:nvSpPr>
          <p:cNvPr id="5" name="Footer Placeholder 4">
            <a:extLst>
              <a:ext uri="{FF2B5EF4-FFF2-40B4-BE49-F238E27FC236}">
                <a16:creationId xmlns:a16="http://schemas.microsoft.com/office/drawing/2014/main" id="{56E11CA4-23A7-5AC3-E1E2-E2633DB257E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solidFill>
                  <a:schemeClr val="tx1">
                    <a:lumMod val="50000"/>
                    <a:lumOff val="50000"/>
                  </a:schemeClr>
                </a:solidFill>
              </a:rPr>
              <a:t>RP/SDAAI/Capstone Project 2021</a:t>
            </a:r>
          </a:p>
        </p:txBody>
      </p:sp>
      <p:sp>
        <p:nvSpPr>
          <p:cNvPr id="6" name="Slide Number Placeholder 5">
            <a:extLst>
              <a:ext uri="{FF2B5EF4-FFF2-40B4-BE49-F238E27FC236}">
                <a16:creationId xmlns:a16="http://schemas.microsoft.com/office/drawing/2014/main" id="{56D3D4AA-8762-4E4F-1711-7BE0A1DEF3C2}"/>
              </a:ext>
            </a:extLst>
          </p:cNvPr>
          <p:cNvSpPr>
            <a:spLocks noGrp="1"/>
          </p:cNvSpPr>
          <p:nvPr>
            <p:ph type="sldNum" sz="quarter" idx="12"/>
          </p:nvPr>
        </p:nvSpPr>
        <p:spPr>
          <a:xfrm>
            <a:off x="8801100" y="6356350"/>
            <a:ext cx="2743200" cy="365125"/>
          </a:xfrm>
        </p:spPr>
        <p:txBody>
          <a:bodyPr>
            <a:normAutofit/>
          </a:bodyPr>
          <a:lstStyle/>
          <a:p>
            <a:pPr>
              <a:spcAft>
                <a:spcPts val="600"/>
              </a:spcAft>
            </a:pPr>
            <a:fld id="{7B5FF986-6745-4566-9357-372A6AE080A5}" type="slidenum">
              <a:rPr lang="en-SG">
                <a:solidFill>
                  <a:schemeClr val="tx1">
                    <a:lumMod val="50000"/>
                    <a:lumOff val="50000"/>
                  </a:schemeClr>
                </a:solidFill>
              </a:rPr>
              <a:pPr>
                <a:spcAft>
                  <a:spcPts val="600"/>
                </a:spcAft>
              </a:pPr>
              <a:t>4</a:t>
            </a:fld>
            <a:endParaRPr lang="en-SG">
              <a:solidFill>
                <a:schemeClr val="tx1">
                  <a:lumMod val="50000"/>
                  <a:lumOff val="50000"/>
                </a:schemeClr>
              </a:solidFill>
            </a:endParaRPr>
          </a:p>
        </p:txBody>
      </p:sp>
      <p:graphicFrame>
        <p:nvGraphicFramePr>
          <p:cNvPr id="18" name="Content Placeholder 2">
            <a:extLst>
              <a:ext uri="{FF2B5EF4-FFF2-40B4-BE49-F238E27FC236}">
                <a16:creationId xmlns:a16="http://schemas.microsoft.com/office/drawing/2014/main" id="{98FC759D-FA03-C274-7D40-6B98A7A91715}"/>
              </a:ext>
            </a:extLst>
          </p:cNvPr>
          <p:cNvGraphicFramePr>
            <a:graphicFrameLocks noGrp="1"/>
          </p:cNvGraphicFramePr>
          <p:nvPr>
            <p:ph idx="1"/>
            <p:extLst>
              <p:ext uri="{D42A27DB-BD31-4B8C-83A1-F6EECF244321}">
                <p14:modId xmlns:p14="http://schemas.microsoft.com/office/powerpoint/2010/main" val="179130755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9859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235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696D2-5F22-8CE6-797D-32237101413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Calibri" panose="020F0502020204030204" pitchFamily="34" charset="0"/>
                <a:ea typeface="Calibri" panose="020F0502020204030204" pitchFamily="34" charset="0"/>
                <a:cs typeface="Calibri" panose="020F0502020204030204" pitchFamily="34" charset="0"/>
              </a:rPr>
              <a:t>Sentiment Analysis</a:t>
            </a:r>
            <a:br>
              <a:rPr lang="en-US" sz="2600" kern="1200" dirty="0">
                <a:solidFill>
                  <a:srgbClr val="FFFFFF"/>
                </a:solidFill>
                <a:latin typeface="Calibri" panose="020F0502020204030204" pitchFamily="34" charset="0"/>
                <a:ea typeface="Calibri" panose="020F0502020204030204" pitchFamily="34" charset="0"/>
                <a:cs typeface="Calibri" panose="020F0502020204030204" pitchFamily="34" charset="0"/>
              </a:rPr>
            </a:br>
            <a:r>
              <a:rPr lang="en-US" sz="2600" kern="1200" dirty="0">
                <a:solidFill>
                  <a:srgbClr val="FFFFFF"/>
                </a:solidFill>
                <a:latin typeface="Calibri" panose="020F0502020204030204" pitchFamily="34" charset="0"/>
                <a:ea typeface="Calibri" panose="020F0502020204030204" pitchFamily="34" charset="0"/>
                <a:cs typeface="Calibri" panose="020F0502020204030204" pitchFamily="34" charset="0"/>
              </a:rPr>
              <a:t>Pipelines</a:t>
            </a:r>
          </a:p>
        </p:txBody>
      </p:sp>
      <p:pic>
        <p:nvPicPr>
          <p:cNvPr id="12" name="Picture 11">
            <a:extLst>
              <a:ext uri="{FF2B5EF4-FFF2-40B4-BE49-F238E27FC236}">
                <a16:creationId xmlns:a16="http://schemas.microsoft.com/office/drawing/2014/main" id="{2219C145-00A2-9249-C5CB-B7E405C19F65}"/>
              </a:ext>
            </a:extLst>
          </p:cNvPr>
          <p:cNvPicPr>
            <a:picLocks noChangeAspect="1"/>
          </p:cNvPicPr>
          <p:nvPr/>
        </p:nvPicPr>
        <p:blipFill>
          <a:blip r:embed="rId2"/>
          <a:stretch>
            <a:fillRect/>
          </a:stretch>
        </p:blipFill>
        <p:spPr>
          <a:xfrm>
            <a:off x="3581400" y="213398"/>
            <a:ext cx="8389062" cy="5134106"/>
          </a:xfrm>
          <a:prstGeom prst="rect">
            <a:avLst/>
          </a:prstGeom>
        </p:spPr>
      </p:pic>
      <p:sp>
        <p:nvSpPr>
          <p:cNvPr id="17" name="Date Placeholder 16">
            <a:extLst>
              <a:ext uri="{FF2B5EF4-FFF2-40B4-BE49-F238E27FC236}">
                <a16:creationId xmlns:a16="http://schemas.microsoft.com/office/drawing/2014/main" id="{6F3A5C5F-4C60-E551-58AB-B5F2C14D6C85}"/>
              </a:ext>
            </a:extLst>
          </p:cNvPr>
          <p:cNvSpPr>
            <a:spLocks noGrp="1"/>
          </p:cNvSpPr>
          <p:nvPr>
            <p:ph type="dt" sz="half" idx="10"/>
          </p:nvPr>
        </p:nvSpPr>
        <p:spPr/>
        <p:txBody>
          <a:bodyPr/>
          <a:lstStyle/>
          <a:p>
            <a:fld id="{5D5EE8AF-FFC3-450D-86B9-7DA9D5AF3011}" type="datetime1">
              <a:rPr lang="en-SG" smtClean="0"/>
              <a:t>14/8/2026</a:t>
            </a:fld>
            <a:endParaRPr lang="en-SG"/>
          </a:p>
        </p:txBody>
      </p:sp>
      <p:sp>
        <p:nvSpPr>
          <p:cNvPr id="18" name="Footer Placeholder 17">
            <a:extLst>
              <a:ext uri="{FF2B5EF4-FFF2-40B4-BE49-F238E27FC236}">
                <a16:creationId xmlns:a16="http://schemas.microsoft.com/office/drawing/2014/main" id="{2D24E87E-B074-DFB9-DB31-47D39F5AB738}"/>
              </a:ext>
            </a:extLst>
          </p:cNvPr>
          <p:cNvSpPr>
            <a:spLocks noGrp="1"/>
          </p:cNvSpPr>
          <p:nvPr>
            <p:ph type="ftr" sz="quarter" idx="11"/>
          </p:nvPr>
        </p:nvSpPr>
        <p:spPr/>
        <p:txBody>
          <a:bodyPr/>
          <a:lstStyle/>
          <a:p>
            <a:r>
              <a:rPr lang="en-SG"/>
              <a:t>RP/SDAAI/Capstone Project 2021</a:t>
            </a:r>
          </a:p>
        </p:txBody>
      </p:sp>
      <p:sp>
        <p:nvSpPr>
          <p:cNvPr id="19" name="Slide Number Placeholder 18">
            <a:extLst>
              <a:ext uri="{FF2B5EF4-FFF2-40B4-BE49-F238E27FC236}">
                <a16:creationId xmlns:a16="http://schemas.microsoft.com/office/drawing/2014/main" id="{83B4A793-C89A-5DD1-C158-396B2D4D3663}"/>
              </a:ext>
            </a:extLst>
          </p:cNvPr>
          <p:cNvSpPr>
            <a:spLocks noGrp="1"/>
          </p:cNvSpPr>
          <p:nvPr>
            <p:ph type="sldNum" sz="quarter" idx="12"/>
          </p:nvPr>
        </p:nvSpPr>
        <p:spPr/>
        <p:txBody>
          <a:bodyPr/>
          <a:lstStyle/>
          <a:p>
            <a:fld id="{7B5FF986-6745-4566-9357-372A6AE080A5}" type="slidenum">
              <a:rPr lang="en-SG" smtClean="0"/>
              <a:t>5</a:t>
            </a:fld>
            <a:endParaRPr lang="en-SG"/>
          </a:p>
        </p:txBody>
      </p:sp>
      <p:sp>
        <p:nvSpPr>
          <p:cNvPr id="20" name="Content Placeholder 2">
            <a:extLst>
              <a:ext uri="{FF2B5EF4-FFF2-40B4-BE49-F238E27FC236}">
                <a16:creationId xmlns:a16="http://schemas.microsoft.com/office/drawing/2014/main" id="{85743092-5478-8635-8F0A-4A72EB2E95D3}"/>
              </a:ext>
            </a:extLst>
          </p:cNvPr>
          <p:cNvSpPr>
            <a:spLocks noGrp="1"/>
          </p:cNvSpPr>
          <p:nvPr>
            <p:ph idx="1"/>
          </p:nvPr>
        </p:nvSpPr>
        <p:spPr>
          <a:xfrm>
            <a:off x="2246431" y="5208523"/>
            <a:ext cx="9724031" cy="1145160"/>
          </a:xfrm>
        </p:spPr>
        <p:txBody>
          <a:bodyPr anchor="ctr">
            <a:normAutofit/>
          </a:bodyPr>
          <a:lstStyle/>
          <a:p>
            <a:r>
              <a:rPr lang="en-SG" sz="2000" dirty="0">
                <a:latin typeface="Calibri" panose="020F0502020204030204" pitchFamily="34" charset="0"/>
                <a:ea typeface="Calibri" panose="020F0502020204030204" pitchFamily="34" charset="0"/>
                <a:cs typeface="Calibri" panose="020F0502020204030204" pitchFamily="34" charset="0"/>
              </a:rPr>
              <a:t>The pipeline imports and samples the review data, preprocesses the text, performs sentiment analysis, and generates separate word clouds and word enrichment results for positive and negative reviews. </a:t>
            </a:r>
          </a:p>
        </p:txBody>
      </p:sp>
    </p:spTree>
    <p:extLst>
      <p:ext uri="{BB962C8B-B14F-4D97-AF65-F5344CB8AC3E}">
        <p14:creationId xmlns:p14="http://schemas.microsoft.com/office/powerpoint/2010/main" val="205525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B89C13-7899-52DD-2D55-B3BBCA6670B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8258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93530E-4B43-224F-ADAA-6CD3D0D3FF9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Calibri" panose="020F0502020204030204" pitchFamily="34" charset="0"/>
                <a:ea typeface="Calibri" panose="020F0502020204030204" pitchFamily="34" charset="0"/>
                <a:cs typeface="Calibri" panose="020F0502020204030204" pitchFamily="34" charset="0"/>
              </a:rPr>
              <a:t>Sentiment Analysis</a:t>
            </a:r>
            <a:br>
              <a:rPr lang="en-US" sz="2600" kern="1200" dirty="0">
                <a:solidFill>
                  <a:srgbClr val="FFFFFF"/>
                </a:solidFill>
                <a:latin typeface="Calibri" panose="020F0502020204030204" pitchFamily="34" charset="0"/>
                <a:ea typeface="Calibri" panose="020F0502020204030204" pitchFamily="34" charset="0"/>
                <a:cs typeface="Calibri" panose="020F0502020204030204" pitchFamily="34" charset="0"/>
              </a:rPr>
            </a:br>
            <a:r>
              <a:rPr lang="en-US" sz="2600" kern="1200" dirty="0">
                <a:solidFill>
                  <a:srgbClr val="FFFFFF"/>
                </a:solidFill>
                <a:latin typeface="Calibri" panose="020F0502020204030204" pitchFamily="34" charset="0"/>
                <a:ea typeface="Calibri" panose="020F0502020204030204" pitchFamily="34" charset="0"/>
                <a:cs typeface="Calibri" panose="020F0502020204030204" pitchFamily="34" charset="0"/>
              </a:rPr>
              <a:t>Word Cloud &amp; Enrichment</a:t>
            </a:r>
          </a:p>
        </p:txBody>
      </p:sp>
      <p:pic>
        <p:nvPicPr>
          <p:cNvPr id="4" name="Picture 3">
            <a:extLst>
              <a:ext uri="{FF2B5EF4-FFF2-40B4-BE49-F238E27FC236}">
                <a16:creationId xmlns:a16="http://schemas.microsoft.com/office/drawing/2014/main" id="{0B979E5D-97E4-9BDD-61B9-7919B19DC1B7}"/>
              </a:ext>
            </a:extLst>
          </p:cNvPr>
          <p:cNvPicPr>
            <a:picLocks noChangeAspect="1"/>
          </p:cNvPicPr>
          <p:nvPr/>
        </p:nvPicPr>
        <p:blipFill>
          <a:blip r:embed="rId2"/>
          <a:stretch>
            <a:fillRect/>
          </a:stretch>
        </p:blipFill>
        <p:spPr>
          <a:xfrm>
            <a:off x="3675136" y="536470"/>
            <a:ext cx="4166206" cy="2709275"/>
          </a:xfrm>
          <a:prstGeom prst="rect">
            <a:avLst/>
          </a:prstGeom>
        </p:spPr>
      </p:pic>
      <p:pic>
        <p:nvPicPr>
          <p:cNvPr id="6" name="Picture 5">
            <a:extLst>
              <a:ext uri="{FF2B5EF4-FFF2-40B4-BE49-F238E27FC236}">
                <a16:creationId xmlns:a16="http://schemas.microsoft.com/office/drawing/2014/main" id="{56A1BBA4-D145-F79C-2A51-7F6717DCCB33}"/>
              </a:ext>
            </a:extLst>
          </p:cNvPr>
          <p:cNvPicPr>
            <a:picLocks noChangeAspect="1"/>
          </p:cNvPicPr>
          <p:nvPr/>
        </p:nvPicPr>
        <p:blipFill>
          <a:blip r:embed="rId3"/>
          <a:stretch>
            <a:fillRect/>
          </a:stretch>
        </p:blipFill>
        <p:spPr>
          <a:xfrm>
            <a:off x="3538086" y="3782215"/>
            <a:ext cx="4303256" cy="2757426"/>
          </a:xfrm>
          <a:prstGeom prst="rect">
            <a:avLst/>
          </a:prstGeom>
        </p:spPr>
      </p:pic>
      <p:pic>
        <p:nvPicPr>
          <p:cNvPr id="9" name="Picture 8">
            <a:extLst>
              <a:ext uri="{FF2B5EF4-FFF2-40B4-BE49-F238E27FC236}">
                <a16:creationId xmlns:a16="http://schemas.microsoft.com/office/drawing/2014/main" id="{A203995E-1E1E-EF3C-B480-5ADEB8940B5A}"/>
              </a:ext>
            </a:extLst>
          </p:cNvPr>
          <p:cNvPicPr>
            <a:picLocks noChangeAspect="1"/>
          </p:cNvPicPr>
          <p:nvPr/>
        </p:nvPicPr>
        <p:blipFill>
          <a:blip r:embed="rId4"/>
          <a:stretch>
            <a:fillRect/>
          </a:stretch>
        </p:blipFill>
        <p:spPr>
          <a:xfrm>
            <a:off x="8159426" y="718118"/>
            <a:ext cx="3592737" cy="2338801"/>
          </a:xfrm>
          <a:prstGeom prst="rect">
            <a:avLst/>
          </a:prstGeom>
        </p:spPr>
      </p:pic>
      <p:pic>
        <p:nvPicPr>
          <p:cNvPr id="13" name="Picture 12">
            <a:extLst>
              <a:ext uri="{FF2B5EF4-FFF2-40B4-BE49-F238E27FC236}">
                <a16:creationId xmlns:a16="http://schemas.microsoft.com/office/drawing/2014/main" id="{77CEAC81-DF0E-26DE-5EB8-D397605F9028}"/>
              </a:ext>
            </a:extLst>
          </p:cNvPr>
          <p:cNvPicPr>
            <a:picLocks noChangeAspect="1"/>
          </p:cNvPicPr>
          <p:nvPr/>
        </p:nvPicPr>
        <p:blipFill>
          <a:blip r:embed="rId5"/>
          <a:stretch>
            <a:fillRect/>
          </a:stretch>
        </p:blipFill>
        <p:spPr>
          <a:xfrm>
            <a:off x="8140250" y="3801082"/>
            <a:ext cx="3611913" cy="2403174"/>
          </a:xfrm>
          <a:prstGeom prst="rect">
            <a:avLst/>
          </a:prstGeom>
        </p:spPr>
      </p:pic>
      <p:sp>
        <p:nvSpPr>
          <p:cNvPr id="14" name="TextBox 13">
            <a:extLst>
              <a:ext uri="{FF2B5EF4-FFF2-40B4-BE49-F238E27FC236}">
                <a16:creationId xmlns:a16="http://schemas.microsoft.com/office/drawing/2014/main" id="{F8B032D4-E931-0367-3A0E-877EE14D1D15}"/>
              </a:ext>
            </a:extLst>
          </p:cNvPr>
          <p:cNvSpPr txBox="1"/>
          <p:nvPr/>
        </p:nvSpPr>
        <p:spPr>
          <a:xfrm>
            <a:off x="6680757" y="128571"/>
            <a:ext cx="2321170"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Positive Sentiment</a:t>
            </a:r>
          </a:p>
        </p:txBody>
      </p:sp>
      <p:sp>
        <p:nvSpPr>
          <p:cNvPr id="16" name="TextBox 15">
            <a:extLst>
              <a:ext uri="{FF2B5EF4-FFF2-40B4-BE49-F238E27FC236}">
                <a16:creationId xmlns:a16="http://schemas.microsoft.com/office/drawing/2014/main" id="{D770B5F1-F4CA-6DFC-33A9-BB118C3A1C07}"/>
              </a:ext>
            </a:extLst>
          </p:cNvPr>
          <p:cNvSpPr txBox="1"/>
          <p:nvPr/>
        </p:nvSpPr>
        <p:spPr>
          <a:xfrm>
            <a:off x="6852821" y="3302281"/>
            <a:ext cx="2321170"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Negative Sentiment</a:t>
            </a:r>
          </a:p>
        </p:txBody>
      </p:sp>
      <p:sp>
        <p:nvSpPr>
          <p:cNvPr id="18" name="Date Placeholder 17">
            <a:extLst>
              <a:ext uri="{FF2B5EF4-FFF2-40B4-BE49-F238E27FC236}">
                <a16:creationId xmlns:a16="http://schemas.microsoft.com/office/drawing/2014/main" id="{3D2FF6F9-AC22-2604-7FE3-0557771ECBAD}"/>
              </a:ext>
            </a:extLst>
          </p:cNvPr>
          <p:cNvSpPr>
            <a:spLocks noGrp="1"/>
          </p:cNvSpPr>
          <p:nvPr>
            <p:ph type="dt" sz="half" idx="10"/>
          </p:nvPr>
        </p:nvSpPr>
        <p:spPr/>
        <p:txBody>
          <a:bodyPr/>
          <a:lstStyle/>
          <a:p>
            <a:fld id="{FAB9DB65-725B-4F19-A020-F2438801572D}" type="datetime1">
              <a:rPr lang="en-SG" smtClean="0"/>
              <a:t>14/8/2026</a:t>
            </a:fld>
            <a:endParaRPr lang="en-SG"/>
          </a:p>
        </p:txBody>
      </p:sp>
      <p:sp>
        <p:nvSpPr>
          <p:cNvPr id="20" name="Footer Placeholder 19">
            <a:extLst>
              <a:ext uri="{FF2B5EF4-FFF2-40B4-BE49-F238E27FC236}">
                <a16:creationId xmlns:a16="http://schemas.microsoft.com/office/drawing/2014/main" id="{3FAB927A-E97E-937F-5278-AF43D274191E}"/>
              </a:ext>
            </a:extLst>
          </p:cNvPr>
          <p:cNvSpPr>
            <a:spLocks noGrp="1"/>
          </p:cNvSpPr>
          <p:nvPr>
            <p:ph type="ftr" sz="quarter" idx="11"/>
          </p:nvPr>
        </p:nvSpPr>
        <p:spPr/>
        <p:txBody>
          <a:bodyPr/>
          <a:lstStyle/>
          <a:p>
            <a:r>
              <a:rPr lang="en-SG"/>
              <a:t>RP/SDAAI/Capstone Project 2021</a:t>
            </a:r>
          </a:p>
        </p:txBody>
      </p:sp>
      <p:sp>
        <p:nvSpPr>
          <p:cNvPr id="21" name="Slide Number Placeholder 20">
            <a:extLst>
              <a:ext uri="{FF2B5EF4-FFF2-40B4-BE49-F238E27FC236}">
                <a16:creationId xmlns:a16="http://schemas.microsoft.com/office/drawing/2014/main" id="{5D4D02B6-75E8-30AF-480A-7DF7A7401836}"/>
              </a:ext>
            </a:extLst>
          </p:cNvPr>
          <p:cNvSpPr>
            <a:spLocks noGrp="1"/>
          </p:cNvSpPr>
          <p:nvPr>
            <p:ph type="sldNum" sz="quarter" idx="12"/>
          </p:nvPr>
        </p:nvSpPr>
        <p:spPr/>
        <p:txBody>
          <a:bodyPr/>
          <a:lstStyle/>
          <a:p>
            <a:fld id="{7B5FF986-6745-4566-9357-372A6AE080A5}" type="slidenum">
              <a:rPr lang="en-SG" smtClean="0"/>
              <a:t>6</a:t>
            </a:fld>
            <a:endParaRPr lang="en-SG"/>
          </a:p>
        </p:txBody>
      </p:sp>
    </p:spTree>
    <p:extLst>
      <p:ext uri="{BB962C8B-B14F-4D97-AF65-F5344CB8AC3E}">
        <p14:creationId xmlns:p14="http://schemas.microsoft.com/office/powerpoint/2010/main" val="2576377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AF9745-270C-C0DE-E983-AB432547D72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A94737-2609-8C8A-1954-595EA683E278}"/>
              </a:ext>
            </a:extLst>
          </p:cNvPr>
          <p:cNvSpPr>
            <a:spLocks noGrp="1"/>
          </p:cNvSpPr>
          <p:nvPr>
            <p:ph type="title"/>
          </p:nvPr>
        </p:nvSpPr>
        <p:spPr>
          <a:xfrm>
            <a:off x="841248" y="256032"/>
            <a:ext cx="10506456" cy="1014984"/>
          </a:xfrm>
        </p:spPr>
        <p:txBody>
          <a:bodyPr anchor="b">
            <a:normAutofit/>
          </a:bodyPr>
          <a:lstStyle/>
          <a:p>
            <a:r>
              <a:rPr lang="en-SG">
                <a:latin typeface="Calibri" panose="020F0502020204030204" pitchFamily="34" charset="0"/>
                <a:ea typeface="Calibri" panose="020F0502020204030204" pitchFamily="34" charset="0"/>
                <a:cs typeface="Calibri" panose="020F0502020204030204" pitchFamily="34" charset="0"/>
              </a:rPr>
              <a:t>Insights from Sentiment Analysis</a:t>
            </a: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F82FA048-E7CF-AB21-1912-2643B88DDEF0}"/>
              </a:ext>
            </a:extLst>
          </p:cNvPr>
          <p:cNvSpPr>
            <a:spLocks noGrp="1"/>
          </p:cNvSpPr>
          <p:nvPr>
            <p:ph type="dt" sz="half" idx="10"/>
          </p:nvPr>
        </p:nvSpPr>
        <p:spPr>
          <a:xfrm>
            <a:off x="841248" y="6356350"/>
            <a:ext cx="2577503" cy="365125"/>
          </a:xfrm>
        </p:spPr>
        <p:txBody>
          <a:bodyPr>
            <a:normAutofit/>
          </a:bodyPr>
          <a:lstStyle/>
          <a:p>
            <a:pPr>
              <a:spcAft>
                <a:spcPts val="600"/>
              </a:spcAft>
            </a:pPr>
            <a:fld id="{56527A8B-B932-4F17-B205-4FF8A9A7B805}" type="datetime1">
              <a:rPr lang="en-SG">
                <a:solidFill>
                  <a:schemeClr val="tx1">
                    <a:lumMod val="50000"/>
                    <a:lumOff val="50000"/>
                  </a:schemeClr>
                </a:solidFill>
              </a:rPr>
              <a:pPr>
                <a:spcAft>
                  <a:spcPts val="600"/>
                </a:spcAft>
              </a:pPr>
              <a:t>14/8/2026</a:t>
            </a:fld>
            <a:endParaRPr lang="en-SG">
              <a:solidFill>
                <a:schemeClr val="tx1">
                  <a:lumMod val="50000"/>
                  <a:lumOff val="50000"/>
                </a:schemeClr>
              </a:solidFill>
            </a:endParaRPr>
          </a:p>
        </p:txBody>
      </p:sp>
      <p:sp>
        <p:nvSpPr>
          <p:cNvPr id="5" name="Footer Placeholder 4">
            <a:extLst>
              <a:ext uri="{FF2B5EF4-FFF2-40B4-BE49-F238E27FC236}">
                <a16:creationId xmlns:a16="http://schemas.microsoft.com/office/drawing/2014/main" id="{9A2D38E7-4E68-4CD9-C6B4-0E289DED7D4F}"/>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solidFill>
                  <a:schemeClr val="tx1">
                    <a:lumMod val="50000"/>
                    <a:lumOff val="50000"/>
                  </a:schemeClr>
                </a:solidFill>
              </a:rPr>
              <a:t>RP/SDAAI/Capstone Project 2021</a:t>
            </a:r>
          </a:p>
        </p:txBody>
      </p:sp>
      <p:sp>
        <p:nvSpPr>
          <p:cNvPr id="6" name="Slide Number Placeholder 5">
            <a:extLst>
              <a:ext uri="{FF2B5EF4-FFF2-40B4-BE49-F238E27FC236}">
                <a16:creationId xmlns:a16="http://schemas.microsoft.com/office/drawing/2014/main" id="{28507485-C69E-7C21-EEB1-9A43E8DE0C35}"/>
              </a:ext>
            </a:extLst>
          </p:cNvPr>
          <p:cNvSpPr>
            <a:spLocks noGrp="1"/>
          </p:cNvSpPr>
          <p:nvPr>
            <p:ph type="sldNum" sz="quarter" idx="12"/>
          </p:nvPr>
        </p:nvSpPr>
        <p:spPr>
          <a:xfrm>
            <a:off x="8873254" y="6356350"/>
            <a:ext cx="2477498" cy="365125"/>
          </a:xfrm>
        </p:spPr>
        <p:txBody>
          <a:bodyPr>
            <a:normAutofit/>
          </a:bodyPr>
          <a:lstStyle/>
          <a:p>
            <a:pPr>
              <a:spcAft>
                <a:spcPts val="600"/>
              </a:spcAft>
            </a:pPr>
            <a:fld id="{7B5FF986-6745-4566-9357-372A6AE080A5}" type="slidenum">
              <a:rPr lang="en-SG">
                <a:solidFill>
                  <a:schemeClr val="tx1">
                    <a:lumMod val="50000"/>
                    <a:lumOff val="50000"/>
                  </a:schemeClr>
                </a:solidFill>
              </a:rPr>
              <a:pPr>
                <a:spcAft>
                  <a:spcPts val="600"/>
                </a:spcAft>
              </a:pPr>
              <a:t>7</a:t>
            </a:fld>
            <a:endParaRPr lang="en-SG">
              <a:solidFill>
                <a:schemeClr val="tx1">
                  <a:lumMod val="50000"/>
                  <a:lumOff val="50000"/>
                </a:schemeClr>
              </a:solidFill>
            </a:endParaRPr>
          </a:p>
        </p:txBody>
      </p:sp>
      <p:graphicFrame>
        <p:nvGraphicFramePr>
          <p:cNvPr id="8" name="Content Placeholder 2">
            <a:extLst>
              <a:ext uri="{FF2B5EF4-FFF2-40B4-BE49-F238E27FC236}">
                <a16:creationId xmlns:a16="http://schemas.microsoft.com/office/drawing/2014/main" id="{393418BC-A968-83D5-42D8-29538FD948A5}"/>
              </a:ext>
            </a:extLst>
          </p:cNvPr>
          <p:cNvGraphicFramePr>
            <a:graphicFrameLocks noGrp="1"/>
          </p:cNvGraphicFramePr>
          <p:nvPr>
            <p:ph idx="1"/>
            <p:extLst>
              <p:ext uri="{D42A27DB-BD31-4B8C-83A1-F6EECF244321}">
                <p14:modId xmlns:p14="http://schemas.microsoft.com/office/powerpoint/2010/main" val="171206606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3602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8F91B8-D900-1BFF-D99F-E149F1BDB256}"/>
              </a:ext>
            </a:extLst>
          </p:cNvPr>
          <p:cNvSpPr>
            <a:spLocks noGrp="1"/>
          </p:cNvSpPr>
          <p:nvPr>
            <p:ph type="title"/>
          </p:nvPr>
        </p:nvSpPr>
        <p:spPr>
          <a:xfrm>
            <a:off x="635000" y="640823"/>
            <a:ext cx="3418659" cy="5583148"/>
          </a:xfrm>
        </p:spPr>
        <p:txBody>
          <a:bodyPr anchor="ctr">
            <a:normAutofit/>
          </a:bodyPr>
          <a:lstStyle/>
          <a:p>
            <a:r>
              <a:rPr lang="en-SG" sz="5000"/>
              <a:t>What is Hierarchical Clustering?</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2349600B-9A5E-4185-70A9-F3A0D19A913A}"/>
              </a:ext>
            </a:extLst>
          </p:cNvPr>
          <p:cNvSpPr>
            <a:spLocks noGrp="1"/>
          </p:cNvSpPr>
          <p:nvPr>
            <p:ph type="dt" sz="half" idx="10"/>
          </p:nvPr>
        </p:nvSpPr>
        <p:spPr>
          <a:xfrm>
            <a:off x="838200" y="6356350"/>
            <a:ext cx="2743200" cy="365125"/>
          </a:xfrm>
        </p:spPr>
        <p:txBody>
          <a:bodyPr>
            <a:normAutofit/>
          </a:bodyPr>
          <a:lstStyle/>
          <a:p>
            <a:pPr>
              <a:spcAft>
                <a:spcPts val="600"/>
              </a:spcAft>
            </a:pPr>
            <a:fld id="{B4DB8678-2A6F-473C-A73B-857D27FA43D7}" type="datetime1">
              <a:rPr lang="en-SG" smtClean="0"/>
              <a:pPr>
                <a:spcAft>
                  <a:spcPts val="600"/>
                </a:spcAft>
              </a:pPr>
              <a:t>14/8/2026</a:t>
            </a:fld>
            <a:endParaRPr lang="en-SG"/>
          </a:p>
        </p:txBody>
      </p:sp>
      <p:sp>
        <p:nvSpPr>
          <p:cNvPr id="5" name="Footer Placeholder 4">
            <a:extLst>
              <a:ext uri="{FF2B5EF4-FFF2-40B4-BE49-F238E27FC236}">
                <a16:creationId xmlns:a16="http://schemas.microsoft.com/office/drawing/2014/main" id="{3B7D0FCA-E20D-44A0-16E0-635E46A341A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6" name="Slide Number Placeholder 5">
            <a:extLst>
              <a:ext uri="{FF2B5EF4-FFF2-40B4-BE49-F238E27FC236}">
                <a16:creationId xmlns:a16="http://schemas.microsoft.com/office/drawing/2014/main" id="{1BED61ED-1BEF-FC08-15AC-666B2AE0142F}"/>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8</a:t>
            </a:fld>
            <a:endParaRPr lang="en-SG"/>
          </a:p>
        </p:txBody>
      </p:sp>
      <p:graphicFrame>
        <p:nvGraphicFramePr>
          <p:cNvPr id="8" name="Content Placeholder 2">
            <a:extLst>
              <a:ext uri="{FF2B5EF4-FFF2-40B4-BE49-F238E27FC236}">
                <a16:creationId xmlns:a16="http://schemas.microsoft.com/office/drawing/2014/main" id="{B5AB49EA-A135-BE96-B717-78A519E41547}"/>
              </a:ext>
            </a:extLst>
          </p:cNvPr>
          <p:cNvGraphicFramePr>
            <a:graphicFrameLocks noGrp="1"/>
          </p:cNvGraphicFramePr>
          <p:nvPr>
            <p:ph idx="1"/>
            <p:extLst>
              <p:ext uri="{D42A27DB-BD31-4B8C-83A1-F6EECF244321}">
                <p14:modId xmlns:p14="http://schemas.microsoft.com/office/powerpoint/2010/main" val="161463121"/>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65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34B189-2BA1-84F8-69CE-0BCEC8553494}"/>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3AC7B-2F4B-022B-74E4-AE7FE0D718E9}"/>
              </a:ext>
            </a:extLst>
          </p:cNvPr>
          <p:cNvSpPr>
            <a:spLocks noGrp="1"/>
          </p:cNvSpPr>
          <p:nvPr>
            <p:ph type="title"/>
          </p:nvPr>
        </p:nvSpPr>
        <p:spPr>
          <a:xfrm>
            <a:off x="630936" y="639520"/>
            <a:ext cx="3429000" cy="1719072"/>
          </a:xfrm>
          <a:prstGeom prst="ellipse">
            <a:avLst/>
          </a:prstGeom>
        </p:spPr>
        <p:txBody>
          <a:bodyPr vert="horz" lIns="91440" tIns="45720" rIns="91440" bIns="45720" rtlCol="0" anchor="b">
            <a:normAutofit fontScale="90000"/>
          </a:bodyPr>
          <a:lstStyle/>
          <a:p>
            <a:r>
              <a:rPr lang="en-US" sz="4200" kern="1200" dirty="0">
                <a:latin typeface="Calibri" panose="020F0502020204030204" pitchFamily="34" charset="0"/>
                <a:ea typeface="Calibri" panose="020F0502020204030204" pitchFamily="34" charset="0"/>
                <a:cs typeface="Calibri" panose="020F0502020204030204" pitchFamily="34" charset="0"/>
              </a:rPr>
              <a:t>Clustering Analysis Pipelines</a:t>
            </a:r>
          </a:p>
        </p:txBody>
      </p:sp>
      <p:sp>
        <p:nvSpPr>
          <p:cNvPr id="27"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631C1A76-EF29-B5EB-CE4B-2137A300E198}"/>
              </a:ext>
            </a:extLst>
          </p:cNvPr>
          <p:cNvSpPr>
            <a:spLocks noGrp="1"/>
          </p:cNvSpPr>
          <p:nvPr>
            <p:ph idx="1"/>
          </p:nvPr>
        </p:nvSpPr>
        <p:spPr>
          <a:xfrm>
            <a:off x="630936" y="2807208"/>
            <a:ext cx="3699904" cy="3410712"/>
          </a:xfrm>
        </p:spPr>
        <p:txBody>
          <a:bodyPr anchor="t">
            <a:normAutofit/>
          </a:bodyPr>
          <a:lstStyle/>
          <a:p>
            <a:r>
              <a:rPr lang="en-SG" sz="2200" dirty="0">
                <a:latin typeface="Calibri" panose="020F0502020204030204" pitchFamily="34" charset="0"/>
                <a:ea typeface="Calibri" panose="020F0502020204030204" pitchFamily="34" charset="0"/>
                <a:cs typeface="Calibri" panose="020F0502020204030204" pitchFamily="34" charset="0"/>
              </a:rPr>
              <a:t>The pipeline preprocesses the review text, converts it into word representations, performs hierarchical clustering, evaluates the clusters using a silhouette plot, and analyses the selected clusters through word clouds and word enrichment. </a:t>
            </a:r>
          </a:p>
        </p:txBody>
      </p:sp>
      <p:pic>
        <p:nvPicPr>
          <p:cNvPr id="4" name="Picture 3">
            <a:extLst>
              <a:ext uri="{FF2B5EF4-FFF2-40B4-BE49-F238E27FC236}">
                <a16:creationId xmlns:a16="http://schemas.microsoft.com/office/drawing/2014/main" id="{8D25B644-5635-AC8B-04A9-BA220833D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556366"/>
            <a:ext cx="6903720" cy="3745267"/>
          </a:xfrm>
          <a:prstGeom prst="rect">
            <a:avLst/>
          </a:prstGeom>
        </p:spPr>
      </p:pic>
      <p:sp>
        <p:nvSpPr>
          <p:cNvPr id="17" name="Date Placeholder 16">
            <a:extLst>
              <a:ext uri="{FF2B5EF4-FFF2-40B4-BE49-F238E27FC236}">
                <a16:creationId xmlns:a16="http://schemas.microsoft.com/office/drawing/2014/main" id="{3DBCA307-8680-7ADD-3DAA-0C2CB7BBFACB}"/>
              </a:ext>
            </a:extLst>
          </p:cNvPr>
          <p:cNvSpPr>
            <a:spLocks noGrp="1"/>
          </p:cNvSpPr>
          <p:nvPr>
            <p:ph type="dt" sz="half" idx="10"/>
          </p:nvPr>
        </p:nvSpPr>
        <p:spPr>
          <a:xfrm>
            <a:off x="838200" y="6356350"/>
            <a:ext cx="2743200" cy="365125"/>
          </a:xfrm>
        </p:spPr>
        <p:txBody>
          <a:bodyPr>
            <a:normAutofit/>
          </a:bodyPr>
          <a:lstStyle/>
          <a:p>
            <a:pPr>
              <a:spcAft>
                <a:spcPts val="600"/>
              </a:spcAft>
            </a:pPr>
            <a:fld id="{5D5EE8AF-FFC3-450D-86B9-7DA9D5AF3011}" type="datetime1">
              <a:rPr lang="en-SG" smtClean="0"/>
              <a:pPr>
                <a:spcAft>
                  <a:spcPts val="600"/>
                </a:spcAft>
              </a:pPr>
              <a:t>14/8/2026</a:t>
            </a:fld>
            <a:endParaRPr lang="en-SG"/>
          </a:p>
        </p:txBody>
      </p:sp>
      <p:sp>
        <p:nvSpPr>
          <p:cNvPr id="18" name="Footer Placeholder 17">
            <a:extLst>
              <a:ext uri="{FF2B5EF4-FFF2-40B4-BE49-F238E27FC236}">
                <a16:creationId xmlns:a16="http://schemas.microsoft.com/office/drawing/2014/main" id="{D404CE2D-85CD-7C83-DC35-49D9C29C35C4}"/>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19" name="Slide Number Placeholder 18">
            <a:extLst>
              <a:ext uri="{FF2B5EF4-FFF2-40B4-BE49-F238E27FC236}">
                <a16:creationId xmlns:a16="http://schemas.microsoft.com/office/drawing/2014/main" id="{9BBE058B-3DA9-B26C-AE38-D9BD7BFEA8D8}"/>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9</a:t>
            </a:fld>
            <a:endParaRPr lang="en-SG"/>
          </a:p>
        </p:txBody>
      </p:sp>
    </p:spTree>
    <p:extLst>
      <p:ext uri="{BB962C8B-B14F-4D97-AF65-F5344CB8AC3E}">
        <p14:creationId xmlns:p14="http://schemas.microsoft.com/office/powerpoint/2010/main" val="1772558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EE31B6-9055-321B-F6D0-50F36B15FE5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6C4236-4E46-B5FC-8D22-B903371650DF}"/>
              </a:ext>
            </a:extLst>
          </p:cNvPr>
          <p:cNvSpPr>
            <a:spLocks noGrp="1"/>
          </p:cNvSpPr>
          <p:nvPr>
            <p:ph type="title"/>
          </p:nvPr>
        </p:nvSpPr>
        <p:spPr>
          <a:xfrm>
            <a:off x="638881" y="670218"/>
            <a:ext cx="10909640" cy="1065836"/>
          </a:xfrm>
          <a:prstGeom prst="ellipse">
            <a:avLst/>
          </a:prstGeom>
        </p:spPr>
        <p:txBody>
          <a:bodyPr vert="horz" lIns="91440" tIns="45720" rIns="91440" bIns="45720" rtlCol="0" anchor="ctr">
            <a:normAutofit/>
          </a:bodyPr>
          <a:lstStyle/>
          <a:p>
            <a:pPr algn="ctr"/>
            <a:r>
              <a:rPr lang="en-US" sz="4600" dirty="0"/>
              <a:t>Clustering Analysis Word Cloud</a:t>
            </a:r>
          </a:p>
        </p:txBody>
      </p:sp>
      <p:sp>
        <p:nvSpPr>
          <p:cNvPr id="26"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7E134055-880A-EB4E-F75B-C065EE38B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2930" y="3165511"/>
            <a:ext cx="3758184" cy="2527379"/>
          </a:xfrm>
          <a:prstGeom prst="rect">
            <a:avLst/>
          </a:prstGeom>
        </p:spPr>
      </p:pic>
      <p:pic>
        <p:nvPicPr>
          <p:cNvPr id="9" name="Picture 8">
            <a:extLst>
              <a:ext uri="{FF2B5EF4-FFF2-40B4-BE49-F238E27FC236}">
                <a16:creationId xmlns:a16="http://schemas.microsoft.com/office/drawing/2014/main" id="{77CC8504-6B10-9431-E839-AED74F28E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6908" y="3165511"/>
            <a:ext cx="3758184" cy="2508587"/>
          </a:xfrm>
          <a:prstGeom prst="rect">
            <a:avLst/>
          </a:prstGeom>
        </p:spPr>
      </p:pic>
      <p:pic>
        <p:nvPicPr>
          <p:cNvPr id="6" name="Picture 5">
            <a:extLst>
              <a:ext uri="{FF2B5EF4-FFF2-40B4-BE49-F238E27FC236}">
                <a16:creationId xmlns:a16="http://schemas.microsoft.com/office/drawing/2014/main" id="{4A63BAC3-9820-6201-A50A-CBC7C12F6B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281" y="3217186"/>
            <a:ext cx="3758184" cy="2424028"/>
          </a:xfrm>
          <a:prstGeom prst="rect">
            <a:avLst/>
          </a:prstGeom>
        </p:spPr>
      </p:pic>
      <p:sp>
        <p:nvSpPr>
          <p:cNvPr id="17" name="Date Placeholder 16">
            <a:extLst>
              <a:ext uri="{FF2B5EF4-FFF2-40B4-BE49-F238E27FC236}">
                <a16:creationId xmlns:a16="http://schemas.microsoft.com/office/drawing/2014/main" id="{A151CE16-A57D-EA6D-6975-C0DBC8E140A0}"/>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5D5EE8AF-FFC3-450D-86B9-7DA9D5AF3011}" type="datetime1">
              <a:rPr lang="en-US" smtClean="0">
                <a:solidFill>
                  <a:schemeClr val="tx1">
                    <a:tint val="75000"/>
                  </a:schemeClr>
                </a:solidFill>
              </a:rPr>
              <a:pPr>
                <a:spcAft>
                  <a:spcPts val="600"/>
                </a:spcAft>
              </a:pPr>
              <a:t>8/14/2026</a:t>
            </a:fld>
            <a:endParaRPr lang="en-US">
              <a:solidFill>
                <a:schemeClr val="tx1">
                  <a:tint val="75000"/>
                </a:schemeClr>
              </a:solidFill>
            </a:endParaRPr>
          </a:p>
        </p:txBody>
      </p:sp>
      <p:sp>
        <p:nvSpPr>
          <p:cNvPr id="18" name="Footer Placeholder 17">
            <a:extLst>
              <a:ext uri="{FF2B5EF4-FFF2-40B4-BE49-F238E27FC236}">
                <a16:creationId xmlns:a16="http://schemas.microsoft.com/office/drawing/2014/main" id="{695DAB8D-07A9-A657-7CF0-59307A81F689}"/>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RP/SDAAI/Capstone Project 2021</a:t>
            </a:r>
          </a:p>
        </p:txBody>
      </p:sp>
      <p:sp>
        <p:nvSpPr>
          <p:cNvPr id="19" name="Slide Number Placeholder 18">
            <a:extLst>
              <a:ext uri="{FF2B5EF4-FFF2-40B4-BE49-F238E27FC236}">
                <a16:creationId xmlns:a16="http://schemas.microsoft.com/office/drawing/2014/main" id="{39440980-894B-4A94-5079-A2739C22186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B5FF986-6745-4566-9357-372A6AE080A5}" type="slidenum">
              <a:rPr lang="en-US" smtClean="0">
                <a:solidFill>
                  <a:schemeClr val="tx1">
                    <a:tint val="75000"/>
                  </a:schemeClr>
                </a:solidFill>
              </a:rPr>
              <a:pPr>
                <a:spcAft>
                  <a:spcPts val="600"/>
                </a:spcAft>
              </a:pPr>
              <a:t>10</a:t>
            </a:fld>
            <a:endParaRPr lang="en-US">
              <a:solidFill>
                <a:schemeClr val="tx1">
                  <a:tint val="75000"/>
                </a:schemeClr>
              </a:solidFill>
            </a:endParaRPr>
          </a:p>
        </p:txBody>
      </p:sp>
      <p:sp>
        <p:nvSpPr>
          <p:cNvPr id="15" name="TextBox 14">
            <a:extLst>
              <a:ext uri="{FF2B5EF4-FFF2-40B4-BE49-F238E27FC236}">
                <a16:creationId xmlns:a16="http://schemas.microsoft.com/office/drawing/2014/main" id="{ACEAAF83-E7AC-DC3F-F294-B69799DF2A9B}"/>
              </a:ext>
            </a:extLst>
          </p:cNvPr>
          <p:cNvSpPr txBox="1"/>
          <p:nvPr/>
        </p:nvSpPr>
        <p:spPr>
          <a:xfrm>
            <a:off x="1997650" y="2763415"/>
            <a:ext cx="588235"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C1</a:t>
            </a:r>
          </a:p>
        </p:txBody>
      </p:sp>
      <p:sp>
        <p:nvSpPr>
          <p:cNvPr id="21" name="TextBox 20">
            <a:extLst>
              <a:ext uri="{FF2B5EF4-FFF2-40B4-BE49-F238E27FC236}">
                <a16:creationId xmlns:a16="http://schemas.microsoft.com/office/drawing/2014/main" id="{B422CB5B-DFEB-6D91-AE39-7E71F741746C}"/>
              </a:ext>
            </a:extLst>
          </p:cNvPr>
          <p:cNvSpPr txBox="1"/>
          <p:nvPr/>
        </p:nvSpPr>
        <p:spPr>
          <a:xfrm>
            <a:off x="5964966" y="2726560"/>
            <a:ext cx="588235"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C2</a:t>
            </a:r>
          </a:p>
        </p:txBody>
      </p:sp>
      <p:sp>
        <p:nvSpPr>
          <p:cNvPr id="23" name="TextBox 22">
            <a:extLst>
              <a:ext uri="{FF2B5EF4-FFF2-40B4-BE49-F238E27FC236}">
                <a16:creationId xmlns:a16="http://schemas.microsoft.com/office/drawing/2014/main" id="{850B5622-F4A8-FEC4-0E3F-CF25555F6C7C}"/>
              </a:ext>
            </a:extLst>
          </p:cNvPr>
          <p:cNvSpPr txBox="1"/>
          <p:nvPr/>
        </p:nvSpPr>
        <p:spPr>
          <a:xfrm>
            <a:off x="9897870" y="2728598"/>
            <a:ext cx="588235"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C3</a:t>
            </a:r>
          </a:p>
        </p:txBody>
      </p:sp>
    </p:spTree>
    <p:extLst>
      <p:ext uri="{BB962C8B-B14F-4D97-AF65-F5344CB8AC3E}">
        <p14:creationId xmlns:p14="http://schemas.microsoft.com/office/powerpoint/2010/main" val="1944459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106100-013C-CD21-A101-0823BE6C5FC4}"/>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5DC31A-5D50-7E99-E33A-70BE9E001A40}"/>
              </a:ext>
            </a:extLst>
          </p:cNvPr>
          <p:cNvSpPr>
            <a:spLocks noGrp="1"/>
          </p:cNvSpPr>
          <p:nvPr>
            <p:ph type="title"/>
          </p:nvPr>
        </p:nvSpPr>
        <p:spPr>
          <a:xfrm>
            <a:off x="638881" y="670218"/>
            <a:ext cx="11140164" cy="1065836"/>
          </a:xfrm>
          <a:prstGeom prst="ellipse">
            <a:avLst/>
          </a:prstGeom>
        </p:spPr>
        <p:txBody>
          <a:bodyPr vert="horz" lIns="91440" tIns="45720" rIns="91440" bIns="45720" rtlCol="0" anchor="ctr">
            <a:normAutofit fontScale="90000"/>
          </a:bodyPr>
          <a:lstStyle/>
          <a:p>
            <a:pPr algn="ctr"/>
            <a:r>
              <a:rPr lang="en-US" sz="4600" dirty="0"/>
              <a:t>Clustering Analysis Word Enrichment</a:t>
            </a:r>
          </a:p>
        </p:txBody>
      </p:sp>
      <p:sp>
        <p:nvSpPr>
          <p:cNvPr id="30"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46B0D5C-9513-2674-3B33-417266C1C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08" y="3174489"/>
            <a:ext cx="3758184" cy="2490630"/>
          </a:xfrm>
          <a:prstGeom prst="rect">
            <a:avLst/>
          </a:prstGeom>
        </p:spPr>
      </p:pic>
      <p:pic>
        <p:nvPicPr>
          <p:cNvPr id="10" name="Picture 9">
            <a:extLst>
              <a:ext uri="{FF2B5EF4-FFF2-40B4-BE49-F238E27FC236}">
                <a16:creationId xmlns:a16="http://schemas.microsoft.com/office/drawing/2014/main" id="{A60A76DE-E06A-7F8C-B761-C15A02C9C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6908" y="3190321"/>
            <a:ext cx="3758184" cy="2458967"/>
          </a:xfrm>
          <a:prstGeom prst="rect">
            <a:avLst/>
          </a:prstGeom>
        </p:spPr>
      </p:pic>
      <p:pic>
        <p:nvPicPr>
          <p:cNvPr id="7" name="Picture 6">
            <a:extLst>
              <a:ext uri="{FF2B5EF4-FFF2-40B4-BE49-F238E27FC236}">
                <a16:creationId xmlns:a16="http://schemas.microsoft.com/office/drawing/2014/main" id="{C6EFC6BB-3E6E-8CBA-2308-FB94CB24EC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208" y="3207846"/>
            <a:ext cx="3758184" cy="2423917"/>
          </a:xfrm>
          <a:prstGeom prst="rect">
            <a:avLst/>
          </a:prstGeom>
        </p:spPr>
      </p:pic>
      <p:sp>
        <p:nvSpPr>
          <p:cNvPr id="17" name="Date Placeholder 16">
            <a:extLst>
              <a:ext uri="{FF2B5EF4-FFF2-40B4-BE49-F238E27FC236}">
                <a16:creationId xmlns:a16="http://schemas.microsoft.com/office/drawing/2014/main" id="{15FA35A9-110F-44B7-5699-336F0CE582E7}"/>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5D5EE8AF-FFC3-450D-86B9-7DA9D5AF3011}" type="datetime1">
              <a:rPr lang="en-US" smtClean="0">
                <a:solidFill>
                  <a:schemeClr val="tx1">
                    <a:tint val="75000"/>
                  </a:schemeClr>
                </a:solidFill>
              </a:rPr>
              <a:pPr>
                <a:spcAft>
                  <a:spcPts val="600"/>
                </a:spcAft>
              </a:pPr>
              <a:t>8/14/2026</a:t>
            </a:fld>
            <a:endParaRPr lang="en-US">
              <a:solidFill>
                <a:schemeClr val="tx1">
                  <a:tint val="75000"/>
                </a:schemeClr>
              </a:solidFill>
            </a:endParaRPr>
          </a:p>
        </p:txBody>
      </p:sp>
      <p:sp>
        <p:nvSpPr>
          <p:cNvPr id="18" name="Footer Placeholder 17">
            <a:extLst>
              <a:ext uri="{FF2B5EF4-FFF2-40B4-BE49-F238E27FC236}">
                <a16:creationId xmlns:a16="http://schemas.microsoft.com/office/drawing/2014/main" id="{08080B7B-FA58-2706-6559-543A6EF86ED4}"/>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RP/SDAAI/Capstone Project 2021</a:t>
            </a:r>
          </a:p>
        </p:txBody>
      </p:sp>
      <p:sp>
        <p:nvSpPr>
          <p:cNvPr id="19" name="Slide Number Placeholder 18">
            <a:extLst>
              <a:ext uri="{FF2B5EF4-FFF2-40B4-BE49-F238E27FC236}">
                <a16:creationId xmlns:a16="http://schemas.microsoft.com/office/drawing/2014/main" id="{BE0D1C64-AA8D-41FA-344C-6E0E17BDECD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B5FF986-6745-4566-9357-372A6AE080A5}" type="slidenum">
              <a:rPr lang="en-US" smtClean="0">
                <a:solidFill>
                  <a:schemeClr val="tx1">
                    <a:tint val="75000"/>
                  </a:schemeClr>
                </a:solidFill>
              </a:rPr>
              <a:pPr>
                <a:spcAft>
                  <a:spcPts val="600"/>
                </a:spcAft>
              </a:pPr>
              <a:t>11</a:t>
            </a:fld>
            <a:endParaRPr lang="en-US">
              <a:solidFill>
                <a:schemeClr val="tx1">
                  <a:tint val="75000"/>
                </a:schemeClr>
              </a:solidFill>
            </a:endParaRPr>
          </a:p>
        </p:txBody>
      </p:sp>
      <p:sp>
        <p:nvSpPr>
          <p:cNvPr id="21" name="TextBox 20">
            <a:extLst>
              <a:ext uri="{FF2B5EF4-FFF2-40B4-BE49-F238E27FC236}">
                <a16:creationId xmlns:a16="http://schemas.microsoft.com/office/drawing/2014/main" id="{9B457B34-0E10-A27E-C68E-C0AE7F3BE901}"/>
              </a:ext>
            </a:extLst>
          </p:cNvPr>
          <p:cNvSpPr txBox="1"/>
          <p:nvPr/>
        </p:nvSpPr>
        <p:spPr>
          <a:xfrm>
            <a:off x="5964966" y="2726560"/>
            <a:ext cx="588235"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C2</a:t>
            </a:r>
            <a:endParaRPr lang="en-SG" b="1">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5B936D2-711B-BEDA-9A7E-2F867B7211C6}"/>
              </a:ext>
            </a:extLst>
          </p:cNvPr>
          <p:cNvSpPr txBox="1"/>
          <p:nvPr/>
        </p:nvSpPr>
        <p:spPr>
          <a:xfrm>
            <a:off x="9897870" y="2728598"/>
            <a:ext cx="588235"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C3</a:t>
            </a:r>
            <a:endParaRPr lang="en-SG" b="1">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36E40A40-A9D3-9E9D-0EEC-A3237221B254}"/>
              </a:ext>
            </a:extLst>
          </p:cNvPr>
          <p:cNvSpPr txBox="1"/>
          <p:nvPr/>
        </p:nvSpPr>
        <p:spPr>
          <a:xfrm>
            <a:off x="1877582" y="2726560"/>
            <a:ext cx="588235"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C1</a:t>
            </a:r>
          </a:p>
        </p:txBody>
      </p:sp>
    </p:spTree>
    <p:extLst>
      <p:ext uri="{BB962C8B-B14F-4D97-AF65-F5344CB8AC3E}">
        <p14:creationId xmlns:p14="http://schemas.microsoft.com/office/powerpoint/2010/main" val="3953314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0A554E-2F85-907C-8012-DD6FBD5569FA}"/>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F110133-110F-D9F6-1AA4-14B252184B38}"/>
              </a:ext>
            </a:extLst>
          </p:cNvPr>
          <p:cNvSpPr>
            <a:spLocks noGrp="1"/>
          </p:cNvSpPr>
          <p:nvPr>
            <p:ph type="title"/>
          </p:nvPr>
        </p:nvSpPr>
        <p:spPr>
          <a:xfrm>
            <a:off x="621792" y="1161288"/>
            <a:ext cx="3602736" cy="4526280"/>
          </a:xfrm>
        </p:spPr>
        <p:txBody>
          <a:bodyPr>
            <a:normAutofit/>
          </a:bodyPr>
          <a:lstStyle/>
          <a:p>
            <a:r>
              <a:rPr lang="en-SG" sz="4000">
                <a:latin typeface="Calibri" panose="020F0502020204030204" pitchFamily="34" charset="0"/>
                <a:ea typeface="Calibri" panose="020F0502020204030204" pitchFamily="34" charset="0"/>
                <a:cs typeface="Calibri" panose="020F0502020204030204" pitchFamily="34" charset="0"/>
              </a:rPr>
              <a:t>Insights from Clustering Analysis</a:t>
            </a:r>
          </a:p>
        </p:txBody>
      </p:sp>
      <p:sp>
        <p:nvSpPr>
          <p:cNvPr id="25" name="Rectangle 2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C78DC5DF-AAA2-BEDE-E3F4-C30720B1BB20}"/>
              </a:ext>
            </a:extLst>
          </p:cNvPr>
          <p:cNvSpPr>
            <a:spLocks noGrp="1"/>
          </p:cNvSpPr>
          <p:nvPr>
            <p:ph type="dt" sz="half" idx="10"/>
          </p:nvPr>
        </p:nvSpPr>
        <p:spPr>
          <a:xfrm>
            <a:off x="621792" y="6356350"/>
            <a:ext cx="2743200" cy="365125"/>
          </a:xfrm>
        </p:spPr>
        <p:txBody>
          <a:bodyPr>
            <a:normAutofit/>
          </a:bodyPr>
          <a:lstStyle/>
          <a:p>
            <a:pPr>
              <a:spcAft>
                <a:spcPts val="600"/>
              </a:spcAft>
            </a:pPr>
            <a:fld id="{56527A8B-B932-4F17-B205-4FF8A9A7B805}" type="datetime1">
              <a:rPr lang="en-SG">
                <a:solidFill>
                  <a:schemeClr val="tx1">
                    <a:lumMod val="50000"/>
                    <a:lumOff val="50000"/>
                  </a:schemeClr>
                </a:solidFill>
              </a:rPr>
              <a:pPr>
                <a:spcAft>
                  <a:spcPts val="600"/>
                </a:spcAft>
              </a:pPr>
              <a:t>14/8/2026</a:t>
            </a:fld>
            <a:endParaRPr lang="en-SG">
              <a:solidFill>
                <a:schemeClr val="tx1">
                  <a:lumMod val="50000"/>
                  <a:lumOff val="50000"/>
                </a:schemeClr>
              </a:solidFill>
            </a:endParaRPr>
          </a:p>
        </p:txBody>
      </p:sp>
      <p:sp>
        <p:nvSpPr>
          <p:cNvPr id="5" name="Footer Placeholder 4">
            <a:extLst>
              <a:ext uri="{FF2B5EF4-FFF2-40B4-BE49-F238E27FC236}">
                <a16:creationId xmlns:a16="http://schemas.microsoft.com/office/drawing/2014/main" id="{9F33E69D-80D8-3114-35CF-BF0570AEB657}"/>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solidFill>
                  <a:schemeClr val="tx1">
                    <a:lumMod val="50000"/>
                    <a:lumOff val="50000"/>
                  </a:schemeClr>
                </a:solidFill>
              </a:rPr>
              <a:t>RP/SDAAI/Capstone Project 2021</a:t>
            </a:r>
          </a:p>
        </p:txBody>
      </p:sp>
      <p:sp>
        <p:nvSpPr>
          <p:cNvPr id="6" name="Slide Number Placeholder 5">
            <a:extLst>
              <a:ext uri="{FF2B5EF4-FFF2-40B4-BE49-F238E27FC236}">
                <a16:creationId xmlns:a16="http://schemas.microsoft.com/office/drawing/2014/main" id="{EDE58BC9-E485-AFFB-8335-A512E1530B32}"/>
              </a:ext>
            </a:extLst>
          </p:cNvPr>
          <p:cNvSpPr>
            <a:spLocks noGrp="1"/>
          </p:cNvSpPr>
          <p:nvPr>
            <p:ph type="sldNum" sz="quarter" idx="12"/>
          </p:nvPr>
        </p:nvSpPr>
        <p:spPr>
          <a:xfrm>
            <a:off x="8801100" y="6356350"/>
            <a:ext cx="2743200" cy="365125"/>
          </a:xfrm>
        </p:spPr>
        <p:txBody>
          <a:bodyPr>
            <a:normAutofit/>
          </a:bodyPr>
          <a:lstStyle/>
          <a:p>
            <a:pPr>
              <a:spcAft>
                <a:spcPts val="600"/>
              </a:spcAft>
            </a:pPr>
            <a:fld id="{7B5FF986-6745-4566-9357-372A6AE080A5}" type="slidenum">
              <a:rPr lang="en-SG">
                <a:solidFill>
                  <a:schemeClr val="tx1">
                    <a:lumMod val="50000"/>
                    <a:lumOff val="50000"/>
                  </a:schemeClr>
                </a:solidFill>
              </a:rPr>
              <a:pPr>
                <a:spcAft>
                  <a:spcPts val="600"/>
                </a:spcAft>
              </a:pPr>
              <a:t>12</a:t>
            </a:fld>
            <a:endParaRPr lang="en-SG">
              <a:solidFill>
                <a:schemeClr val="tx1">
                  <a:lumMod val="50000"/>
                  <a:lumOff val="50000"/>
                </a:schemeClr>
              </a:solidFill>
            </a:endParaRPr>
          </a:p>
        </p:txBody>
      </p:sp>
      <p:graphicFrame>
        <p:nvGraphicFramePr>
          <p:cNvPr id="15" name="Content Placeholder 2">
            <a:extLst>
              <a:ext uri="{FF2B5EF4-FFF2-40B4-BE49-F238E27FC236}">
                <a16:creationId xmlns:a16="http://schemas.microsoft.com/office/drawing/2014/main" id="{3E17047E-08CD-F09D-34B3-B88F2C87FE04}"/>
              </a:ext>
            </a:extLst>
          </p:cNvPr>
          <p:cNvGraphicFramePr>
            <a:graphicFrameLocks noGrp="1"/>
          </p:cNvGraphicFramePr>
          <p:nvPr>
            <p:ph idx="1"/>
            <p:extLst>
              <p:ext uri="{D42A27DB-BD31-4B8C-83A1-F6EECF244321}">
                <p14:modId xmlns:p14="http://schemas.microsoft.com/office/powerpoint/2010/main" val="159463935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1197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ADB5C0-3078-0958-E6E5-2BCD2D80A643}"/>
              </a:ext>
            </a:extLst>
          </p:cNvPr>
          <p:cNvSpPr>
            <a:spLocks noGrp="1"/>
          </p:cNvSpPr>
          <p:nvPr>
            <p:ph type="title"/>
          </p:nvPr>
        </p:nvSpPr>
        <p:spPr>
          <a:xfrm>
            <a:off x="841248" y="548640"/>
            <a:ext cx="3600860" cy="5431536"/>
          </a:xfrm>
        </p:spPr>
        <p:txBody>
          <a:bodyPr>
            <a:normAutofit/>
          </a:bodyPr>
          <a:lstStyle/>
          <a:p>
            <a:r>
              <a:rPr lang="en-SG" sz="5400"/>
              <a:t>What is LDA?</a:t>
            </a:r>
          </a:p>
        </p:txBody>
      </p:sp>
      <p:sp>
        <p:nvSpPr>
          <p:cNvPr id="2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91046A-BE14-939D-D734-22FAA3C9DC21}"/>
              </a:ext>
            </a:extLst>
          </p:cNvPr>
          <p:cNvSpPr>
            <a:spLocks noGrp="1"/>
          </p:cNvSpPr>
          <p:nvPr>
            <p:ph idx="1"/>
          </p:nvPr>
        </p:nvSpPr>
        <p:spPr>
          <a:xfrm>
            <a:off x="5126418" y="552091"/>
            <a:ext cx="6224335" cy="5431536"/>
          </a:xfrm>
        </p:spPr>
        <p:txBody>
          <a:bodyPr anchor="ctr">
            <a:normAutofit/>
          </a:bodyPr>
          <a:lstStyle/>
          <a:p>
            <a:r>
              <a:rPr lang="en-SG" sz="2200" b="1"/>
              <a:t>LDA</a:t>
            </a:r>
            <a:r>
              <a:rPr lang="en-SG" sz="2200"/>
              <a:t> is an </a:t>
            </a:r>
            <a:r>
              <a:rPr lang="en-SG" sz="2200">
                <a:highlight>
                  <a:srgbClr val="FFFF00"/>
                </a:highlight>
              </a:rPr>
              <a:t>unsupervised topic modelling </a:t>
            </a:r>
            <a:r>
              <a:rPr lang="en-SG" sz="2200"/>
              <a:t>technique used to discover hidden topics in a collection of documents. </a:t>
            </a:r>
          </a:p>
          <a:p>
            <a:pPr lvl="1"/>
            <a:r>
              <a:rPr lang="en-SG" sz="2200"/>
              <a:t>Assumes each document contains a mixture of topics.</a:t>
            </a:r>
          </a:p>
          <a:p>
            <a:pPr lvl="1"/>
            <a:r>
              <a:rPr lang="en-SG" sz="2200"/>
              <a:t>Each topic is represented by a group of frequently associated words.</a:t>
            </a:r>
          </a:p>
          <a:p>
            <a:pPr lvl="1"/>
            <a:r>
              <a:rPr lang="en-SG" sz="2200"/>
              <a:t>Assigns probabilities to topics within documents and words within topics.</a:t>
            </a:r>
          </a:p>
          <a:p>
            <a:pPr lvl="1"/>
            <a:r>
              <a:rPr lang="en-SG" sz="2200"/>
              <a:t>Requires specifying the number of topics. </a:t>
            </a:r>
          </a:p>
        </p:txBody>
      </p:sp>
      <p:sp>
        <p:nvSpPr>
          <p:cNvPr id="4" name="Date Placeholder 3">
            <a:extLst>
              <a:ext uri="{FF2B5EF4-FFF2-40B4-BE49-F238E27FC236}">
                <a16:creationId xmlns:a16="http://schemas.microsoft.com/office/drawing/2014/main" id="{38AA175A-BB44-9859-132E-E09778F503DC}"/>
              </a:ext>
            </a:extLst>
          </p:cNvPr>
          <p:cNvSpPr>
            <a:spLocks noGrp="1"/>
          </p:cNvSpPr>
          <p:nvPr>
            <p:ph type="dt" sz="half" idx="10"/>
          </p:nvPr>
        </p:nvSpPr>
        <p:spPr>
          <a:xfrm>
            <a:off x="838200" y="6356350"/>
            <a:ext cx="2743200" cy="365125"/>
          </a:xfrm>
        </p:spPr>
        <p:txBody>
          <a:bodyPr>
            <a:normAutofit/>
          </a:bodyPr>
          <a:lstStyle/>
          <a:p>
            <a:pPr>
              <a:spcAft>
                <a:spcPts val="600"/>
              </a:spcAft>
            </a:pPr>
            <a:fld id="{B4DB8678-2A6F-473C-A73B-857D27FA43D7}" type="datetime1">
              <a:rPr lang="en-SG" smtClean="0"/>
              <a:pPr>
                <a:spcAft>
                  <a:spcPts val="600"/>
                </a:spcAft>
              </a:pPr>
              <a:t>14/8/2026</a:t>
            </a:fld>
            <a:endParaRPr lang="en-SG"/>
          </a:p>
        </p:txBody>
      </p:sp>
      <p:sp>
        <p:nvSpPr>
          <p:cNvPr id="5" name="Footer Placeholder 4">
            <a:extLst>
              <a:ext uri="{FF2B5EF4-FFF2-40B4-BE49-F238E27FC236}">
                <a16:creationId xmlns:a16="http://schemas.microsoft.com/office/drawing/2014/main" id="{91D8AF9F-F78B-6F3A-42C3-C8165EED3D9F}"/>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6" name="Slide Number Placeholder 5">
            <a:extLst>
              <a:ext uri="{FF2B5EF4-FFF2-40B4-BE49-F238E27FC236}">
                <a16:creationId xmlns:a16="http://schemas.microsoft.com/office/drawing/2014/main" id="{912E8332-BFD1-2CCD-8B85-A3485A948E70}"/>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13</a:t>
            </a:fld>
            <a:endParaRPr lang="en-SG"/>
          </a:p>
        </p:txBody>
      </p:sp>
    </p:spTree>
    <p:extLst>
      <p:ext uri="{BB962C8B-B14F-4D97-AF65-F5344CB8AC3E}">
        <p14:creationId xmlns:p14="http://schemas.microsoft.com/office/powerpoint/2010/main" val="3714516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BB88D0-AC6A-72EF-D641-2D258447665E}"/>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2FC868-C21B-DA8B-99BD-1E6D5C52036A}"/>
              </a:ext>
            </a:extLst>
          </p:cNvPr>
          <p:cNvSpPr>
            <a:spLocks noGrp="1"/>
          </p:cNvSpPr>
          <p:nvPr>
            <p:ph type="title"/>
          </p:nvPr>
        </p:nvSpPr>
        <p:spPr>
          <a:xfrm>
            <a:off x="643278" y="747102"/>
            <a:ext cx="3429000" cy="1719072"/>
          </a:xfrm>
          <a:prstGeom prst="ellipse">
            <a:avLst/>
          </a:prstGeom>
        </p:spPr>
        <p:txBody>
          <a:bodyPr vert="horz" lIns="91440" tIns="45720" rIns="91440" bIns="45720" rtlCol="0" anchor="b">
            <a:normAutofit fontScale="90000"/>
          </a:bodyPr>
          <a:lstStyle/>
          <a:p>
            <a:r>
              <a:rPr lang="en-US" sz="3800" kern="1200" dirty="0">
                <a:latin typeface="Calibri" panose="020F0502020204030204" pitchFamily="34" charset="0"/>
                <a:ea typeface="Calibri" panose="020F0502020204030204" pitchFamily="34" charset="0"/>
                <a:cs typeface="Calibri" panose="020F0502020204030204" pitchFamily="34" charset="0"/>
              </a:rPr>
              <a:t>Topic-Modelling Analysis Pipelines</a:t>
            </a:r>
          </a:p>
        </p:txBody>
      </p:sp>
      <p:sp>
        <p:nvSpPr>
          <p:cNvPr id="27"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4C178C72-EDDE-2BE0-DA4F-EF2471504A4B}"/>
              </a:ext>
            </a:extLst>
          </p:cNvPr>
          <p:cNvSpPr>
            <a:spLocks noGrp="1"/>
          </p:cNvSpPr>
          <p:nvPr>
            <p:ph idx="1"/>
          </p:nvPr>
        </p:nvSpPr>
        <p:spPr>
          <a:xfrm>
            <a:off x="630936" y="2807208"/>
            <a:ext cx="3429000" cy="3410712"/>
          </a:xfrm>
        </p:spPr>
        <p:txBody>
          <a:bodyPr anchor="t">
            <a:normAutofit/>
          </a:bodyPr>
          <a:lstStyle/>
          <a:p>
            <a:r>
              <a:rPr lang="en-SG" sz="2200" dirty="0">
                <a:latin typeface="Calibri" panose="020F0502020204030204" pitchFamily="34" charset="0"/>
                <a:ea typeface="Calibri" panose="020F0502020204030204" pitchFamily="34" charset="0"/>
                <a:cs typeface="Calibri" panose="020F0502020204030204" pitchFamily="34" charset="0"/>
              </a:rPr>
              <a:t>The pipeline preprocesses the review text, performs text modelling to identify key topics, and analyses the selected topic using a word cloud and word enrichment. </a:t>
            </a:r>
          </a:p>
        </p:txBody>
      </p:sp>
      <p:pic>
        <p:nvPicPr>
          <p:cNvPr id="5" name="Picture 4">
            <a:extLst>
              <a:ext uri="{FF2B5EF4-FFF2-40B4-BE49-F238E27FC236}">
                <a16:creationId xmlns:a16="http://schemas.microsoft.com/office/drawing/2014/main" id="{5614CFA6-7B6A-F67D-ED30-224AB05F56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668551"/>
            <a:ext cx="6903720" cy="3520898"/>
          </a:xfrm>
          <a:prstGeom prst="rect">
            <a:avLst/>
          </a:prstGeom>
        </p:spPr>
      </p:pic>
      <p:sp>
        <p:nvSpPr>
          <p:cNvPr id="17" name="Date Placeholder 16">
            <a:extLst>
              <a:ext uri="{FF2B5EF4-FFF2-40B4-BE49-F238E27FC236}">
                <a16:creationId xmlns:a16="http://schemas.microsoft.com/office/drawing/2014/main" id="{DB8E4BFB-2047-00D0-C921-9C45B52314D1}"/>
              </a:ext>
            </a:extLst>
          </p:cNvPr>
          <p:cNvSpPr>
            <a:spLocks noGrp="1"/>
          </p:cNvSpPr>
          <p:nvPr>
            <p:ph type="dt" sz="half" idx="10"/>
          </p:nvPr>
        </p:nvSpPr>
        <p:spPr>
          <a:xfrm>
            <a:off x="838200" y="6356350"/>
            <a:ext cx="2743200" cy="365125"/>
          </a:xfrm>
        </p:spPr>
        <p:txBody>
          <a:bodyPr>
            <a:normAutofit/>
          </a:bodyPr>
          <a:lstStyle/>
          <a:p>
            <a:pPr>
              <a:spcAft>
                <a:spcPts val="600"/>
              </a:spcAft>
            </a:pPr>
            <a:fld id="{5D5EE8AF-FFC3-450D-86B9-7DA9D5AF3011}" type="datetime1">
              <a:rPr lang="en-SG" smtClean="0"/>
              <a:pPr>
                <a:spcAft>
                  <a:spcPts val="600"/>
                </a:spcAft>
              </a:pPr>
              <a:t>14/8/2026</a:t>
            </a:fld>
            <a:endParaRPr lang="en-SG"/>
          </a:p>
        </p:txBody>
      </p:sp>
      <p:sp>
        <p:nvSpPr>
          <p:cNvPr id="18" name="Footer Placeholder 17">
            <a:extLst>
              <a:ext uri="{FF2B5EF4-FFF2-40B4-BE49-F238E27FC236}">
                <a16:creationId xmlns:a16="http://schemas.microsoft.com/office/drawing/2014/main" id="{C2885A80-0D3F-820E-AA91-9A146890EB26}"/>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19" name="Slide Number Placeholder 18">
            <a:extLst>
              <a:ext uri="{FF2B5EF4-FFF2-40B4-BE49-F238E27FC236}">
                <a16:creationId xmlns:a16="http://schemas.microsoft.com/office/drawing/2014/main" id="{A7380D15-BA4B-1F0C-2B49-97A9F1D8EE7F}"/>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14</a:t>
            </a:fld>
            <a:endParaRPr lang="en-SG"/>
          </a:p>
        </p:txBody>
      </p:sp>
    </p:spTree>
    <p:extLst>
      <p:ext uri="{BB962C8B-B14F-4D97-AF65-F5344CB8AC3E}">
        <p14:creationId xmlns:p14="http://schemas.microsoft.com/office/powerpoint/2010/main" val="3679786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00659-809B-10CB-21CB-7BF918209DF2}"/>
              </a:ext>
            </a:extLst>
          </p:cNvPr>
          <p:cNvSpPr>
            <a:spLocks noGrp="1"/>
          </p:cNvSpPr>
          <p:nvPr>
            <p:ph type="title"/>
          </p:nvPr>
        </p:nvSpPr>
        <p:spPr>
          <a:xfrm>
            <a:off x="838200" y="365125"/>
            <a:ext cx="10515600" cy="1325563"/>
          </a:xfrm>
        </p:spPr>
        <p:txBody>
          <a:bodyPr>
            <a:normAutofit/>
          </a:bodyPr>
          <a:lstStyle/>
          <a:p>
            <a:r>
              <a:rPr lang="en-SG" sz="5400" dirty="0"/>
              <a:t>Topic Modelling (LDA)</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1F1FE63-9BA4-39A6-942D-E69D464F7A7C}"/>
              </a:ext>
            </a:extLst>
          </p:cNvPr>
          <p:cNvSpPr>
            <a:spLocks noGrp="1"/>
          </p:cNvSpPr>
          <p:nvPr>
            <p:ph type="dt" sz="half" idx="10"/>
          </p:nvPr>
        </p:nvSpPr>
        <p:spPr>
          <a:xfrm>
            <a:off x="838200" y="6356350"/>
            <a:ext cx="2743200" cy="365125"/>
          </a:xfrm>
        </p:spPr>
        <p:txBody>
          <a:bodyPr>
            <a:normAutofit/>
          </a:bodyPr>
          <a:lstStyle/>
          <a:p>
            <a:pPr>
              <a:spcAft>
                <a:spcPts val="600"/>
              </a:spcAft>
            </a:pPr>
            <a:fld id="{6CF0F3E7-9FEB-44B5-9D98-908BEAD85EC7}" type="datetime1">
              <a:rPr lang="en-SG" smtClean="0"/>
              <a:pPr>
                <a:spcAft>
                  <a:spcPts val="600"/>
                </a:spcAft>
              </a:pPr>
              <a:t>14/8/2026</a:t>
            </a:fld>
            <a:endParaRPr lang="en-SG"/>
          </a:p>
        </p:txBody>
      </p:sp>
      <p:sp>
        <p:nvSpPr>
          <p:cNvPr id="5" name="Footer Placeholder 4">
            <a:extLst>
              <a:ext uri="{FF2B5EF4-FFF2-40B4-BE49-F238E27FC236}">
                <a16:creationId xmlns:a16="http://schemas.microsoft.com/office/drawing/2014/main" id="{06087592-E772-2701-8238-746EB3329512}"/>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6" name="Slide Number Placeholder 5">
            <a:extLst>
              <a:ext uri="{FF2B5EF4-FFF2-40B4-BE49-F238E27FC236}">
                <a16:creationId xmlns:a16="http://schemas.microsoft.com/office/drawing/2014/main" id="{98C661B3-9B6E-B494-C878-E4AAFBD018F5}"/>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15</a:t>
            </a:fld>
            <a:endParaRPr lang="en-SG"/>
          </a:p>
        </p:txBody>
      </p:sp>
      <p:pic>
        <p:nvPicPr>
          <p:cNvPr id="8" name="Picture 7">
            <a:extLst>
              <a:ext uri="{FF2B5EF4-FFF2-40B4-BE49-F238E27FC236}">
                <a16:creationId xmlns:a16="http://schemas.microsoft.com/office/drawing/2014/main" id="{961DA279-4779-7E51-85B1-52C48621F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7558" y="1824362"/>
            <a:ext cx="7433835" cy="4527015"/>
          </a:xfrm>
          <a:prstGeom prst="rect">
            <a:avLst/>
          </a:prstGeom>
        </p:spPr>
      </p:pic>
    </p:spTree>
    <p:extLst>
      <p:ext uri="{BB962C8B-B14F-4D97-AF65-F5344CB8AC3E}">
        <p14:creationId xmlns:p14="http://schemas.microsoft.com/office/powerpoint/2010/main" val="2803591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404983-0FC6-70D0-65FD-F752CBB6755B}"/>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C5D994-3982-4981-C7F1-1E1C992A69C1}"/>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dirty="0"/>
              <a:t>Topic Modelling Word Cloud</a:t>
            </a:r>
          </a:p>
        </p:txBody>
      </p:sp>
      <p:sp>
        <p:nvSpPr>
          <p:cNvPr id="21"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1D0BE25-B035-2B25-C493-3A16B059C8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3108" y="3179603"/>
            <a:ext cx="3758184" cy="2574356"/>
          </a:xfrm>
          <a:prstGeom prst="rect">
            <a:avLst/>
          </a:prstGeom>
        </p:spPr>
      </p:pic>
      <p:pic>
        <p:nvPicPr>
          <p:cNvPr id="10" name="Picture 9">
            <a:extLst>
              <a:ext uri="{FF2B5EF4-FFF2-40B4-BE49-F238E27FC236}">
                <a16:creationId xmlns:a16="http://schemas.microsoft.com/office/drawing/2014/main" id="{C1A11A63-335F-7DC4-7E4F-A67EE57A8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6908" y="3151418"/>
            <a:ext cx="3758184" cy="2536773"/>
          </a:xfrm>
          <a:prstGeom prst="rect">
            <a:avLst/>
          </a:prstGeom>
        </p:spPr>
      </p:pic>
      <p:pic>
        <p:nvPicPr>
          <p:cNvPr id="7" name="Picture 6">
            <a:extLst>
              <a:ext uri="{FF2B5EF4-FFF2-40B4-BE49-F238E27FC236}">
                <a16:creationId xmlns:a16="http://schemas.microsoft.com/office/drawing/2014/main" id="{A9B0E1BC-DAC0-7318-3D95-83EEDD8C82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759" y="3179603"/>
            <a:ext cx="3758184" cy="2480401"/>
          </a:xfrm>
          <a:prstGeom prst="rect">
            <a:avLst/>
          </a:prstGeom>
        </p:spPr>
      </p:pic>
      <p:sp>
        <p:nvSpPr>
          <p:cNvPr id="4" name="Date Placeholder 3">
            <a:extLst>
              <a:ext uri="{FF2B5EF4-FFF2-40B4-BE49-F238E27FC236}">
                <a16:creationId xmlns:a16="http://schemas.microsoft.com/office/drawing/2014/main" id="{395B8313-6947-4C8C-6F1E-E91CBF01145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6CF0F3E7-9FEB-44B5-9D98-908BEAD85EC7}" type="datetime1">
              <a:rPr lang="en-US" smtClean="0">
                <a:solidFill>
                  <a:schemeClr val="tx1">
                    <a:tint val="75000"/>
                  </a:schemeClr>
                </a:solidFill>
              </a:rPr>
              <a:pPr>
                <a:spcAft>
                  <a:spcPts val="600"/>
                </a:spcAft>
              </a:pPr>
              <a:t>8/14/2026</a:t>
            </a:fld>
            <a:endParaRPr lang="en-US">
              <a:solidFill>
                <a:schemeClr val="tx1">
                  <a:tint val="75000"/>
                </a:schemeClr>
              </a:solidFill>
            </a:endParaRPr>
          </a:p>
        </p:txBody>
      </p:sp>
      <p:sp>
        <p:nvSpPr>
          <p:cNvPr id="5" name="Footer Placeholder 4">
            <a:extLst>
              <a:ext uri="{FF2B5EF4-FFF2-40B4-BE49-F238E27FC236}">
                <a16:creationId xmlns:a16="http://schemas.microsoft.com/office/drawing/2014/main" id="{53F69958-1D4C-DA2E-F9C8-F0951DE1F65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RP/SDAAI/Capstone Project 2021</a:t>
            </a:r>
          </a:p>
        </p:txBody>
      </p:sp>
      <p:sp>
        <p:nvSpPr>
          <p:cNvPr id="6" name="Slide Number Placeholder 5">
            <a:extLst>
              <a:ext uri="{FF2B5EF4-FFF2-40B4-BE49-F238E27FC236}">
                <a16:creationId xmlns:a16="http://schemas.microsoft.com/office/drawing/2014/main" id="{170F38AA-5A09-C351-1DBB-F81CFB4F148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B5FF986-6745-4566-9357-372A6AE080A5}" type="slidenum">
              <a:rPr lang="en-US" smtClean="0">
                <a:solidFill>
                  <a:schemeClr val="tx1">
                    <a:tint val="75000"/>
                  </a:schemeClr>
                </a:solidFill>
              </a:rPr>
              <a:pPr>
                <a:spcAft>
                  <a:spcPts val="600"/>
                </a:spcAft>
              </a:pPr>
              <a:t>16</a:t>
            </a:fld>
            <a:endParaRPr lang="en-US">
              <a:solidFill>
                <a:schemeClr val="tx1">
                  <a:tint val="75000"/>
                </a:schemeClr>
              </a:solidFill>
            </a:endParaRPr>
          </a:p>
        </p:txBody>
      </p:sp>
      <p:sp>
        <p:nvSpPr>
          <p:cNvPr id="16" name="TextBox 15">
            <a:extLst>
              <a:ext uri="{FF2B5EF4-FFF2-40B4-BE49-F238E27FC236}">
                <a16:creationId xmlns:a16="http://schemas.microsoft.com/office/drawing/2014/main" id="{303961C8-0D2E-E07C-8802-B35DDF320F84}"/>
              </a:ext>
            </a:extLst>
          </p:cNvPr>
          <p:cNvSpPr txBox="1"/>
          <p:nvPr/>
        </p:nvSpPr>
        <p:spPr>
          <a:xfrm>
            <a:off x="1743618" y="2727949"/>
            <a:ext cx="932363"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Topic 1</a:t>
            </a:r>
          </a:p>
        </p:txBody>
      </p:sp>
      <p:sp>
        <p:nvSpPr>
          <p:cNvPr id="18" name="TextBox 17">
            <a:extLst>
              <a:ext uri="{FF2B5EF4-FFF2-40B4-BE49-F238E27FC236}">
                <a16:creationId xmlns:a16="http://schemas.microsoft.com/office/drawing/2014/main" id="{C0F0AE80-DE50-EAF6-4257-B9F15FEE5900}"/>
              </a:ext>
            </a:extLst>
          </p:cNvPr>
          <p:cNvSpPr txBox="1"/>
          <p:nvPr/>
        </p:nvSpPr>
        <p:spPr>
          <a:xfrm>
            <a:off x="5769928" y="2755419"/>
            <a:ext cx="932363"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Topic 2</a:t>
            </a:r>
          </a:p>
        </p:txBody>
      </p:sp>
      <p:sp>
        <p:nvSpPr>
          <p:cNvPr id="22" name="TextBox 21">
            <a:extLst>
              <a:ext uri="{FF2B5EF4-FFF2-40B4-BE49-F238E27FC236}">
                <a16:creationId xmlns:a16="http://schemas.microsoft.com/office/drawing/2014/main" id="{FDE6B4AD-FFBC-B19C-A971-6C6CBBAFCC8A}"/>
              </a:ext>
            </a:extLst>
          </p:cNvPr>
          <p:cNvSpPr txBox="1"/>
          <p:nvPr/>
        </p:nvSpPr>
        <p:spPr>
          <a:xfrm>
            <a:off x="9599593" y="2727949"/>
            <a:ext cx="932363" cy="369332"/>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Topic 3</a:t>
            </a:r>
          </a:p>
        </p:txBody>
      </p:sp>
    </p:spTree>
    <p:extLst>
      <p:ext uri="{BB962C8B-B14F-4D97-AF65-F5344CB8AC3E}">
        <p14:creationId xmlns:p14="http://schemas.microsoft.com/office/powerpoint/2010/main" val="2405148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FF7E9B-2822-BA91-D6DA-6F16F9269130}"/>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2EA73E-23AE-C814-356A-876C70543C89}"/>
              </a:ext>
            </a:extLst>
          </p:cNvPr>
          <p:cNvSpPr>
            <a:spLocks noGrp="1"/>
          </p:cNvSpPr>
          <p:nvPr>
            <p:ph type="title"/>
          </p:nvPr>
        </p:nvSpPr>
        <p:spPr>
          <a:xfrm>
            <a:off x="638881" y="670218"/>
            <a:ext cx="10909640" cy="1065836"/>
          </a:xfrm>
        </p:spPr>
        <p:txBody>
          <a:bodyPr vert="horz" lIns="91440" tIns="45720" rIns="91440" bIns="45720" rtlCol="0" anchor="ctr">
            <a:normAutofit fontScale="90000"/>
          </a:bodyPr>
          <a:lstStyle/>
          <a:p>
            <a:pPr algn="ctr"/>
            <a:r>
              <a:rPr lang="en-US" sz="6600" dirty="0"/>
              <a:t>Topic Modelling Word Enrichment</a:t>
            </a:r>
          </a:p>
        </p:txBody>
      </p:sp>
      <p:sp>
        <p:nvSpPr>
          <p:cNvPr id="29"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E56EA42-43A6-EB3E-1806-D6850205D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4608" y="3201239"/>
            <a:ext cx="3758184" cy="2483349"/>
          </a:xfrm>
          <a:prstGeom prst="rect">
            <a:avLst/>
          </a:prstGeom>
        </p:spPr>
      </p:pic>
      <p:pic>
        <p:nvPicPr>
          <p:cNvPr id="8" name="Picture 7">
            <a:extLst>
              <a:ext uri="{FF2B5EF4-FFF2-40B4-BE49-F238E27FC236}">
                <a16:creationId xmlns:a16="http://schemas.microsoft.com/office/drawing/2014/main" id="{0B4622B4-0E1B-24D7-1B19-98B7EFCDA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708" y="3228624"/>
            <a:ext cx="3758184" cy="2475980"/>
          </a:xfrm>
          <a:prstGeom prst="rect">
            <a:avLst/>
          </a:prstGeom>
        </p:spPr>
      </p:pic>
      <p:pic>
        <p:nvPicPr>
          <p:cNvPr id="13" name="Picture 12">
            <a:extLst>
              <a:ext uri="{FF2B5EF4-FFF2-40B4-BE49-F238E27FC236}">
                <a16:creationId xmlns:a16="http://schemas.microsoft.com/office/drawing/2014/main" id="{9583E4F8-E40C-AC8B-9CF9-599E2FB10D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208" y="3198946"/>
            <a:ext cx="3758184" cy="2441716"/>
          </a:xfrm>
          <a:prstGeom prst="rect">
            <a:avLst/>
          </a:prstGeom>
        </p:spPr>
      </p:pic>
      <p:sp>
        <p:nvSpPr>
          <p:cNvPr id="4" name="Date Placeholder 3">
            <a:extLst>
              <a:ext uri="{FF2B5EF4-FFF2-40B4-BE49-F238E27FC236}">
                <a16:creationId xmlns:a16="http://schemas.microsoft.com/office/drawing/2014/main" id="{9C406E1C-C80A-6EC9-78FD-F2F9A5F8A6CB}"/>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6CF0F3E7-9FEB-44B5-9D98-908BEAD85EC7}" type="datetime1">
              <a:rPr lang="en-US" smtClean="0">
                <a:solidFill>
                  <a:schemeClr val="tx1">
                    <a:tint val="75000"/>
                  </a:schemeClr>
                </a:solidFill>
              </a:rPr>
              <a:pPr>
                <a:spcAft>
                  <a:spcPts val="600"/>
                </a:spcAft>
              </a:pPr>
              <a:t>8/14/2026</a:t>
            </a:fld>
            <a:endParaRPr lang="en-US">
              <a:solidFill>
                <a:schemeClr val="tx1">
                  <a:tint val="75000"/>
                </a:schemeClr>
              </a:solidFill>
            </a:endParaRPr>
          </a:p>
        </p:txBody>
      </p:sp>
      <p:sp>
        <p:nvSpPr>
          <p:cNvPr id="5" name="Footer Placeholder 4">
            <a:extLst>
              <a:ext uri="{FF2B5EF4-FFF2-40B4-BE49-F238E27FC236}">
                <a16:creationId xmlns:a16="http://schemas.microsoft.com/office/drawing/2014/main" id="{00CE553F-BCC7-8307-E539-51E61D20BD6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RP/SDAAI/Capstone Project 2021</a:t>
            </a:r>
          </a:p>
        </p:txBody>
      </p:sp>
      <p:sp>
        <p:nvSpPr>
          <p:cNvPr id="6" name="Slide Number Placeholder 5">
            <a:extLst>
              <a:ext uri="{FF2B5EF4-FFF2-40B4-BE49-F238E27FC236}">
                <a16:creationId xmlns:a16="http://schemas.microsoft.com/office/drawing/2014/main" id="{BFA091DA-B1F1-2434-FCED-9D16FFD7ABB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B5FF986-6745-4566-9357-372A6AE080A5}" type="slidenum">
              <a:rPr lang="en-US" smtClean="0">
                <a:solidFill>
                  <a:schemeClr val="tx1">
                    <a:tint val="75000"/>
                  </a:schemeClr>
                </a:solidFill>
              </a:rPr>
              <a:pPr>
                <a:spcAft>
                  <a:spcPts val="600"/>
                </a:spcAft>
              </a:pPr>
              <a:t>17</a:t>
            </a:fld>
            <a:endParaRPr lang="en-US">
              <a:solidFill>
                <a:schemeClr val="tx1">
                  <a:tint val="75000"/>
                </a:schemeClr>
              </a:solidFill>
            </a:endParaRPr>
          </a:p>
        </p:txBody>
      </p:sp>
      <p:sp>
        <p:nvSpPr>
          <p:cNvPr id="18" name="TextBox 17">
            <a:extLst>
              <a:ext uri="{FF2B5EF4-FFF2-40B4-BE49-F238E27FC236}">
                <a16:creationId xmlns:a16="http://schemas.microsoft.com/office/drawing/2014/main" id="{87B88559-1F92-FCED-3007-D4D7D27EF2F5}"/>
              </a:ext>
            </a:extLst>
          </p:cNvPr>
          <p:cNvSpPr txBox="1"/>
          <p:nvPr/>
        </p:nvSpPr>
        <p:spPr>
          <a:xfrm>
            <a:off x="5627519" y="2730160"/>
            <a:ext cx="932363"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Topic 2</a:t>
            </a:r>
          </a:p>
        </p:txBody>
      </p:sp>
      <p:sp>
        <p:nvSpPr>
          <p:cNvPr id="22" name="TextBox 21">
            <a:extLst>
              <a:ext uri="{FF2B5EF4-FFF2-40B4-BE49-F238E27FC236}">
                <a16:creationId xmlns:a16="http://schemas.microsoft.com/office/drawing/2014/main" id="{F3F6E262-DFF0-2CD7-B519-FE864D2D10DD}"/>
              </a:ext>
            </a:extLst>
          </p:cNvPr>
          <p:cNvSpPr txBox="1"/>
          <p:nvPr/>
        </p:nvSpPr>
        <p:spPr>
          <a:xfrm>
            <a:off x="9711435" y="2693089"/>
            <a:ext cx="932363"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Topic 3</a:t>
            </a:r>
          </a:p>
        </p:txBody>
      </p:sp>
      <p:sp>
        <p:nvSpPr>
          <p:cNvPr id="17" name="TextBox 16">
            <a:extLst>
              <a:ext uri="{FF2B5EF4-FFF2-40B4-BE49-F238E27FC236}">
                <a16:creationId xmlns:a16="http://schemas.microsoft.com/office/drawing/2014/main" id="{40BD9A81-D848-DDD6-244E-26E56C15CB93}"/>
              </a:ext>
            </a:extLst>
          </p:cNvPr>
          <p:cNvSpPr txBox="1"/>
          <p:nvPr/>
        </p:nvSpPr>
        <p:spPr>
          <a:xfrm>
            <a:off x="1705518" y="2726476"/>
            <a:ext cx="932363"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Topic 1</a:t>
            </a:r>
          </a:p>
        </p:txBody>
      </p:sp>
    </p:spTree>
    <p:extLst>
      <p:ext uri="{BB962C8B-B14F-4D97-AF65-F5344CB8AC3E}">
        <p14:creationId xmlns:p14="http://schemas.microsoft.com/office/powerpoint/2010/main" val="4197342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B8CAF1-BB66-AA52-DE62-E6043DA7DAA2}"/>
              </a:ext>
            </a:extLst>
          </p:cNvPr>
          <p:cNvSpPr>
            <a:spLocks noGrp="1"/>
          </p:cNvSpPr>
          <p:nvPr>
            <p:ph type="title"/>
          </p:nvPr>
        </p:nvSpPr>
        <p:spPr>
          <a:xfrm>
            <a:off x="635000" y="640823"/>
            <a:ext cx="3418659" cy="5583148"/>
          </a:xfrm>
        </p:spPr>
        <p:txBody>
          <a:bodyPr anchor="ctr">
            <a:normAutofit/>
          </a:bodyPr>
          <a:lstStyle/>
          <a:p>
            <a:r>
              <a:rPr lang="en-SG" sz="5400"/>
              <a:t>Insights from Topic Modelling</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E2BBAF3-8983-4A6E-A984-2B05ED5AE06D}"/>
              </a:ext>
            </a:extLst>
          </p:cNvPr>
          <p:cNvSpPr>
            <a:spLocks noGrp="1"/>
          </p:cNvSpPr>
          <p:nvPr>
            <p:ph type="dt" sz="half" idx="10"/>
          </p:nvPr>
        </p:nvSpPr>
        <p:spPr>
          <a:xfrm>
            <a:off x="838200" y="6356350"/>
            <a:ext cx="2743200" cy="365125"/>
          </a:xfrm>
        </p:spPr>
        <p:txBody>
          <a:bodyPr>
            <a:normAutofit/>
          </a:bodyPr>
          <a:lstStyle/>
          <a:p>
            <a:pPr>
              <a:spcAft>
                <a:spcPts val="600"/>
              </a:spcAft>
            </a:pPr>
            <a:fld id="{B4DB8678-2A6F-473C-A73B-857D27FA43D7}" type="datetime1">
              <a:rPr lang="en-SG" smtClean="0"/>
              <a:pPr>
                <a:spcAft>
                  <a:spcPts val="600"/>
                </a:spcAft>
              </a:pPr>
              <a:t>14/8/2026</a:t>
            </a:fld>
            <a:endParaRPr lang="en-SG"/>
          </a:p>
        </p:txBody>
      </p:sp>
      <p:sp>
        <p:nvSpPr>
          <p:cNvPr id="5" name="Footer Placeholder 4">
            <a:extLst>
              <a:ext uri="{FF2B5EF4-FFF2-40B4-BE49-F238E27FC236}">
                <a16:creationId xmlns:a16="http://schemas.microsoft.com/office/drawing/2014/main" id="{FB4D4E5D-3999-9AFF-2BC5-9031DC6089C3}"/>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6" name="Slide Number Placeholder 5">
            <a:extLst>
              <a:ext uri="{FF2B5EF4-FFF2-40B4-BE49-F238E27FC236}">
                <a16:creationId xmlns:a16="http://schemas.microsoft.com/office/drawing/2014/main" id="{F9FAE7C4-9405-BC44-C9E3-18C984384EFB}"/>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18</a:t>
            </a:fld>
            <a:endParaRPr lang="en-SG"/>
          </a:p>
        </p:txBody>
      </p:sp>
      <p:graphicFrame>
        <p:nvGraphicFramePr>
          <p:cNvPr id="8" name="Content Placeholder 2">
            <a:extLst>
              <a:ext uri="{FF2B5EF4-FFF2-40B4-BE49-F238E27FC236}">
                <a16:creationId xmlns:a16="http://schemas.microsoft.com/office/drawing/2014/main" id="{BFC9CD8C-ADDF-68A8-05D4-955FC2D46E6D}"/>
              </a:ext>
            </a:extLst>
          </p:cNvPr>
          <p:cNvGraphicFramePr>
            <a:graphicFrameLocks noGrp="1"/>
          </p:cNvGraphicFramePr>
          <p:nvPr>
            <p:ph idx="1"/>
            <p:extLst>
              <p:ext uri="{D42A27DB-BD31-4B8C-83A1-F6EECF244321}">
                <p14:modId xmlns:p14="http://schemas.microsoft.com/office/powerpoint/2010/main" val="50073162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3717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3D22A3-2ABC-7611-37F4-1427FA5EC17B}"/>
              </a:ext>
            </a:extLst>
          </p:cNvPr>
          <p:cNvSpPr>
            <a:spLocks noGrp="1"/>
          </p:cNvSpPr>
          <p:nvPr>
            <p:ph type="title"/>
          </p:nvPr>
        </p:nvSpPr>
        <p:spPr>
          <a:xfrm>
            <a:off x="371094" y="1161288"/>
            <a:ext cx="3438144" cy="1124712"/>
          </a:xfrm>
        </p:spPr>
        <p:txBody>
          <a:bodyPr anchor="b">
            <a:normAutofit/>
          </a:bodyPr>
          <a:lstStyle/>
          <a:p>
            <a:r>
              <a:rPr lang="en-SG" sz="2800"/>
              <a:t>Text Classification Pipelines</a:t>
            </a:r>
          </a:p>
        </p:txBody>
      </p:sp>
      <p:sp>
        <p:nvSpPr>
          <p:cNvPr id="27" name="Rectangle 2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2">
            <a:extLst>
              <a:ext uri="{FF2B5EF4-FFF2-40B4-BE49-F238E27FC236}">
                <a16:creationId xmlns:a16="http://schemas.microsoft.com/office/drawing/2014/main" id="{EB9734E7-CF91-0483-6BC7-6FBF39B7C238}"/>
              </a:ext>
            </a:extLst>
          </p:cNvPr>
          <p:cNvSpPr>
            <a:spLocks noGrp="1"/>
          </p:cNvSpPr>
          <p:nvPr>
            <p:ph idx="1"/>
          </p:nvPr>
        </p:nvSpPr>
        <p:spPr>
          <a:xfrm>
            <a:off x="371094" y="2718054"/>
            <a:ext cx="3438906" cy="3207258"/>
          </a:xfrm>
        </p:spPr>
        <p:txBody>
          <a:bodyPr anchor="t">
            <a:normAutofit/>
          </a:bodyPr>
          <a:lstStyle/>
          <a:p>
            <a:r>
              <a:rPr lang="en-SG" sz="1700">
                <a:latin typeface="Calibri" panose="020F0502020204030204" pitchFamily="34" charset="0"/>
                <a:ea typeface="Calibri" panose="020F0502020204030204" pitchFamily="34" charset="0"/>
                <a:cs typeface="Calibri" panose="020F0502020204030204" pitchFamily="34" charset="0"/>
              </a:rPr>
              <a:t>The pipeline preprocesses the review text, converts it into bag of words features, trains Random Forest, Naïve Bayes, and Gradient Boosting classifiers, and evaluates their performance using cross-validation and a confusion matrix. </a:t>
            </a:r>
          </a:p>
        </p:txBody>
      </p:sp>
      <p:pic>
        <p:nvPicPr>
          <p:cNvPr id="11" name="Picture 10">
            <a:extLst>
              <a:ext uri="{FF2B5EF4-FFF2-40B4-BE49-F238E27FC236}">
                <a16:creationId xmlns:a16="http://schemas.microsoft.com/office/drawing/2014/main" id="{01E5BCD8-73B4-3490-A8D8-614BC9FE47B6}"/>
              </a:ext>
            </a:extLst>
          </p:cNvPr>
          <p:cNvPicPr>
            <a:picLocks noChangeAspect="1"/>
          </p:cNvPicPr>
          <p:nvPr/>
        </p:nvPicPr>
        <p:blipFill>
          <a:blip r:embed="rId2"/>
          <a:stretch>
            <a:fillRect/>
          </a:stretch>
        </p:blipFill>
        <p:spPr>
          <a:xfrm>
            <a:off x="4704887" y="1838848"/>
            <a:ext cx="7116020" cy="3202209"/>
          </a:xfrm>
          <a:prstGeom prst="rect">
            <a:avLst/>
          </a:prstGeom>
        </p:spPr>
      </p:pic>
      <p:sp>
        <p:nvSpPr>
          <p:cNvPr id="4" name="Date Placeholder 3">
            <a:extLst>
              <a:ext uri="{FF2B5EF4-FFF2-40B4-BE49-F238E27FC236}">
                <a16:creationId xmlns:a16="http://schemas.microsoft.com/office/drawing/2014/main" id="{F608717F-8F29-15DD-A333-FB9BD0774D33}"/>
              </a:ext>
            </a:extLst>
          </p:cNvPr>
          <p:cNvSpPr>
            <a:spLocks noGrp="1"/>
          </p:cNvSpPr>
          <p:nvPr>
            <p:ph type="dt" sz="half" idx="10"/>
          </p:nvPr>
        </p:nvSpPr>
        <p:spPr>
          <a:xfrm>
            <a:off x="374904" y="6356350"/>
            <a:ext cx="2743200" cy="365125"/>
          </a:xfrm>
        </p:spPr>
        <p:txBody>
          <a:bodyPr>
            <a:normAutofit/>
          </a:bodyPr>
          <a:lstStyle/>
          <a:p>
            <a:pPr>
              <a:spcAft>
                <a:spcPts val="600"/>
              </a:spcAft>
            </a:pPr>
            <a:fld id="{883D1D41-D775-4490-B609-E8E335A97435}" type="datetime1">
              <a:rPr lang="en-SG">
                <a:solidFill>
                  <a:schemeClr val="tx1">
                    <a:lumMod val="50000"/>
                    <a:lumOff val="50000"/>
                  </a:schemeClr>
                </a:solidFill>
              </a:rPr>
              <a:pPr>
                <a:spcAft>
                  <a:spcPts val="600"/>
                </a:spcAft>
              </a:pPr>
              <a:t>14/8/2026</a:t>
            </a:fld>
            <a:endParaRPr lang="en-SG">
              <a:solidFill>
                <a:schemeClr val="tx1">
                  <a:lumMod val="50000"/>
                  <a:lumOff val="50000"/>
                </a:schemeClr>
              </a:solidFill>
            </a:endParaRPr>
          </a:p>
        </p:txBody>
      </p:sp>
      <p:sp>
        <p:nvSpPr>
          <p:cNvPr id="5" name="Footer Placeholder 4">
            <a:extLst>
              <a:ext uri="{FF2B5EF4-FFF2-40B4-BE49-F238E27FC236}">
                <a16:creationId xmlns:a16="http://schemas.microsoft.com/office/drawing/2014/main" id="{9F4FC9E5-2BDD-8531-ED8F-981EA92DF4C9}"/>
              </a:ext>
            </a:extLst>
          </p:cNvPr>
          <p:cNvSpPr>
            <a:spLocks noGrp="1"/>
          </p:cNvSpPr>
          <p:nvPr>
            <p:ph type="ftr" sz="quarter" idx="11"/>
          </p:nvPr>
        </p:nvSpPr>
        <p:spPr>
          <a:xfrm>
            <a:off x="4898967" y="6356350"/>
            <a:ext cx="4114800" cy="365125"/>
          </a:xfrm>
        </p:spPr>
        <p:txBody>
          <a:bodyPr>
            <a:normAutofit/>
          </a:bodyPr>
          <a:lstStyle/>
          <a:p>
            <a:pPr algn="l">
              <a:spcAft>
                <a:spcPts val="600"/>
              </a:spcAft>
            </a:pPr>
            <a:r>
              <a:rPr lang="en-SG">
                <a:solidFill>
                  <a:schemeClr val="tx1">
                    <a:lumMod val="50000"/>
                    <a:lumOff val="50000"/>
                  </a:schemeClr>
                </a:solidFill>
              </a:rPr>
              <a:t>RP/SDAAI/Capstone Project 2021</a:t>
            </a:r>
          </a:p>
        </p:txBody>
      </p:sp>
      <p:sp>
        <p:nvSpPr>
          <p:cNvPr id="6" name="Slide Number Placeholder 5">
            <a:extLst>
              <a:ext uri="{FF2B5EF4-FFF2-40B4-BE49-F238E27FC236}">
                <a16:creationId xmlns:a16="http://schemas.microsoft.com/office/drawing/2014/main" id="{31809762-F586-BBF3-3B81-80B1627DC9D1}"/>
              </a:ext>
            </a:extLst>
          </p:cNvPr>
          <p:cNvSpPr>
            <a:spLocks noGrp="1"/>
          </p:cNvSpPr>
          <p:nvPr>
            <p:ph type="sldNum" sz="quarter" idx="12"/>
          </p:nvPr>
        </p:nvSpPr>
        <p:spPr>
          <a:xfrm>
            <a:off x="9692640" y="6356350"/>
            <a:ext cx="2124456" cy="365125"/>
          </a:xfrm>
        </p:spPr>
        <p:txBody>
          <a:bodyPr>
            <a:normAutofit/>
          </a:bodyPr>
          <a:lstStyle/>
          <a:p>
            <a:pPr>
              <a:spcAft>
                <a:spcPts val="600"/>
              </a:spcAft>
            </a:pPr>
            <a:fld id="{7B5FF986-6745-4566-9357-372A6AE080A5}" type="slidenum">
              <a:rPr lang="en-SG">
                <a:solidFill>
                  <a:schemeClr val="tx1">
                    <a:lumMod val="50000"/>
                    <a:lumOff val="50000"/>
                  </a:schemeClr>
                </a:solidFill>
              </a:rPr>
              <a:pPr>
                <a:spcAft>
                  <a:spcPts val="600"/>
                </a:spcAft>
              </a:pPr>
              <a:t>19</a:t>
            </a:fld>
            <a:endParaRPr lang="en-SG">
              <a:solidFill>
                <a:schemeClr val="tx1">
                  <a:lumMod val="50000"/>
                  <a:lumOff val="50000"/>
                </a:schemeClr>
              </a:solidFill>
            </a:endParaRPr>
          </a:p>
        </p:txBody>
      </p:sp>
    </p:spTree>
    <p:extLst>
      <p:ext uri="{BB962C8B-B14F-4D97-AF65-F5344CB8AC3E}">
        <p14:creationId xmlns:p14="http://schemas.microsoft.com/office/powerpoint/2010/main" val="1991884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131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1DCF94-B6D5-402B-AB22-DAFDFC0E67F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400" kern="1200">
                <a:solidFill>
                  <a:srgbClr val="FFFFFF"/>
                </a:solidFill>
                <a:latin typeface="+mj-lt"/>
                <a:ea typeface="+mj-ea"/>
                <a:cs typeface="+mj-cs"/>
              </a:rPr>
              <a:t>Text Classification (Cross-Validation)</a:t>
            </a:r>
          </a:p>
        </p:txBody>
      </p:sp>
      <p:pic>
        <p:nvPicPr>
          <p:cNvPr id="8" name="Picture 7">
            <a:extLst>
              <a:ext uri="{FF2B5EF4-FFF2-40B4-BE49-F238E27FC236}">
                <a16:creationId xmlns:a16="http://schemas.microsoft.com/office/drawing/2014/main" id="{F6A77D7D-78E9-36B0-E73F-0E13AB341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0829" y="1070839"/>
            <a:ext cx="8209437" cy="4556238"/>
          </a:xfrm>
          <a:prstGeom prst="rect">
            <a:avLst/>
          </a:prstGeom>
        </p:spPr>
      </p:pic>
      <p:sp>
        <p:nvSpPr>
          <p:cNvPr id="4" name="Date Placeholder 3">
            <a:extLst>
              <a:ext uri="{FF2B5EF4-FFF2-40B4-BE49-F238E27FC236}">
                <a16:creationId xmlns:a16="http://schemas.microsoft.com/office/drawing/2014/main" id="{5F659096-333A-0618-11E2-81937C31536C}"/>
              </a:ext>
            </a:extLst>
          </p:cNvPr>
          <p:cNvSpPr>
            <a:spLocks noGrp="1"/>
          </p:cNvSpPr>
          <p:nvPr>
            <p:ph type="dt" sz="half" idx="10"/>
          </p:nvPr>
        </p:nvSpPr>
        <p:spPr>
          <a:xfrm>
            <a:off x="413657" y="6356350"/>
            <a:ext cx="1480457" cy="365125"/>
          </a:xfrm>
        </p:spPr>
        <p:txBody>
          <a:bodyPr vert="horz" lIns="91440" tIns="45720" rIns="91440" bIns="45720" rtlCol="0" anchor="ctr">
            <a:normAutofit/>
          </a:bodyPr>
          <a:lstStyle/>
          <a:p>
            <a:pPr>
              <a:spcAft>
                <a:spcPts val="600"/>
              </a:spcAft>
            </a:pPr>
            <a:fld id="{B4DB8678-2A6F-473C-A73B-857D27FA43D7}" type="datetime1">
              <a:rPr lang="en-US">
                <a:solidFill>
                  <a:srgbClr val="FFFFFF"/>
                </a:solidFill>
              </a:rPr>
              <a:pPr>
                <a:spcAft>
                  <a:spcPts val="600"/>
                </a:spcAft>
              </a:pPr>
              <a:t>8/14/2026</a:t>
            </a:fld>
            <a:endParaRPr lang="en-US">
              <a:solidFill>
                <a:srgbClr val="FFFFFF"/>
              </a:solidFill>
            </a:endParaRPr>
          </a:p>
        </p:txBody>
      </p:sp>
      <p:sp>
        <p:nvSpPr>
          <p:cNvPr id="5" name="Footer Placeholder 4">
            <a:extLst>
              <a:ext uri="{FF2B5EF4-FFF2-40B4-BE49-F238E27FC236}">
                <a16:creationId xmlns:a16="http://schemas.microsoft.com/office/drawing/2014/main" id="{109600F2-09A0-5131-6847-25ED8EE62F24}"/>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RP/SDAAI/Capstone Project 2021</a:t>
            </a:r>
          </a:p>
        </p:txBody>
      </p:sp>
      <p:sp>
        <p:nvSpPr>
          <p:cNvPr id="6" name="Slide Number Placeholder 5">
            <a:extLst>
              <a:ext uri="{FF2B5EF4-FFF2-40B4-BE49-F238E27FC236}">
                <a16:creationId xmlns:a16="http://schemas.microsoft.com/office/drawing/2014/main" id="{140A48F1-CC0D-8469-C021-A75BA84F2DDE}"/>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7B5FF986-6745-4566-9357-372A6AE080A5}" type="slidenum">
              <a:rPr lang="en-US">
                <a:solidFill>
                  <a:srgbClr val="898989"/>
                </a:solidFill>
              </a:rPr>
              <a:pPr>
                <a:spcAft>
                  <a:spcPts val="600"/>
                </a:spcAft>
              </a:pPr>
              <a:t>20</a:t>
            </a:fld>
            <a:endParaRPr lang="en-US">
              <a:solidFill>
                <a:srgbClr val="898989"/>
              </a:solidFill>
            </a:endParaRPr>
          </a:p>
        </p:txBody>
      </p:sp>
    </p:spTree>
    <p:extLst>
      <p:ext uri="{BB962C8B-B14F-4D97-AF65-F5344CB8AC3E}">
        <p14:creationId xmlns:p14="http://schemas.microsoft.com/office/powerpoint/2010/main" val="1652877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53A3C-D9BC-64D8-82A6-32B2AB734437}"/>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5600"/>
              <a:t>Text Classification (Confusion Matrix)</a:t>
            </a:r>
          </a:p>
        </p:txBody>
      </p:sp>
      <p:sp>
        <p:nvSpPr>
          <p:cNvPr id="19"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B27BDE3-731D-958E-2308-E8AFF39A3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5216" y="3481070"/>
            <a:ext cx="3758184" cy="1915777"/>
          </a:xfrm>
          <a:prstGeom prst="rect">
            <a:avLst/>
          </a:prstGeom>
        </p:spPr>
      </p:pic>
      <p:pic>
        <p:nvPicPr>
          <p:cNvPr id="8" name="Picture 7">
            <a:extLst>
              <a:ext uri="{FF2B5EF4-FFF2-40B4-BE49-F238E27FC236}">
                <a16:creationId xmlns:a16="http://schemas.microsoft.com/office/drawing/2014/main" id="{F77542EA-96D4-2A86-2B74-A14184481B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872" y="3429000"/>
            <a:ext cx="3758184" cy="1913103"/>
          </a:xfrm>
          <a:prstGeom prst="rect">
            <a:avLst/>
          </a:prstGeom>
        </p:spPr>
      </p:pic>
      <p:pic>
        <p:nvPicPr>
          <p:cNvPr id="12" name="Picture 11">
            <a:extLst>
              <a:ext uri="{FF2B5EF4-FFF2-40B4-BE49-F238E27FC236}">
                <a16:creationId xmlns:a16="http://schemas.microsoft.com/office/drawing/2014/main" id="{91D3D882-C5DB-6D92-F4CC-0F70B42CDB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208" y="3530112"/>
            <a:ext cx="3758184" cy="1779384"/>
          </a:xfrm>
          <a:prstGeom prst="rect">
            <a:avLst/>
          </a:prstGeom>
        </p:spPr>
      </p:pic>
      <p:sp>
        <p:nvSpPr>
          <p:cNvPr id="4" name="Date Placeholder 3">
            <a:extLst>
              <a:ext uri="{FF2B5EF4-FFF2-40B4-BE49-F238E27FC236}">
                <a16:creationId xmlns:a16="http://schemas.microsoft.com/office/drawing/2014/main" id="{77068F55-96E2-E623-604A-67E750D0AED2}"/>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B4DB8678-2A6F-473C-A73B-857D27FA43D7}" type="datetime1">
              <a:rPr lang="en-US" smtClean="0">
                <a:solidFill>
                  <a:schemeClr val="tx1">
                    <a:tint val="75000"/>
                  </a:schemeClr>
                </a:solidFill>
              </a:rPr>
              <a:pPr>
                <a:spcAft>
                  <a:spcPts val="600"/>
                </a:spcAft>
              </a:pPr>
              <a:t>8/14/2026</a:t>
            </a:fld>
            <a:endParaRPr lang="en-US">
              <a:solidFill>
                <a:schemeClr val="tx1">
                  <a:tint val="75000"/>
                </a:schemeClr>
              </a:solidFill>
            </a:endParaRPr>
          </a:p>
        </p:txBody>
      </p:sp>
      <p:sp>
        <p:nvSpPr>
          <p:cNvPr id="5" name="Footer Placeholder 4">
            <a:extLst>
              <a:ext uri="{FF2B5EF4-FFF2-40B4-BE49-F238E27FC236}">
                <a16:creationId xmlns:a16="http://schemas.microsoft.com/office/drawing/2014/main" id="{115E870B-FF89-953A-F7EB-CAFC7B1F4D03}"/>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RP/SDAAI/Capstone Project 2021</a:t>
            </a:r>
          </a:p>
        </p:txBody>
      </p:sp>
      <p:sp>
        <p:nvSpPr>
          <p:cNvPr id="6" name="Slide Number Placeholder 5">
            <a:extLst>
              <a:ext uri="{FF2B5EF4-FFF2-40B4-BE49-F238E27FC236}">
                <a16:creationId xmlns:a16="http://schemas.microsoft.com/office/drawing/2014/main" id="{F8C773B0-9AF8-BF62-2BF4-045F4B0A337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7B5FF986-6745-4566-9357-372A6AE080A5}" type="slidenum">
              <a:rPr lang="en-US" smtClean="0">
                <a:solidFill>
                  <a:schemeClr val="tx1">
                    <a:tint val="75000"/>
                  </a:schemeClr>
                </a:solidFill>
              </a:rPr>
              <a:pPr>
                <a:spcAft>
                  <a:spcPts val="600"/>
                </a:spcAft>
              </a:pPr>
              <a:t>21</a:t>
            </a:fld>
            <a:endParaRPr lang="en-US">
              <a:solidFill>
                <a:schemeClr val="tx1">
                  <a:tint val="75000"/>
                </a:schemeClr>
              </a:solidFill>
            </a:endParaRPr>
          </a:p>
        </p:txBody>
      </p:sp>
      <p:sp>
        <p:nvSpPr>
          <p:cNvPr id="22" name="TextBox 21">
            <a:extLst>
              <a:ext uri="{FF2B5EF4-FFF2-40B4-BE49-F238E27FC236}">
                <a16:creationId xmlns:a16="http://schemas.microsoft.com/office/drawing/2014/main" id="{10D8A18E-0364-70E3-3567-61FE15E9795E}"/>
              </a:ext>
            </a:extLst>
          </p:cNvPr>
          <p:cNvSpPr txBox="1"/>
          <p:nvPr/>
        </p:nvSpPr>
        <p:spPr>
          <a:xfrm>
            <a:off x="1803583" y="3035147"/>
            <a:ext cx="1717337"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Random Forest </a:t>
            </a:r>
          </a:p>
        </p:txBody>
      </p:sp>
      <p:sp>
        <p:nvSpPr>
          <p:cNvPr id="24" name="TextBox 23">
            <a:extLst>
              <a:ext uri="{FF2B5EF4-FFF2-40B4-BE49-F238E27FC236}">
                <a16:creationId xmlns:a16="http://schemas.microsoft.com/office/drawing/2014/main" id="{109C2207-02E9-097C-EB65-516B3A383CBC}"/>
              </a:ext>
            </a:extLst>
          </p:cNvPr>
          <p:cNvSpPr txBox="1"/>
          <p:nvPr/>
        </p:nvSpPr>
        <p:spPr>
          <a:xfrm>
            <a:off x="5503773" y="3035147"/>
            <a:ext cx="1717337"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Naïve Bayes</a:t>
            </a:r>
          </a:p>
        </p:txBody>
      </p:sp>
      <p:sp>
        <p:nvSpPr>
          <p:cNvPr id="26" name="TextBox 25">
            <a:extLst>
              <a:ext uri="{FF2B5EF4-FFF2-40B4-BE49-F238E27FC236}">
                <a16:creationId xmlns:a16="http://schemas.microsoft.com/office/drawing/2014/main" id="{6EE8268A-D488-9E0F-3AA2-4E594DC28992}"/>
              </a:ext>
            </a:extLst>
          </p:cNvPr>
          <p:cNvSpPr txBox="1"/>
          <p:nvPr/>
        </p:nvSpPr>
        <p:spPr>
          <a:xfrm>
            <a:off x="9095811" y="3035147"/>
            <a:ext cx="2011500" cy="369332"/>
          </a:xfrm>
          <a:prstGeom prst="rect">
            <a:avLst/>
          </a:prstGeom>
          <a:noFill/>
        </p:spPr>
        <p:txBody>
          <a:bodyPr wrap="square" rtlCol="0">
            <a:spAutoFit/>
          </a:bodyPr>
          <a:lstStyle/>
          <a:p>
            <a:pPr>
              <a:spcAft>
                <a:spcPts val="600"/>
              </a:spcAft>
            </a:pPr>
            <a:r>
              <a:rPr lang="en-SG" b="1" dirty="0">
                <a:latin typeface="Calibri" panose="020F0502020204030204" pitchFamily="34" charset="0"/>
                <a:ea typeface="Calibri" panose="020F0502020204030204" pitchFamily="34" charset="0"/>
                <a:cs typeface="Calibri" panose="020F0502020204030204" pitchFamily="34" charset="0"/>
              </a:rPr>
              <a:t>Gradient Boosting</a:t>
            </a:r>
          </a:p>
        </p:txBody>
      </p:sp>
    </p:spTree>
    <p:extLst>
      <p:ext uri="{BB962C8B-B14F-4D97-AF65-F5344CB8AC3E}">
        <p14:creationId xmlns:p14="http://schemas.microsoft.com/office/powerpoint/2010/main" val="1128288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93E4D2-4024-11CB-0B18-3D24C946FFB0}"/>
              </a:ext>
            </a:extLst>
          </p:cNvPr>
          <p:cNvSpPr>
            <a:spLocks noGrp="1"/>
          </p:cNvSpPr>
          <p:nvPr>
            <p:ph type="title"/>
          </p:nvPr>
        </p:nvSpPr>
        <p:spPr>
          <a:xfrm>
            <a:off x="841248" y="548640"/>
            <a:ext cx="3600860" cy="5431536"/>
          </a:xfrm>
        </p:spPr>
        <p:txBody>
          <a:bodyPr>
            <a:normAutofit/>
          </a:bodyPr>
          <a:lstStyle/>
          <a:p>
            <a:r>
              <a:rPr lang="en-SG" sz="4600"/>
              <a:t>Insights from Text Classification </a:t>
            </a:r>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ABB750-4750-5968-599F-0D154169DE87}"/>
              </a:ext>
            </a:extLst>
          </p:cNvPr>
          <p:cNvSpPr>
            <a:spLocks noGrp="1"/>
          </p:cNvSpPr>
          <p:nvPr>
            <p:ph idx="1"/>
          </p:nvPr>
        </p:nvSpPr>
        <p:spPr>
          <a:xfrm>
            <a:off x="5126418" y="552091"/>
            <a:ext cx="6224335" cy="5431536"/>
          </a:xfrm>
        </p:spPr>
        <p:txBody>
          <a:bodyPr anchor="ctr">
            <a:normAutofit/>
          </a:bodyPr>
          <a:lstStyle/>
          <a:p>
            <a:r>
              <a:rPr lang="en-SG" sz="2000"/>
              <a:t>Gradient Boosting performed best overall, achieving the highest classification accuracy (0.801), F1-score (0.785), and MCC (0.439), while Random Forest had the highest AUC (0.847). </a:t>
            </a:r>
          </a:p>
          <a:p>
            <a:r>
              <a:rPr lang="en-SG" sz="2000"/>
              <a:t>All three models classified positive reviews most accurately. However, negative and neutral reviews were more frequently misclassified, particularly as neutral or positive. </a:t>
            </a:r>
          </a:p>
          <a:p>
            <a:r>
              <a:rPr lang="en-SG" sz="2000"/>
              <a:t>Naïve Bayes showed the weakest overall performance, with the lowest accuracy (0.698) and AUC (0.815). </a:t>
            </a:r>
          </a:p>
          <a:p>
            <a:r>
              <a:rPr lang="en-SG" sz="2000"/>
              <a:t>Overall, the results indicate that Gradient Boosting is the most suitable model for classifying sentiment, but the models perform better for positive sentiment than negative or neutral sentiment, suggesting difficulty in distinguishing between these less frequent sentiment categories. </a:t>
            </a:r>
          </a:p>
        </p:txBody>
      </p:sp>
      <p:sp>
        <p:nvSpPr>
          <p:cNvPr id="4" name="Date Placeholder 3">
            <a:extLst>
              <a:ext uri="{FF2B5EF4-FFF2-40B4-BE49-F238E27FC236}">
                <a16:creationId xmlns:a16="http://schemas.microsoft.com/office/drawing/2014/main" id="{58CAE77D-BBD4-C3BB-54B2-9BD15E35B826}"/>
              </a:ext>
            </a:extLst>
          </p:cNvPr>
          <p:cNvSpPr>
            <a:spLocks noGrp="1"/>
          </p:cNvSpPr>
          <p:nvPr>
            <p:ph type="dt" sz="half" idx="10"/>
          </p:nvPr>
        </p:nvSpPr>
        <p:spPr>
          <a:xfrm>
            <a:off x="838200" y="6356350"/>
            <a:ext cx="2743200" cy="365125"/>
          </a:xfrm>
        </p:spPr>
        <p:txBody>
          <a:bodyPr>
            <a:normAutofit/>
          </a:bodyPr>
          <a:lstStyle/>
          <a:p>
            <a:pPr>
              <a:spcAft>
                <a:spcPts val="600"/>
              </a:spcAft>
            </a:pPr>
            <a:fld id="{B4DB8678-2A6F-473C-A73B-857D27FA43D7}" type="datetime1">
              <a:rPr lang="en-SG" smtClean="0"/>
              <a:pPr>
                <a:spcAft>
                  <a:spcPts val="600"/>
                </a:spcAft>
              </a:pPr>
              <a:t>14/8/2026</a:t>
            </a:fld>
            <a:endParaRPr lang="en-SG"/>
          </a:p>
        </p:txBody>
      </p:sp>
      <p:sp>
        <p:nvSpPr>
          <p:cNvPr id="5" name="Footer Placeholder 4">
            <a:extLst>
              <a:ext uri="{FF2B5EF4-FFF2-40B4-BE49-F238E27FC236}">
                <a16:creationId xmlns:a16="http://schemas.microsoft.com/office/drawing/2014/main" id="{45D87FBE-C122-C9D5-05C0-67E3D39CBC8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t>RP/SDAAI/Capstone Project 2021</a:t>
            </a:r>
          </a:p>
        </p:txBody>
      </p:sp>
      <p:sp>
        <p:nvSpPr>
          <p:cNvPr id="6" name="Slide Number Placeholder 5">
            <a:extLst>
              <a:ext uri="{FF2B5EF4-FFF2-40B4-BE49-F238E27FC236}">
                <a16:creationId xmlns:a16="http://schemas.microsoft.com/office/drawing/2014/main" id="{55D433EF-F781-F7CB-6A94-7F0EFA59EEA2}"/>
              </a:ext>
            </a:extLst>
          </p:cNvPr>
          <p:cNvSpPr>
            <a:spLocks noGrp="1"/>
          </p:cNvSpPr>
          <p:nvPr>
            <p:ph type="sldNum" sz="quarter" idx="12"/>
          </p:nvPr>
        </p:nvSpPr>
        <p:spPr>
          <a:xfrm>
            <a:off x="8610600" y="6356350"/>
            <a:ext cx="2743200" cy="365125"/>
          </a:xfrm>
        </p:spPr>
        <p:txBody>
          <a:bodyPr>
            <a:normAutofit/>
          </a:bodyPr>
          <a:lstStyle/>
          <a:p>
            <a:pPr>
              <a:spcAft>
                <a:spcPts val="600"/>
              </a:spcAft>
            </a:pPr>
            <a:fld id="{7B5FF986-6745-4566-9357-372A6AE080A5}" type="slidenum">
              <a:rPr lang="en-SG" smtClean="0"/>
              <a:pPr>
                <a:spcAft>
                  <a:spcPts val="600"/>
                </a:spcAft>
              </a:pPr>
              <a:t>22</a:t>
            </a:fld>
            <a:endParaRPr lang="en-SG"/>
          </a:p>
        </p:txBody>
      </p:sp>
    </p:spTree>
    <p:extLst>
      <p:ext uri="{BB962C8B-B14F-4D97-AF65-F5344CB8AC3E}">
        <p14:creationId xmlns:p14="http://schemas.microsoft.com/office/powerpoint/2010/main" val="228951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CC19D-193D-DABA-D2A4-00D1BDDF8777}"/>
              </a:ext>
            </a:extLst>
          </p:cNvPr>
          <p:cNvSpPr>
            <a:spLocks noGrp="1"/>
          </p:cNvSpPr>
          <p:nvPr>
            <p:ph type="title"/>
          </p:nvPr>
        </p:nvSpPr>
        <p:spPr>
          <a:xfrm>
            <a:off x="841248" y="256032"/>
            <a:ext cx="10506456" cy="1014984"/>
          </a:xfrm>
        </p:spPr>
        <p:txBody>
          <a:bodyPr anchor="b">
            <a:normAutofit/>
          </a:bodyPr>
          <a:lstStyle/>
          <a:p>
            <a:r>
              <a:rPr lang="en-SG" dirty="0"/>
              <a:t>Conclusion</a:t>
            </a: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9C74F1EB-17AD-4FE5-7CDC-09A621862496}"/>
              </a:ext>
            </a:extLst>
          </p:cNvPr>
          <p:cNvSpPr>
            <a:spLocks noGrp="1"/>
          </p:cNvSpPr>
          <p:nvPr>
            <p:ph type="dt" sz="half" idx="10"/>
          </p:nvPr>
        </p:nvSpPr>
        <p:spPr>
          <a:xfrm>
            <a:off x="841248" y="6356350"/>
            <a:ext cx="2577503" cy="365125"/>
          </a:xfrm>
        </p:spPr>
        <p:txBody>
          <a:bodyPr>
            <a:normAutofit/>
          </a:bodyPr>
          <a:lstStyle/>
          <a:p>
            <a:pPr>
              <a:spcAft>
                <a:spcPts val="600"/>
              </a:spcAft>
            </a:pPr>
            <a:fld id="{B4DB8678-2A6F-473C-A73B-857D27FA43D7}" type="datetime1">
              <a:rPr lang="en-SG">
                <a:solidFill>
                  <a:schemeClr val="tx1">
                    <a:lumMod val="50000"/>
                    <a:lumOff val="50000"/>
                  </a:schemeClr>
                </a:solidFill>
              </a:rPr>
              <a:pPr>
                <a:spcAft>
                  <a:spcPts val="600"/>
                </a:spcAft>
              </a:pPr>
              <a:t>14/8/2026</a:t>
            </a:fld>
            <a:endParaRPr lang="en-SG">
              <a:solidFill>
                <a:schemeClr val="tx1">
                  <a:lumMod val="50000"/>
                  <a:lumOff val="50000"/>
                </a:schemeClr>
              </a:solidFill>
            </a:endParaRPr>
          </a:p>
        </p:txBody>
      </p:sp>
      <p:sp>
        <p:nvSpPr>
          <p:cNvPr id="5" name="Footer Placeholder 4">
            <a:extLst>
              <a:ext uri="{FF2B5EF4-FFF2-40B4-BE49-F238E27FC236}">
                <a16:creationId xmlns:a16="http://schemas.microsoft.com/office/drawing/2014/main" id="{0A79539B-9BB8-2D4A-C6DE-E36446FCC420}"/>
              </a:ext>
            </a:extLst>
          </p:cNvPr>
          <p:cNvSpPr>
            <a:spLocks noGrp="1"/>
          </p:cNvSpPr>
          <p:nvPr>
            <p:ph type="ftr" sz="quarter" idx="11"/>
          </p:nvPr>
        </p:nvSpPr>
        <p:spPr>
          <a:xfrm>
            <a:off x="4038600" y="6356350"/>
            <a:ext cx="4114800" cy="365125"/>
          </a:xfrm>
        </p:spPr>
        <p:txBody>
          <a:bodyPr>
            <a:normAutofit/>
          </a:bodyPr>
          <a:lstStyle/>
          <a:p>
            <a:pPr>
              <a:spcAft>
                <a:spcPts val="600"/>
              </a:spcAft>
            </a:pPr>
            <a:r>
              <a:rPr lang="en-SG">
                <a:solidFill>
                  <a:schemeClr val="tx1">
                    <a:lumMod val="50000"/>
                    <a:lumOff val="50000"/>
                  </a:schemeClr>
                </a:solidFill>
              </a:rPr>
              <a:t>RP/SDAAI/Capstone Project 2021</a:t>
            </a:r>
          </a:p>
        </p:txBody>
      </p:sp>
      <p:sp>
        <p:nvSpPr>
          <p:cNvPr id="6" name="Slide Number Placeholder 5">
            <a:extLst>
              <a:ext uri="{FF2B5EF4-FFF2-40B4-BE49-F238E27FC236}">
                <a16:creationId xmlns:a16="http://schemas.microsoft.com/office/drawing/2014/main" id="{168D71DE-F1B1-760D-3BB7-BEDD21D55749}"/>
              </a:ext>
            </a:extLst>
          </p:cNvPr>
          <p:cNvSpPr>
            <a:spLocks noGrp="1"/>
          </p:cNvSpPr>
          <p:nvPr>
            <p:ph type="sldNum" sz="quarter" idx="12"/>
          </p:nvPr>
        </p:nvSpPr>
        <p:spPr>
          <a:xfrm>
            <a:off x="8873254" y="6356350"/>
            <a:ext cx="2477498" cy="365125"/>
          </a:xfrm>
        </p:spPr>
        <p:txBody>
          <a:bodyPr>
            <a:normAutofit/>
          </a:bodyPr>
          <a:lstStyle/>
          <a:p>
            <a:pPr>
              <a:spcAft>
                <a:spcPts val="600"/>
              </a:spcAft>
            </a:pPr>
            <a:fld id="{7B5FF986-6745-4566-9357-372A6AE080A5}" type="slidenum">
              <a:rPr lang="en-SG">
                <a:solidFill>
                  <a:schemeClr val="tx1">
                    <a:lumMod val="50000"/>
                    <a:lumOff val="50000"/>
                  </a:schemeClr>
                </a:solidFill>
              </a:rPr>
              <a:pPr>
                <a:spcAft>
                  <a:spcPts val="600"/>
                </a:spcAft>
              </a:pPr>
              <a:t>23</a:t>
            </a:fld>
            <a:endParaRPr lang="en-SG">
              <a:solidFill>
                <a:schemeClr val="tx1">
                  <a:lumMod val="50000"/>
                  <a:lumOff val="50000"/>
                </a:schemeClr>
              </a:solidFill>
            </a:endParaRPr>
          </a:p>
        </p:txBody>
      </p:sp>
      <p:graphicFrame>
        <p:nvGraphicFramePr>
          <p:cNvPr id="8" name="Content Placeholder 2">
            <a:extLst>
              <a:ext uri="{FF2B5EF4-FFF2-40B4-BE49-F238E27FC236}">
                <a16:creationId xmlns:a16="http://schemas.microsoft.com/office/drawing/2014/main" id="{E519A9B3-1216-A23E-C3DE-6DFAAF57EDEE}"/>
              </a:ext>
            </a:extLst>
          </p:cNvPr>
          <p:cNvGraphicFramePr>
            <a:graphicFrameLocks noGrp="1"/>
          </p:cNvGraphicFramePr>
          <p:nvPr>
            <p:ph idx="1"/>
            <p:extLst>
              <p:ext uri="{D42A27DB-BD31-4B8C-83A1-F6EECF244321}">
                <p14:modId xmlns:p14="http://schemas.microsoft.com/office/powerpoint/2010/main" val="229043602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7521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3E237F43EFD04B86EFEF07F3A7C3CF" ma:contentTypeVersion="4" ma:contentTypeDescription="Create a new document." ma:contentTypeScope="" ma:versionID="c6df1c0b02f836596bb384cc2ba75516">
  <xsd:schema xmlns:xsd="http://www.w3.org/2001/XMLSchema" xmlns:xs="http://www.w3.org/2001/XMLSchema" xmlns:p="http://schemas.microsoft.com/office/2006/metadata/properties" xmlns:ns3="9f4dcd62-d43f-485d-8473-b171de7de0e9" targetNamespace="http://schemas.microsoft.com/office/2006/metadata/properties" ma:root="true" ma:fieldsID="b9c8b19fa9c04b76ea1d9a69e69f8961" ns3:_="">
    <xsd:import namespace="9f4dcd62-d43f-485d-8473-b171de7de0e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4dcd62-d43f-485d-8473-b171de7de0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f4dcd62-d43f-485d-8473-b171de7de0e9" xsi:nil="true"/>
  </documentManagement>
</p:properties>
</file>

<file path=customXml/itemProps1.xml><?xml version="1.0" encoding="utf-8"?>
<ds:datastoreItem xmlns:ds="http://schemas.openxmlformats.org/officeDocument/2006/customXml" ds:itemID="{1C527ADF-FF13-4417-879A-1E8EB2B6C632}">
  <ds:schemaRefs>
    <ds:schemaRef ds:uri="http://schemas.microsoft.com/sharepoint/v3/contenttype/forms"/>
  </ds:schemaRefs>
</ds:datastoreItem>
</file>

<file path=customXml/itemProps2.xml><?xml version="1.0" encoding="utf-8"?>
<ds:datastoreItem xmlns:ds="http://schemas.openxmlformats.org/officeDocument/2006/customXml" ds:itemID="{58EE53F7-B397-4086-A130-B9963B253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4dcd62-d43f-485d-8473-b171de7de0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AF3C53-4C5B-4F8F-84FE-651EDE19A640}">
  <ds:schemaRefs>
    <ds:schemaRef ds:uri="http://schemas.microsoft.com/office/2006/metadata/properties"/>
    <ds:schemaRef ds:uri="http://schemas.microsoft.com/office/infopath/2007/PartnerControls"/>
    <ds:schemaRef ds:uri="9f4dcd62-d43f-485d-8473-b171de7de0e9"/>
  </ds:schemaRefs>
</ds:datastoreItem>
</file>

<file path=docProps/app.xml><?xml version="1.0" encoding="utf-8"?>
<Properties xmlns="http://schemas.openxmlformats.org/officeDocument/2006/extended-properties" xmlns:vt="http://schemas.openxmlformats.org/officeDocument/2006/docPropsVTypes">
  <TotalTime>137</TotalTime>
  <Words>1493</Words>
  <Application>Microsoft Office PowerPoint</Application>
  <PresentationFormat>Widescreen</PresentationFormat>
  <Paragraphs>163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Calibri</vt:lpstr>
      <vt:lpstr>Wingdings</vt:lpstr>
      <vt:lpstr>Office Theme</vt:lpstr>
      <vt:lpstr>Singapore Airlines Review Analysis</vt:lpstr>
      <vt:lpstr>Problem Statement</vt:lpstr>
      <vt:lpstr>Project Objectives</vt:lpstr>
      <vt:lpstr>What is Sentiment Analysis (VADER)?</vt:lpstr>
      <vt:lpstr>Sentiment Analysis Pipelines</vt:lpstr>
      <vt:lpstr>Sentiment Analysis Word Cloud &amp; Enrichment</vt:lpstr>
      <vt:lpstr>Insights from Sentiment Analysis</vt:lpstr>
      <vt:lpstr>What is Hierarchical Clustering?</vt:lpstr>
      <vt:lpstr>Clustering Analysis Pipelines</vt:lpstr>
      <vt:lpstr>Clustering Analysis Word Cloud</vt:lpstr>
      <vt:lpstr>Clustering Analysis Word Enrichment</vt:lpstr>
      <vt:lpstr>Insights from Clustering Analysis</vt:lpstr>
      <vt:lpstr>What is LDA?</vt:lpstr>
      <vt:lpstr>Topic-Modelling Analysis Pipelines</vt:lpstr>
      <vt:lpstr>Topic Modelling (LDA)</vt:lpstr>
      <vt:lpstr>Topic Modelling Word Cloud</vt:lpstr>
      <vt:lpstr>Topic Modelling Word Enrichment</vt:lpstr>
      <vt:lpstr>Insights from Topic Modelling</vt:lpstr>
      <vt:lpstr>Text Classification Pipelines</vt:lpstr>
      <vt:lpstr>Text Classification (Cross-Validation)</vt:lpstr>
      <vt:lpstr>Text Classification (Confusion Matrix)</vt:lpstr>
      <vt:lpstr>Insights from Text Classification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Wong Qi Yuan, Jeffrey</dc:creator>
  <cp:lastModifiedBy>Wong Qi Yuan, Jeffrey</cp:lastModifiedBy>
  <cp:revision>108</cp:revision>
  <dcterms:created xsi:type="dcterms:W3CDTF">2026-08-10T07:15:02Z</dcterms:created>
  <dcterms:modified xsi:type="dcterms:W3CDTF">2026-08-14T01:03:31Z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0x0101004A3E237F43EFD04B86EFEF07F3A7C3CF</vt:lpwstr>
  </property>
</Properties>
</file>